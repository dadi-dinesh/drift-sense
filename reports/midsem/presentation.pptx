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cacdebe-a30e-baa6-233c-aae7fae3f222}">
          <p14:sldIdLst>
            <p14:sldId id="256"/>
          </p14:sldIdLst>
        </p14:section>
        <p14:section name="SECTION 01" id="{9bfb7380-8ae5-77fa-0c25-cec438bea037}">
          <p14:sldIdLst>
            <p14:sldId id="257"/>
          </p14:sldIdLst>
        </p14:section>
        <p14:section name="Section 01" id="{80dfb274-5a29-116e-fe95-eedaaedce4ea}">
          <p14:sldIdLst>
            <p14:sldId id="258"/>
            <p14:sldId id="259"/>
          </p14:sldIdLst>
        </p14:section>
        <p14:section name="SECTION 02" id="{00427fd8-1744-4e89-9ca3-e65399f9d868}">
          <p14:sldIdLst>
            <p14:sldId id="260"/>
          </p14:sldIdLst>
        </p14:section>
        <p14:section name="Section 02" id="{b2c42969-bf1f-5e35-cc78-62154af79450}">
          <p14:sldIdLst>
            <p14:sldId id="261"/>
            <p14:sldId id="262"/>
            <p14:sldId id="263"/>
          </p14:sldIdLst>
        </p14:section>
        <p14:section name="SECTION 03" id="{4e877343-d425-9dcf-29af-130287d36184}">
          <p14:sldIdLst>
            <p14:sldId id="264"/>
          </p14:sldIdLst>
        </p14:section>
        <p14:section name="Section 03" id="{3ee7b857-e048-a4c5-ec3c-bf5dced093d3}">
          <p14:sldIdLst>
            <p14:sldId id="265"/>
            <p14:sldId id="266"/>
          </p14:sldIdLst>
        </p14:section>
        <p14:section name="SECTION 04" id="{457c9e3a-f13c-b55a-d3bc-468f8b9ae778}">
          <p14:sldIdLst>
            <p14:sldId id="267"/>
          </p14:sldIdLst>
        </p14:section>
        <p14:section name="Section 04" id="{fd1cc04a-1ecc-f626-2331-7ffabed2cac4}">
          <p14:sldIdLst>
            <p14:sldId id="268"/>
            <p14:sldId id="269"/>
          </p14:sldIdLst>
        </p14:section>
        <p14:section name="SECTION 05" id="{40d79734-41a5-7e10-dd6e-664af1a84e23}">
          <p14:sldIdLst>
            <p14:sldId id="270"/>
          </p14:sldIdLst>
        </p14:section>
        <p14:section name="Section 05" id="{5c787cac-e2db-848d-7355-6d950c61db2e}">
          <p14:sldIdLst>
            <p14:sldId id="271"/>
            <p14:sldId id="272"/>
            <p14:sldId id="273"/>
          </p14:sldIdLst>
        </p14:section>
        <p14:section name="SECTION 06" id="{ac9e0e2e-1618-bb09-be59-40018e3ab301}">
          <p14:sldIdLst>
            <p14:sldId id="274"/>
          </p14:sldIdLst>
        </p14:section>
        <p14:section name="Section 06" id="{91e15a4b-ca36-a51f-6c7a-18d36e11d8dd}">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4EEE3"/>
        </a:solidFill>
      </p:bgPr>
    </p:bg>
    <p:spTree>
      <p:nvGrpSpPr>
        <p:cNvPr id="1" name=""/>
        <p:cNvGrpSpPr/>
        <p:nvPr/>
      </p:nvGrpSpPr>
      <p:grpSpPr>
        <a:xfrm>
          <a:off x="0" y="0"/>
          <a:ext cx="0" cy="0"/>
          <a:chOff x="0" y="0"/>
          <a:chExt cx="0" cy="0"/>
        </a:xfrm>
      </p:grpSpPr>
      <p:sp>
        <p:nvSpPr>
          <p:cNvPr id="2" name="Shape 0"/>
          <p:cNvSpPr/>
          <p:nvPr/>
        </p:nvSpPr>
        <p:spPr>
          <a:xfrm>
            <a:off x="548640" y="6419088"/>
            <a:ext cx="11091672" cy="0"/>
          </a:xfrm>
          <a:prstGeom prst="line">
            <a:avLst/>
          </a:prstGeom>
          <a:noFill/>
          <a:ln w="9525">
            <a:solidFill>
              <a:srgbClr val="DED4C2"/>
            </a:solidFill>
            <a:prstDash val="solid"/>
          </a:ln>
        </p:spPr>
      </p:sp>
      <p:sp>
        <p:nvSpPr>
          <p:cNvPr id="3" name="Text 1"/>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1000" b="1" spc="200" kern="0" dirty="0">
                <a:solidFill>
                  <a:srgbClr val="6F675C"/>
                </a:solidFill>
                <a:latin typeface="Calibri" pitchFamily="34" charset="0"/>
                <a:ea typeface="Calibri" pitchFamily="34" charset="-122"/>
                <a:cs typeface="Calibri" pitchFamily="34" charset="-120"/>
              </a:rPr>
              <a:t>DRIFT-SENSE  •  PHASE 1</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24473C"/>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2B262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Drift-Sense_Project_Report.pdf" TargetMode="External"/><Relationship Id="rId3" Type="http://schemas.openxmlformats.org/officeDocument/2006/relationships/hyperlink" Target="Drift-Sense_Project_Report.pdf" TargetMode="External"/><Relationship Id="rId2" Type="http://schemas.openxmlformats.org/officeDocument/2006/relationships/image" Target="../media/image-21-1.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A_k"/>
          <p:cNvSpPr txBox="1"/>
          <p:nvPr/>
        </p:nvSpPr>
        <p:spPr>
          <a:xfrm>
            <a:off x="731520" y="658368"/>
            <a:ext cx="7315200" cy="274320"/>
          </a:xfrm>
          <a:prstGeom prst="rect">
            <a:avLst/>
          </a:prstGeom>
          <a:noFill/>
          <a:ln/>
        </p:spPr>
        <p:txBody>
          <a:bodyPr wrap="square" lIns="0" tIns="0" rIns="0" bIns="0" rtlCol="0" anchor="t"/>
          <a:lstStyle/>
          <a:p>
            <a:pPr indent="0" marL="0">
              <a:buNone/>
            </a:pPr>
            <a:r>
              <a:rPr lang="en-US" sz="1200" b="1" spc="300" kern="0" dirty="0">
                <a:solidFill>
                  <a:srgbClr val="E3A83A"/>
                </a:solidFill>
                <a:latin typeface="Calibri" pitchFamily="34" charset="0"/>
                <a:ea typeface="Calibri" pitchFamily="34" charset="-122"/>
                <a:cs typeface="Calibri" pitchFamily="34" charset="-120"/>
              </a:rPr>
              <a:t>CSAI SEMESTER 5 • MACHINE LEARNING EVALUATION (PHASE 1)</a:t>
            </a:r>
            <a:endParaRPr lang="en-US" sz="1200" dirty="0"/>
          </a:p>
        </p:txBody>
      </p:sp>
      <p:sp>
        <p:nvSpPr>
          <p:cNvPr id="3" name="A_t"/>
          <p:cNvSpPr txBox="1"/>
          <p:nvPr/>
        </p:nvSpPr>
        <p:spPr>
          <a:xfrm>
            <a:off x="731520" y="1005840"/>
            <a:ext cx="6858000" cy="1188720"/>
          </a:xfrm>
          <a:prstGeom prst="rect">
            <a:avLst/>
          </a:prstGeom>
          <a:noFill/>
          <a:ln/>
        </p:spPr>
        <p:txBody>
          <a:bodyPr wrap="square" lIns="0" tIns="0" rIns="0" bIns="0" rtlCol="0" anchor="ctr"/>
          <a:lstStyle/>
          <a:p>
            <a:pPr indent="0" marL="0">
              <a:buNone/>
            </a:pPr>
            <a:r>
              <a:rPr lang="en-US" sz="6800" b="1" dirty="0">
                <a:solidFill>
                  <a:srgbClr val="F4EEE3"/>
                </a:solidFill>
                <a:latin typeface="Cambria" pitchFamily="34" charset="0"/>
                <a:ea typeface="Cambria" pitchFamily="34" charset="-122"/>
                <a:cs typeface="Cambria" pitchFamily="34" charset="-120"/>
              </a:rPr>
              <a:t>DRIFT-SENSE</a:t>
            </a:r>
            <a:endParaRPr lang="en-US" sz="6800" dirty="0"/>
          </a:p>
        </p:txBody>
      </p:sp>
      <p:sp>
        <p:nvSpPr>
          <p:cNvPr id="4" name="A_s"/>
          <p:cNvSpPr txBox="1"/>
          <p:nvPr/>
        </p:nvSpPr>
        <p:spPr>
          <a:xfrm>
            <a:off x="731520" y="2286000"/>
            <a:ext cx="6949440" cy="1097280"/>
          </a:xfrm>
          <a:prstGeom prst="rect">
            <a:avLst/>
          </a:prstGeom>
          <a:noFill/>
          <a:ln/>
        </p:spPr>
        <p:txBody>
          <a:bodyPr wrap="square" lIns="0" tIns="0" rIns="0" bIns="0" rtlCol="0" anchor="t"/>
          <a:lstStyle/>
          <a:p>
            <a:pPr indent="0" marL="0">
              <a:buNone/>
            </a:pPr>
            <a:r>
              <a:rPr lang="en-US" sz="2600" dirty="0">
                <a:solidFill>
                  <a:srgbClr val="D9CDB8"/>
                </a:solidFill>
                <a:latin typeface="Calibri" pitchFamily="34" charset="0"/>
                <a:ea typeface="Calibri" pitchFamily="34" charset="-122"/>
                <a:cs typeface="Calibri" pitchFamily="34" charset="-120"/>
              </a:rPr>
              <a:t>Predicting IMU Dead-Reckoning Position Drift</a:t>
            </a:r>
            <a:endParaRPr lang="en-US" sz="2600" dirty="0"/>
          </a:p>
          <a:p>
            <a:pPr indent="0" marL="0">
              <a:buNone/>
            </a:pPr>
            <a:r>
              <a:rPr lang="en-US" sz="2600" dirty="0">
                <a:solidFill>
                  <a:srgbClr val="D9CDB8"/>
                </a:solidFill>
                <a:latin typeface="Calibri" pitchFamily="34" charset="0"/>
                <a:ea typeface="Calibri" pitchFamily="34" charset="-122"/>
                <a:cs typeface="Calibri" pitchFamily="34" charset="-120"/>
              </a:rPr>
              <a:t>from Window-Level Motion Features</a:t>
            </a:r>
            <a:endParaRPr lang="en-US" sz="2600" dirty="0"/>
          </a:p>
        </p:txBody>
      </p:sp>
      <p:sp>
        <p:nvSpPr>
          <p:cNvPr id="5" name="A_bar"/>
          <p:cNvSpPr/>
          <p:nvPr/>
        </p:nvSpPr>
        <p:spPr>
          <a:xfrm>
            <a:off x="731520" y="3547872"/>
            <a:ext cx="1097280" cy="54864"/>
          </a:xfrm>
          <a:prstGeom prst="rect">
            <a:avLst/>
          </a:prstGeom>
          <a:solidFill>
            <a:srgbClr val="B8512F"/>
          </a:solidFill>
          <a:ln w="12700">
            <a:solidFill>
              <a:srgbClr val="B8512F"/>
            </a:solidFill>
            <a:prstDash val="solid"/>
          </a:ln>
        </p:spPr>
      </p:sp>
      <p:sp>
        <p:nvSpPr>
          <p:cNvPr id="6" name="A_tc"/>
          <p:cNvSpPr/>
          <p:nvPr/>
        </p:nvSpPr>
        <p:spPr>
          <a:xfrm>
            <a:off x="731520" y="3840480"/>
            <a:ext cx="6675120" cy="2377440"/>
          </a:xfrm>
          <a:prstGeom prst="roundRect">
            <a:avLst>
              <a:gd name="adj" fmla="val 2692"/>
            </a:avLst>
          </a:prstGeom>
          <a:solidFill>
            <a:srgbClr val="37312B"/>
          </a:solidFill>
          <a:ln w="9525">
            <a:solidFill>
              <a:srgbClr val="4C443B"/>
            </a:solidFill>
            <a:prstDash val="solid"/>
          </a:ln>
        </p:spPr>
      </p:sp>
      <p:sp>
        <p:nvSpPr>
          <p:cNvPr id="7" name="A_tca"/>
          <p:cNvSpPr/>
          <p:nvPr/>
        </p:nvSpPr>
        <p:spPr>
          <a:xfrm>
            <a:off x="731520" y="3986784"/>
            <a:ext cx="64008" cy="2084832"/>
          </a:xfrm>
          <a:prstGeom prst="rect">
            <a:avLst/>
          </a:prstGeom>
          <a:solidFill>
            <a:srgbClr val="E3A83A"/>
          </a:solidFill>
          <a:ln w="12700">
            <a:solidFill>
              <a:srgbClr val="E3A83A"/>
            </a:solidFill>
            <a:prstDash val="solid"/>
          </a:ln>
        </p:spPr>
      </p:sp>
      <p:sp>
        <p:nvSpPr>
          <p:cNvPr id="8" name="A_th"/>
          <p:cNvSpPr txBox="1"/>
          <p:nvPr/>
        </p:nvSpPr>
        <p:spPr>
          <a:xfrm>
            <a:off x="1051560" y="4005072"/>
            <a:ext cx="5486400" cy="320040"/>
          </a:xfrm>
          <a:prstGeom prst="rect">
            <a:avLst/>
          </a:prstGeom>
          <a:noFill/>
          <a:ln/>
        </p:spPr>
        <p:txBody>
          <a:bodyPr wrap="square" lIns="0" tIns="0" rIns="0" bIns="0" rtlCol="0" anchor="t"/>
          <a:lstStyle/>
          <a:p>
            <a:pPr indent="0" marL="0">
              <a:buNone/>
            </a:pPr>
            <a:r>
              <a:rPr lang="en-US" sz="1600" b="1" spc="150" kern="0" dirty="0">
                <a:solidFill>
                  <a:srgbClr val="E3A83A"/>
                </a:solidFill>
                <a:latin typeface="Cambria" pitchFamily="34" charset="0"/>
                <a:ea typeface="Cambria" pitchFamily="34" charset="-122"/>
                <a:cs typeface="Cambria" pitchFamily="34" charset="-120"/>
              </a:rPr>
              <a:t>PROJECT TEAM &amp; ROLES</a:t>
            </a:r>
            <a:endParaRPr lang="en-US" sz="1600" dirty="0"/>
          </a:p>
        </p:txBody>
      </p:sp>
      <p:sp>
        <p:nvSpPr>
          <p:cNvPr id="9" name="A_tb"/>
          <p:cNvSpPr txBox="1"/>
          <p:nvPr/>
        </p:nvSpPr>
        <p:spPr>
          <a:xfrm>
            <a:off x="1051560" y="4480560"/>
            <a:ext cx="6263640" cy="1691640"/>
          </a:xfrm>
          <a:prstGeom prst="rect">
            <a:avLst/>
          </a:prstGeom>
          <a:noFill/>
          <a:ln/>
        </p:spPr>
        <p:txBody>
          <a:bodyPr wrap="square" lIns="0" tIns="0" rIns="0" bIns="0" rtlCol="0" anchor="t"/>
          <a:lstStyle/>
          <a:p>
            <a:pPr indent="0" marL="0">
              <a:spcAft>
                <a:spcPts val="600"/>
              </a:spcAft>
              <a:buNone/>
            </a:pPr>
            <a:r>
              <a:rPr lang="en-US" sz="1500" dirty="0">
                <a:solidFill>
                  <a:srgbClr val="F4EEE3"/>
                </a:solidFill>
                <a:latin typeface="Calibri" pitchFamily="34" charset="0"/>
                <a:ea typeface="Calibri" pitchFamily="34" charset="-122"/>
                <a:cs typeface="Calibri" pitchFamily="34" charset="-120"/>
              </a:rPr>
              <a:t>Guru Manohar Gupta [2401010125] — Team Lead &amp; Preprocessing Pipeline</a:t>
            </a:r>
            <a:endParaRPr lang="en-US" sz="1500" dirty="0"/>
          </a:p>
          <a:p>
            <a:pPr indent="0" marL="0">
              <a:spcAft>
                <a:spcPts val="600"/>
              </a:spcAft>
              <a:buNone/>
            </a:pPr>
            <a:r>
              <a:rPr lang="en-US" sz="1500" dirty="0">
                <a:solidFill>
                  <a:srgbClr val="F4EEE3"/>
                </a:solidFill>
                <a:latin typeface="Calibri" pitchFamily="34" charset="0"/>
                <a:ea typeface="Calibri" pitchFamily="34" charset="-122"/>
                <a:cs typeface="Calibri" pitchFamily="34" charset="-120"/>
              </a:rPr>
              <a:t>Harsith Priyan S [2401010398] — EDA &amp; Flight Dynamics</a:t>
            </a:r>
            <a:endParaRPr lang="en-US" sz="1500" dirty="0"/>
          </a:p>
          <a:p>
            <a:pPr indent="0" marL="0">
              <a:spcAft>
                <a:spcPts val="600"/>
              </a:spcAft>
              <a:buNone/>
            </a:pPr>
            <a:r>
              <a:rPr lang="en-US" sz="1500" dirty="0">
                <a:solidFill>
                  <a:srgbClr val="F4EEE3"/>
                </a:solidFill>
                <a:latin typeface="Calibri" pitchFamily="34" charset="0"/>
                <a:ea typeface="Calibri" pitchFamily="34" charset="-122"/>
                <a:cs typeface="Calibri" pitchFamily="34" charset="-120"/>
              </a:rPr>
              <a:t>Pranavi Mathur [2401020046] — Domain Feature Engineering (104 Descriptors)</a:t>
            </a:r>
            <a:endParaRPr lang="en-US" sz="1500" dirty="0"/>
          </a:p>
          <a:p>
            <a:pPr indent="0" marL="0">
              <a:spcAft>
                <a:spcPts val="600"/>
              </a:spcAft>
              <a:buNone/>
            </a:pPr>
            <a:r>
              <a:rPr lang="en-US" sz="1500" dirty="0">
                <a:solidFill>
                  <a:srgbClr val="F4EEE3"/>
                </a:solidFill>
                <a:latin typeface="Calibri" pitchFamily="34" charset="0"/>
                <a:ea typeface="Calibri" pitchFamily="34" charset="-122"/>
                <a:cs typeface="Calibri" pitchFamily="34" charset="-120"/>
              </a:rPr>
              <a:t>Yatin Singh [2401010243] — Model Development, Tuning &amp; Evaluation</a:t>
            </a:r>
            <a:endParaRPr lang="en-US" sz="1500" dirty="0"/>
          </a:p>
          <a:p>
            <a:pPr indent="0" marL="0">
              <a:spcAft>
                <a:spcPts val="600"/>
              </a:spcAft>
              <a:buNone/>
            </a:pPr>
            <a:r>
              <a:rPr lang="en-US" sz="1500" dirty="0">
                <a:solidFill>
                  <a:srgbClr val="F4EEE3"/>
                </a:solidFill>
                <a:latin typeface="Calibri" pitchFamily="34" charset="0"/>
                <a:ea typeface="Calibri" pitchFamily="34" charset="-122"/>
                <a:cs typeface="Calibri" pitchFamily="34" charset="-120"/>
              </a:rPr>
              <a:t>Dadi Dinesh [2401010136] — Dataset, Literature, Report &amp; PPT</a:t>
            </a:r>
            <a:endParaRPr lang="en-US" sz="1500" dirty="0"/>
          </a:p>
        </p:txBody>
      </p:sp>
      <p:sp>
        <p:nvSpPr>
          <p:cNvPr id="10" name="D_ring"/>
          <p:cNvSpPr/>
          <p:nvPr/>
        </p:nvSpPr>
        <p:spPr>
          <a:xfrm>
            <a:off x="7955280" y="182880"/>
            <a:ext cx="3566160" cy="3566160"/>
          </a:xfrm>
          <a:prstGeom prst="ellipse">
            <a:avLst/>
          </a:prstGeom>
          <a:solidFill>
            <a:srgbClr val="2B2622">
              <a:alpha val="0"/>
            </a:srgbClr>
          </a:solidFill>
          <a:ln w="12700">
            <a:solidFill>
              <a:srgbClr val="4C443B"/>
            </a:solidFill>
            <a:prstDash val="dash"/>
          </a:ln>
        </p:spPr>
      </p:sp>
      <p:sp>
        <p:nvSpPr>
          <p:cNvPr id="11" name="D_arm0"/>
          <p:cNvSpPr/>
          <p:nvPr/>
        </p:nvSpPr>
        <p:spPr>
          <a:xfrm>
            <a:off x="10195560" y="1965960"/>
            <a:ext cx="868680" cy="0"/>
          </a:xfrm>
          <a:prstGeom prst="line">
            <a:avLst/>
          </a:prstGeom>
          <a:noFill/>
          <a:ln w="25400">
            <a:solidFill>
              <a:srgbClr val="E3A83A"/>
            </a:solidFill>
            <a:prstDash val="solid"/>
          </a:ln>
        </p:spPr>
      </p:sp>
      <p:sp>
        <p:nvSpPr>
          <p:cNvPr id="12" name="D_rot0"/>
          <p:cNvSpPr/>
          <p:nvPr/>
        </p:nvSpPr>
        <p:spPr>
          <a:xfrm>
            <a:off x="10735056" y="1636776"/>
            <a:ext cx="658368" cy="658368"/>
          </a:xfrm>
          <a:prstGeom prst="ellipse">
            <a:avLst/>
          </a:prstGeom>
          <a:solidFill>
            <a:srgbClr val="2B2622">
              <a:alpha val="0"/>
            </a:srgbClr>
          </a:solidFill>
          <a:ln w="19050">
            <a:solidFill>
              <a:srgbClr val="E3A83A"/>
            </a:solidFill>
            <a:prstDash val="solid"/>
          </a:ln>
        </p:spPr>
      </p:sp>
      <p:sp>
        <p:nvSpPr>
          <p:cNvPr id="13" name="D_hub0"/>
          <p:cNvSpPr/>
          <p:nvPr/>
        </p:nvSpPr>
        <p:spPr>
          <a:xfrm>
            <a:off x="11000232" y="1901952"/>
            <a:ext cx="128016" cy="128016"/>
          </a:xfrm>
          <a:prstGeom prst="ellipse">
            <a:avLst/>
          </a:prstGeom>
          <a:solidFill>
            <a:srgbClr val="B8512F"/>
          </a:solidFill>
          <a:ln w="12700">
            <a:solidFill>
              <a:srgbClr val="B8512F"/>
            </a:solidFill>
            <a:prstDash val="solid"/>
          </a:ln>
        </p:spPr>
      </p:sp>
      <p:sp>
        <p:nvSpPr>
          <p:cNvPr id="14" name="D_arm1"/>
          <p:cNvSpPr/>
          <p:nvPr/>
        </p:nvSpPr>
        <p:spPr>
          <a:xfrm>
            <a:off x="9966960" y="2361907"/>
            <a:ext cx="434340" cy="752299"/>
          </a:xfrm>
          <a:prstGeom prst="line">
            <a:avLst/>
          </a:prstGeom>
          <a:noFill/>
          <a:ln w="25400">
            <a:solidFill>
              <a:srgbClr val="E3A83A"/>
            </a:solidFill>
            <a:prstDash val="solid"/>
          </a:ln>
        </p:spPr>
      </p:sp>
      <p:sp>
        <p:nvSpPr>
          <p:cNvPr id="15" name="D_rot1"/>
          <p:cNvSpPr/>
          <p:nvPr/>
        </p:nvSpPr>
        <p:spPr>
          <a:xfrm>
            <a:off x="10072116" y="2785022"/>
            <a:ext cx="658368" cy="658368"/>
          </a:xfrm>
          <a:prstGeom prst="ellipse">
            <a:avLst/>
          </a:prstGeom>
          <a:solidFill>
            <a:srgbClr val="2B2622">
              <a:alpha val="0"/>
            </a:srgbClr>
          </a:solidFill>
          <a:ln w="19050">
            <a:solidFill>
              <a:srgbClr val="E3A83A"/>
            </a:solidFill>
            <a:prstDash val="solid"/>
          </a:ln>
        </p:spPr>
      </p:sp>
      <p:sp>
        <p:nvSpPr>
          <p:cNvPr id="16" name="D_hub1"/>
          <p:cNvSpPr/>
          <p:nvPr/>
        </p:nvSpPr>
        <p:spPr>
          <a:xfrm>
            <a:off x="10337292" y="3050198"/>
            <a:ext cx="128016" cy="128016"/>
          </a:xfrm>
          <a:prstGeom prst="ellipse">
            <a:avLst/>
          </a:prstGeom>
          <a:solidFill>
            <a:srgbClr val="B8512F"/>
          </a:solidFill>
          <a:ln w="12700">
            <a:solidFill>
              <a:srgbClr val="B8512F"/>
            </a:solidFill>
            <a:prstDash val="solid"/>
          </a:ln>
        </p:spPr>
      </p:sp>
      <p:sp>
        <p:nvSpPr>
          <p:cNvPr id="17" name="D_arm2"/>
          <p:cNvSpPr/>
          <p:nvPr/>
        </p:nvSpPr>
        <p:spPr>
          <a:xfrm flipV="1">
            <a:off x="9075420" y="2361907"/>
            <a:ext cx="434340" cy="752299"/>
          </a:xfrm>
          <a:prstGeom prst="line">
            <a:avLst/>
          </a:prstGeom>
          <a:noFill/>
          <a:ln w="25400">
            <a:solidFill>
              <a:srgbClr val="E3A83A"/>
            </a:solidFill>
            <a:prstDash val="solid"/>
          </a:ln>
        </p:spPr>
      </p:sp>
      <p:sp>
        <p:nvSpPr>
          <p:cNvPr id="18" name="D_rot2"/>
          <p:cNvSpPr/>
          <p:nvPr/>
        </p:nvSpPr>
        <p:spPr>
          <a:xfrm>
            <a:off x="8746236" y="2785022"/>
            <a:ext cx="658368" cy="658368"/>
          </a:xfrm>
          <a:prstGeom prst="ellipse">
            <a:avLst/>
          </a:prstGeom>
          <a:solidFill>
            <a:srgbClr val="2B2622">
              <a:alpha val="0"/>
            </a:srgbClr>
          </a:solidFill>
          <a:ln w="19050">
            <a:solidFill>
              <a:srgbClr val="E3A83A"/>
            </a:solidFill>
            <a:prstDash val="solid"/>
          </a:ln>
        </p:spPr>
      </p:sp>
      <p:sp>
        <p:nvSpPr>
          <p:cNvPr id="19" name="D_hub2"/>
          <p:cNvSpPr/>
          <p:nvPr/>
        </p:nvSpPr>
        <p:spPr>
          <a:xfrm>
            <a:off x="9011412" y="3050198"/>
            <a:ext cx="128016" cy="128016"/>
          </a:xfrm>
          <a:prstGeom prst="ellipse">
            <a:avLst/>
          </a:prstGeom>
          <a:solidFill>
            <a:srgbClr val="B8512F"/>
          </a:solidFill>
          <a:ln w="12700">
            <a:solidFill>
              <a:srgbClr val="B8512F"/>
            </a:solidFill>
            <a:prstDash val="solid"/>
          </a:ln>
        </p:spPr>
      </p:sp>
      <p:sp>
        <p:nvSpPr>
          <p:cNvPr id="20" name="D_arm3"/>
          <p:cNvSpPr/>
          <p:nvPr/>
        </p:nvSpPr>
        <p:spPr>
          <a:xfrm>
            <a:off x="8412480" y="1965960"/>
            <a:ext cx="868680" cy="0"/>
          </a:xfrm>
          <a:prstGeom prst="line">
            <a:avLst/>
          </a:prstGeom>
          <a:noFill/>
          <a:ln w="25400">
            <a:solidFill>
              <a:srgbClr val="E3A83A"/>
            </a:solidFill>
            <a:prstDash val="solid"/>
          </a:ln>
        </p:spPr>
      </p:sp>
      <p:sp>
        <p:nvSpPr>
          <p:cNvPr id="21" name="D_rot3"/>
          <p:cNvSpPr/>
          <p:nvPr/>
        </p:nvSpPr>
        <p:spPr>
          <a:xfrm>
            <a:off x="8083296" y="1636776"/>
            <a:ext cx="658368" cy="658368"/>
          </a:xfrm>
          <a:prstGeom prst="ellipse">
            <a:avLst/>
          </a:prstGeom>
          <a:solidFill>
            <a:srgbClr val="2B2622">
              <a:alpha val="0"/>
            </a:srgbClr>
          </a:solidFill>
          <a:ln w="19050">
            <a:solidFill>
              <a:srgbClr val="E3A83A"/>
            </a:solidFill>
            <a:prstDash val="solid"/>
          </a:ln>
        </p:spPr>
      </p:sp>
      <p:sp>
        <p:nvSpPr>
          <p:cNvPr id="22" name="D_hub3"/>
          <p:cNvSpPr/>
          <p:nvPr/>
        </p:nvSpPr>
        <p:spPr>
          <a:xfrm>
            <a:off x="8348472" y="1901952"/>
            <a:ext cx="128016" cy="128016"/>
          </a:xfrm>
          <a:prstGeom prst="ellipse">
            <a:avLst/>
          </a:prstGeom>
          <a:solidFill>
            <a:srgbClr val="B8512F"/>
          </a:solidFill>
          <a:ln w="12700">
            <a:solidFill>
              <a:srgbClr val="B8512F"/>
            </a:solidFill>
            <a:prstDash val="solid"/>
          </a:ln>
        </p:spPr>
      </p:sp>
      <p:sp>
        <p:nvSpPr>
          <p:cNvPr id="23" name="D_arm4"/>
          <p:cNvSpPr/>
          <p:nvPr/>
        </p:nvSpPr>
        <p:spPr>
          <a:xfrm>
            <a:off x="9075420" y="817714"/>
            <a:ext cx="434340" cy="752299"/>
          </a:xfrm>
          <a:prstGeom prst="line">
            <a:avLst/>
          </a:prstGeom>
          <a:noFill/>
          <a:ln w="25400">
            <a:solidFill>
              <a:srgbClr val="E3A83A"/>
            </a:solidFill>
            <a:prstDash val="solid"/>
          </a:ln>
        </p:spPr>
      </p:sp>
      <p:sp>
        <p:nvSpPr>
          <p:cNvPr id="24" name="D_rot4"/>
          <p:cNvSpPr/>
          <p:nvPr/>
        </p:nvSpPr>
        <p:spPr>
          <a:xfrm>
            <a:off x="8746236" y="488530"/>
            <a:ext cx="658368" cy="658368"/>
          </a:xfrm>
          <a:prstGeom prst="ellipse">
            <a:avLst/>
          </a:prstGeom>
          <a:solidFill>
            <a:srgbClr val="2B2622">
              <a:alpha val="0"/>
            </a:srgbClr>
          </a:solidFill>
          <a:ln w="19050">
            <a:solidFill>
              <a:srgbClr val="E3A83A"/>
            </a:solidFill>
            <a:prstDash val="solid"/>
          </a:ln>
        </p:spPr>
      </p:sp>
      <p:sp>
        <p:nvSpPr>
          <p:cNvPr id="25" name="D_hub4"/>
          <p:cNvSpPr/>
          <p:nvPr/>
        </p:nvSpPr>
        <p:spPr>
          <a:xfrm>
            <a:off x="9011412" y="753706"/>
            <a:ext cx="128016" cy="128016"/>
          </a:xfrm>
          <a:prstGeom prst="ellipse">
            <a:avLst/>
          </a:prstGeom>
          <a:solidFill>
            <a:srgbClr val="B8512F"/>
          </a:solidFill>
          <a:ln w="12700">
            <a:solidFill>
              <a:srgbClr val="B8512F"/>
            </a:solidFill>
            <a:prstDash val="solid"/>
          </a:ln>
        </p:spPr>
      </p:sp>
      <p:sp>
        <p:nvSpPr>
          <p:cNvPr id="26" name="D_arm5"/>
          <p:cNvSpPr/>
          <p:nvPr/>
        </p:nvSpPr>
        <p:spPr>
          <a:xfrm flipV="1">
            <a:off x="9966960" y="817714"/>
            <a:ext cx="434340" cy="752299"/>
          </a:xfrm>
          <a:prstGeom prst="line">
            <a:avLst/>
          </a:prstGeom>
          <a:noFill/>
          <a:ln w="25400">
            <a:solidFill>
              <a:srgbClr val="E3A83A"/>
            </a:solidFill>
            <a:prstDash val="solid"/>
          </a:ln>
        </p:spPr>
      </p:sp>
      <p:sp>
        <p:nvSpPr>
          <p:cNvPr id="27" name="D_rot5"/>
          <p:cNvSpPr/>
          <p:nvPr/>
        </p:nvSpPr>
        <p:spPr>
          <a:xfrm>
            <a:off x="10072116" y="488530"/>
            <a:ext cx="658368" cy="658368"/>
          </a:xfrm>
          <a:prstGeom prst="ellipse">
            <a:avLst/>
          </a:prstGeom>
          <a:solidFill>
            <a:srgbClr val="2B2622">
              <a:alpha val="0"/>
            </a:srgbClr>
          </a:solidFill>
          <a:ln w="19050">
            <a:solidFill>
              <a:srgbClr val="E3A83A"/>
            </a:solidFill>
            <a:prstDash val="solid"/>
          </a:ln>
        </p:spPr>
      </p:sp>
      <p:sp>
        <p:nvSpPr>
          <p:cNvPr id="28" name="D_hub5"/>
          <p:cNvSpPr/>
          <p:nvPr/>
        </p:nvSpPr>
        <p:spPr>
          <a:xfrm>
            <a:off x="10337292" y="753706"/>
            <a:ext cx="128016" cy="128016"/>
          </a:xfrm>
          <a:prstGeom prst="ellipse">
            <a:avLst/>
          </a:prstGeom>
          <a:solidFill>
            <a:srgbClr val="B8512F"/>
          </a:solidFill>
          <a:ln w="12700">
            <a:solidFill>
              <a:srgbClr val="B8512F"/>
            </a:solidFill>
            <a:prstDash val="solid"/>
          </a:ln>
        </p:spPr>
      </p:sp>
      <p:sp>
        <p:nvSpPr>
          <p:cNvPr id="29" name="D_body"/>
          <p:cNvSpPr/>
          <p:nvPr/>
        </p:nvSpPr>
        <p:spPr>
          <a:xfrm>
            <a:off x="9235440" y="1527048"/>
            <a:ext cx="1005840" cy="877824"/>
          </a:xfrm>
          <a:prstGeom prst="hexagon">
            <a:avLst/>
          </a:prstGeom>
          <a:solidFill>
            <a:srgbClr val="37312B"/>
          </a:solidFill>
          <a:ln w="25400">
            <a:solidFill>
              <a:srgbClr val="E3A83A"/>
            </a:solidFill>
            <a:prstDash val="solid"/>
          </a:ln>
        </p:spPr>
      </p:sp>
      <p:sp>
        <p:nvSpPr>
          <p:cNvPr id="30" name="D_imu"/>
          <p:cNvSpPr txBox="1"/>
          <p:nvPr/>
        </p:nvSpPr>
        <p:spPr>
          <a:xfrm>
            <a:off x="9235440" y="1527048"/>
            <a:ext cx="1005840" cy="877824"/>
          </a:xfrm>
          <a:prstGeom prst="rect">
            <a:avLst/>
          </a:prstGeom>
          <a:noFill/>
          <a:ln/>
        </p:spPr>
        <p:txBody>
          <a:bodyPr wrap="square" lIns="0" tIns="0" rIns="0" bIns="0" rtlCol="0" anchor="ctr"/>
          <a:lstStyle/>
          <a:p>
            <a:pPr algn="ctr" indent="0" marL="0">
              <a:buNone/>
            </a:pPr>
            <a:r>
              <a:rPr lang="en-US" sz="1500" b="1" dirty="0">
                <a:solidFill>
                  <a:srgbClr val="E3A83A"/>
                </a:solidFill>
                <a:latin typeface="Calibri" pitchFamily="34" charset="0"/>
                <a:ea typeface="Calibri" pitchFamily="34" charset="-122"/>
                <a:cs typeface="Calibri" pitchFamily="34" charset="-120"/>
              </a:rPr>
              <a:t>IMU</a:t>
            </a:r>
            <a:endParaRPr lang="en-US" sz="1500" dirty="0"/>
          </a:p>
        </p:txBody>
      </p:sp>
      <p:sp>
        <p:nvSpPr>
          <p:cNvPr id="31" name="A_hud"/>
          <p:cNvSpPr txBox="1"/>
          <p:nvPr/>
        </p:nvSpPr>
        <p:spPr>
          <a:xfrm>
            <a:off x="7818120" y="3657600"/>
            <a:ext cx="3840480" cy="256032"/>
          </a:xfrm>
          <a:prstGeom prst="rect">
            <a:avLst/>
          </a:prstGeom>
          <a:noFill/>
          <a:ln/>
        </p:spPr>
        <p:txBody>
          <a:bodyPr wrap="square" lIns="0" tIns="0" rIns="0" bIns="0" rtlCol="0" anchor="t"/>
          <a:lstStyle/>
          <a:p>
            <a:pPr algn="ctr" indent="0" marL="0">
              <a:buNone/>
            </a:pPr>
            <a:r>
              <a:rPr lang="en-US" sz="1100" b="1" spc="150" kern="0" dirty="0">
                <a:solidFill>
                  <a:srgbClr val="D9CDB8"/>
                </a:solidFill>
                <a:latin typeface="Calibri" pitchFamily="34" charset="0"/>
                <a:ea typeface="Calibri" pitchFamily="34" charset="-122"/>
                <a:cs typeface="Calibri" pitchFamily="34" charset="-120"/>
              </a:rPr>
              <a:t>200 Hz  •  6-AXIS  •  2.0 s WINDOWS</a:t>
            </a:r>
            <a:endParaRPr lang="en-US" sz="1100" dirty="0"/>
          </a:p>
        </p:txBody>
      </p:sp>
      <p:sp>
        <p:nvSpPr>
          <p:cNvPr id="32" name="A_ec"/>
          <p:cNvSpPr/>
          <p:nvPr/>
        </p:nvSpPr>
        <p:spPr>
          <a:xfrm>
            <a:off x="7818120" y="4005072"/>
            <a:ext cx="3822192" cy="2212848"/>
          </a:xfrm>
          <a:prstGeom prst="roundRect">
            <a:avLst>
              <a:gd name="adj" fmla="val 2893"/>
            </a:avLst>
          </a:prstGeom>
          <a:solidFill>
            <a:srgbClr val="F4EEE3"/>
          </a:solidFill>
          <a:ln w="12700">
            <a:solidFill>
              <a:srgbClr val="F4EEE3"/>
            </a:solidFill>
            <a:prstDash val="solid"/>
          </a:ln>
        </p:spPr>
      </p:sp>
      <p:sp>
        <p:nvSpPr>
          <p:cNvPr id="33" name="A_eca"/>
          <p:cNvSpPr/>
          <p:nvPr/>
        </p:nvSpPr>
        <p:spPr>
          <a:xfrm>
            <a:off x="7818120" y="4151376"/>
            <a:ext cx="64008" cy="1920240"/>
          </a:xfrm>
          <a:prstGeom prst="rect">
            <a:avLst/>
          </a:prstGeom>
          <a:solidFill>
            <a:srgbClr val="B8512F"/>
          </a:solidFill>
          <a:ln w="12700">
            <a:solidFill>
              <a:srgbClr val="B8512F"/>
            </a:solidFill>
            <a:prstDash val="solid"/>
          </a:ln>
        </p:spPr>
      </p:sp>
      <p:sp>
        <p:nvSpPr>
          <p:cNvPr id="34" name="A_eh"/>
          <p:cNvSpPr txBox="1"/>
          <p:nvPr/>
        </p:nvSpPr>
        <p:spPr>
          <a:xfrm>
            <a:off x="8092440" y="4133088"/>
            <a:ext cx="3383280" cy="274320"/>
          </a:xfrm>
          <a:prstGeom prst="rect">
            <a:avLst/>
          </a:prstGeom>
          <a:noFill/>
          <a:ln/>
        </p:spPr>
        <p:txBody>
          <a:bodyPr wrap="square" lIns="0" tIns="0" rIns="0" bIns="0" rtlCol="0" anchor="t"/>
          <a:lstStyle/>
          <a:p>
            <a:pPr indent="0" marL="0">
              <a:buNone/>
            </a:pPr>
            <a:r>
              <a:rPr lang="en-US" sz="1200" b="1" spc="200" kern="0" dirty="0">
                <a:solidFill>
                  <a:srgbClr val="B8512F"/>
                </a:solidFill>
                <a:latin typeface="Calibri" pitchFamily="34" charset="0"/>
                <a:ea typeface="Calibri" pitchFamily="34" charset="-122"/>
                <a:cs typeface="Calibri" pitchFamily="34" charset="-120"/>
              </a:rPr>
              <a:t>EXECUTIVE SUMMARY</a:t>
            </a:r>
            <a:endParaRPr lang="en-US" sz="1200" dirty="0"/>
          </a:p>
        </p:txBody>
      </p:sp>
      <p:sp>
        <p:nvSpPr>
          <p:cNvPr id="35" name="A_eb"/>
          <p:cNvSpPr txBox="1"/>
          <p:nvPr/>
        </p:nvSpPr>
        <p:spPr>
          <a:xfrm>
            <a:off x="8092440" y="4480560"/>
            <a:ext cx="3383280" cy="1691640"/>
          </a:xfrm>
          <a:prstGeom prst="rect">
            <a:avLst/>
          </a:prstGeom>
          <a:noFill/>
          <a:ln/>
        </p:spPr>
        <p:txBody>
          <a:bodyPr wrap="square" lIns="0" tIns="0" rIns="0" bIns="0" rtlCol="0" anchor="t"/>
          <a:lstStyle/>
          <a:p>
            <a:pPr indent="0" marL="0">
              <a:lnSpc>
                <a:spcPct val="105000"/>
              </a:lnSpc>
              <a:buNone/>
            </a:pPr>
            <a:r>
              <a:rPr lang="en-US" sz="1450" i="1" dirty="0">
                <a:solidFill>
                  <a:srgbClr val="26221E"/>
                </a:solidFill>
                <a:latin typeface="Cambria" pitchFamily="34" charset="0"/>
                <a:ea typeface="Cambria" pitchFamily="34" charset="-122"/>
                <a:cs typeface="Cambria" pitchFamily="34" charset="-120"/>
              </a:rPr>
              <a:t>“Autonomous drones drift quadratically when cameras or GPS fail. We engineer 104 motion features from raw 200 Hz IMU signals to predict 2.0-second position drift with 2.50 cm accuracy on unseen flights, cutting baseline error by 45%.”</a:t>
            </a:r>
            <a:endParaRPr lang="en-US" sz="1450" dirty="0"/>
          </a:p>
        </p:txBody>
      </p:sp>
      <p:sp>
        <p:nvSpPr>
          <p:cNvPr id="36" name="A_pg"/>
          <p:cNvSpPr txBox="1"/>
          <p:nvPr/>
        </p:nvSpPr>
        <p:spPr>
          <a:xfrm>
            <a:off x="10881360" y="6400800"/>
            <a:ext cx="758952" cy="256032"/>
          </a:xfrm>
          <a:prstGeom prst="rect">
            <a:avLst/>
          </a:prstGeom>
          <a:noFill/>
          <a:ln/>
        </p:spPr>
        <p:txBody>
          <a:bodyPr wrap="square" lIns="0" tIns="0" rIns="0" bIns="0" rtlCol="0" anchor="t"/>
          <a:lstStyle/>
          <a:p>
            <a:pPr algn="r" indent="0" marL="0">
              <a:buNone/>
            </a:pPr>
            <a:r>
              <a:rPr lang="en-US" sz="1100" b="1" dirty="0">
                <a:solidFill>
                  <a:srgbClr val="8D8374"/>
                </a:solidFill>
                <a:latin typeface="Calibri" pitchFamily="34" charset="0"/>
                <a:ea typeface="Calibri" pitchFamily="34" charset="-122"/>
                <a:cs typeface="Calibri" pitchFamily="34" charset="-120"/>
              </a:rPr>
              <a:t>01</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900">
        <p14:ripple dir="center"/>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16" fill="hold">
                            <p:stCondLst>
                              <p:cond delay="0"/>
                            </p:stCondLst>
                            <p:childTnLst>
                              <p:par>
                                <p:cTn id="6" presetID="10" presetClass="entr" presetSubtype="0" fill="hold" nodeType="withEffect">
                                  <p:stCondLst>
                                    <p:cond delay="10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10" presetID="10" presetClass="entr" presetSubtype="0" fill="hold" nodeType="withEffect">
                                  <p:stCondLst>
                                    <p:cond delay="25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anim calcmode="lin" valueType="num">
                                      <p:cBhvr additive="base">
                                        <p:cTn id="9" dur="450" fill="hold"/>
                                        <p:tgtEl>
                                          <p:spTgt spid="3"/>
                                        </p:tgtEl>
                                        <p:attrNameLst>
                                          <p:attrName>ppt_y</p:attrName>
                                        </p:attrNameLst>
                                      </p:cBhvr>
                                      <p:tavLst>
                                        <p:tav tm="0">
                                          <p:val>
                                            <p:strVal val="#ppt_y+0.05"/>
                                          </p:val>
                                        </p:tav>
                                        <p:tav tm="100000">
                                          <p:val>
                                            <p:strVal val="#ppt_y"/>
                                          </p:val>
                                        </p:tav>
                                      </p:tavLst>
                                    </p:anim>
                                  </p:childTnLst>
                                </p:cTn>
                              </p:par>
                              <p:par>
                                <p:cTn id="14" presetID="10" presetClass="entr" presetSubtype="0" fill="hold" nodeType="withEffect">
                                  <p:stCondLst>
                                    <p:cond delay="50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50"/>
                                        <p:tgtEl>
                                          <p:spTgt spid="4"/>
                                        </p:tgtEl>
                                      </p:cBhvr>
                                    </p:animEffect>
                                    <p:anim calcmode="lin" valueType="num">
                                      <p:cBhvr additive="base">
                                        <p:cTn id="13" dur="450" fill="hold"/>
                                        <p:tgtEl>
                                          <p:spTgt spid="4"/>
                                        </p:tgtEl>
                                        <p:attrNameLst>
                                          <p:attrName>ppt_y</p:attrName>
                                        </p:attrNameLst>
                                      </p:cBhvr>
                                      <p:tavLst>
                                        <p:tav tm="0">
                                          <p:val>
                                            <p:strVal val="#ppt_y+0.05"/>
                                          </p:val>
                                        </p:tav>
                                        <p:tav tm="100000">
                                          <p:val>
                                            <p:strVal val="#ppt_y"/>
                                          </p:val>
                                        </p:tav>
                                      </p:tavLst>
                                    </p:anim>
                                  </p:childTnLst>
                                </p:cTn>
                              </p:par>
                              <p:par>
                                <p:cTn id="17" presetID="22" presetClass="entr" presetSubtype="8" fill="hold" nodeType="withEffect">
                                  <p:stCondLst>
                                    <p:cond delay="70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450"/>
                                        <p:tgtEl>
                                          <p:spTgt spid="5"/>
                                        </p:tgtEl>
                                      </p:cBhvr>
                                    </p:animEffect>
                                  </p:childTnLst>
                                </p:cTn>
                              </p:par>
                              <p:par>
                                <p:cTn id="21" presetID="10" presetClass="entr" presetSubtype="0" fill="hold" nodeType="withEffect">
                                  <p:stCondLst>
                                    <p:cond delay="9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50"/>
                                        <p:tgtEl>
                                          <p:spTgt spid="6"/>
                                        </p:tgtEl>
                                      </p:cBhvr>
                                    </p:animEffect>
                                    <p:anim calcmode="lin" valueType="num">
                                      <p:cBhvr additive="base">
                                        <p:cTn id="20" dur="450" fill="hold"/>
                                        <p:tgtEl>
                                          <p:spTgt spid="6"/>
                                        </p:tgtEl>
                                        <p:attrNameLst>
                                          <p:attrName>ppt_y</p:attrName>
                                        </p:attrNameLst>
                                      </p:cBhvr>
                                      <p:tavLst>
                                        <p:tav tm="0">
                                          <p:val>
                                            <p:strVal val="#ppt_y+0.05"/>
                                          </p:val>
                                        </p:tav>
                                        <p:tav tm="100000">
                                          <p:val>
                                            <p:strVal val="#ppt_y"/>
                                          </p:val>
                                        </p:tav>
                                      </p:tavLst>
                                    </p:anim>
                                  </p:childTnLst>
                                </p:cTn>
                              </p:par>
                              <p:par>
                                <p:cTn id="25" presetID="10" presetClass="entr" presetSubtype="0" fill="hold" nodeType="withEffect">
                                  <p:stCondLst>
                                    <p:cond delay="90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450"/>
                                        <p:tgtEl>
                                          <p:spTgt spid="7"/>
                                        </p:tgtEl>
                                      </p:cBhvr>
                                    </p:animEffect>
                                    <p:anim calcmode="lin" valueType="num">
                                      <p:cBhvr additive="base">
                                        <p:cTn id="24" dur="450" fill="hold"/>
                                        <p:tgtEl>
                                          <p:spTgt spid="7"/>
                                        </p:tgtEl>
                                        <p:attrNameLst>
                                          <p:attrName>ppt_y</p:attrName>
                                        </p:attrNameLst>
                                      </p:cBhvr>
                                      <p:tavLst>
                                        <p:tav tm="0">
                                          <p:val>
                                            <p:strVal val="#ppt_y+0.05"/>
                                          </p:val>
                                        </p:tav>
                                        <p:tav tm="100000">
                                          <p:val>
                                            <p:strVal val="#ppt_y"/>
                                          </p:val>
                                        </p:tav>
                                      </p:tavLst>
                                    </p:anim>
                                  </p:childTnLst>
                                </p:cTn>
                              </p:par>
                              <p:par>
                                <p:cTn id="29" presetID="10" presetClass="entr" presetSubtype="0" fill="hold" nodeType="withEffect">
                                  <p:stCondLst>
                                    <p:cond delay="90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450"/>
                                        <p:tgtEl>
                                          <p:spTgt spid="8"/>
                                        </p:tgtEl>
                                      </p:cBhvr>
                                    </p:animEffect>
                                    <p:anim calcmode="lin" valueType="num">
                                      <p:cBhvr additive="base">
                                        <p:cTn id="28" dur="450" fill="hold"/>
                                        <p:tgtEl>
                                          <p:spTgt spid="8"/>
                                        </p:tgtEl>
                                        <p:attrNameLst>
                                          <p:attrName>ppt_y</p:attrName>
                                        </p:attrNameLst>
                                      </p:cBhvr>
                                      <p:tavLst>
                                        <p:tav tm="0">
                                          <p:val>
                                            <p:strVal val="#ppt_y+0.05"/>
                                          </p:val>
                                        </p:tav>
                                        <p:tav tm="100000">
                                          <p:val>
                                            <p:strVal val="#ppt_y"/>
                                          </p:val>
                                        </p:tav>
                                      </p:tavLst>
                                    </p:anim>
                                  </p:childTnLst>
                                </p:cTn>
                              </p:par>
                              <p:par>
                                <p:cTn id="33" presetID="10" presetClass="entr" presetSubtype="0" fill="hold" nodeType="withEffect">
                                  <p:stCondLst>
                                    <p:cond delay="90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450"/>
                                        <p:tgtEl>
                                          <p:spTgt spid="9"/>
                                        </p:tgtEl>
                                      </p:cBhvr>
                                    </p:animEffect>
                                    <p:anim calcmode="lin" valueType="num">
                                      <p:cBhvr additive="base">
                                        <p:cTn id="32" dur="450" fill="hold"/>
                                        <p:tgtEl>
                                          <p:spTgt spid="9"/>
                                        </p:tgtEl>
                                        <p:attrNameLst>
                                          <p:attrName>ppt_y</p:attrName>
                                        </p:attrNameLst>
                                      </p:cBhvr>
                                      <p:tavLst>
                                        <p:tav tm="0">
                                          <p:val>
                                            <p:strVal val="#ppt_y+0.05"/>
                                          </p:val>
                                        </p:tav>
                                        <p:tav tm="100000">
                                          <p:val>
                                            <p:strVal val="#ppt_y"/>
                                          </p:val>
                                        </p:tav>
                                      </p:tavLst>
                                    </p:anim>
                                  </p:childTnLst>
                                </p:cTn>
                              </p:par>
                              <p:par>
                                <p:cTn id="36" presetID="10" presetClass="entr" presetSubtype="0" fill="hold" nodeType="withEffect">
                                  <p:stCondLst>
                                    <p:cond delay="40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450"/>
                                        <p:tgtEl>
                                          <p:spTgt spid="10"/>
                                        </p:tgtEl>
                                      </p:cBhvr>
                                    </p:animEffect>
                                  </p:childTnLst>
                                </p:cTn>
                              </p:par>
                              <p:par>
                                <p:cTn id="39" presetID="10" presetClass="entr" presetSubtype="0" fill="hold" nodeType="withEffect">
                                  <p:stCondLst>
                                    <p:cond delay="40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450"/>
                                        <p:tgtEl>
                                          <p:spTgt spid="29"/>
                                        </p:tgtEl>
                                      </p:cBhvr>
                                    </p:animEffect>
                                  </p:childTnLst>
                                </p:cTn>
                              </p:par>
                              <p:par>
                                <p:cTn id="42" presetID="10" presetClass="entr" presetSubtype="0" fill="hold" nodeType="withEffect">
                                  <p:stCondLst>
                                    <p:cond delay="40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450"/>
                                        <p:tgtEl>
                                          <p:spTgt spid="30"/>
                                        </p:tgtEl>
                                      </p:cBhvr>
                                    </p:animEffect>
                                  </p:childTnLst>
                                </p:cTn>
                              </p:par>
                              <p:par>
                                <p:cTn id="45" presetID="10" presetClass="entr" presetSubtype="0" fill="hold" nodeType="withEffect">
                                  <p:stCondLst>
                                    <p:cond delay="50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450"/>
                                        <p:tgtEl>
                                          <p:spTgt spid="11"/>
                                        </p:tgtEl>
                                      </p:cBhvr>
                                    </p:animEffect>
                                  </p:childTnLst>
                                </p:cTn>
                              </p:par>
                              <p:par>
                                <p:cTn id="48" presetID="10" presetClass="entr" presetSubtype="0" fill="hold" nodeType="withEffect">
                                  <p:stCondLst>
                                    <p:cond delay="5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50"/>
                                        <p:tgtEl>
                                          <p:spTgt spid="12"/>
                                        </p:tgtEl>
                                      </p:cBhvr>
                                    </p:animEffect>
                                  </p:childTnLst>
                                </p:cTn>
                              </p:par>
                              <p:par>
                                <p:cTn id="51" presetID="10" presetClass="entr" presetSubtype="0" fill="hold" nodeType="withEffect">
                                  <p:stCondLst>
                                    <p:cond delay="50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450"/>
                                        <p:tgtEl>
                                          <p:spTgt spid="13"/>
                                        </p:tgtEl>
                                      </p:cBhvr>
                                    </p:animEffect>
                                  </p:childTnLst>
                                </p:cTn>
                              </p:par>
                              <p:par>
                                <p:cTn id="54" presetID="10" presetClass="entr" presetSubtype="0" fill="hold" nodeType="withEffect">
                                  <p:stCondLst>
                                    <p:cond delay="59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450"/>
                                        <p:tgtEl>
                                          <p:spTgt spid="14"/>
                                        </p:tgtEl>
                                      </p:cBhvr>
                                    </p:animEffect>
                                  </p:childTnLst>
                                </p:cTn>
                              </p:par>
                              <p:par>
                                <p:cTn id="57" presetID="10" presetClass="entr" presetSubtype="0" fill="hold" nodeType="withEffect">
                                  <p:stCondLst>
                                    <p:cond delay="59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450"/>
                                        <p:tgtEl>
                                          <p:spTgt spid="15"/>
                                        </p:tgtEl>
                                      </p:cBhvr>
                                    </p:animEffect>
                                  </p:childTnLst>
                                </p:cTn>
                              </p:par>
                              <p:par>
                                <p:cTn id="60" presetID="10" presetClass="entr" presetSubtype="0" fill="hold" nodeType="withEffect">
                                  <p:stCondLst>
                                    <p:cond delay="59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450"/>
                                        <p:tgtEl>
                                          <p:spTgt spid="16"/>
                                        </p:tgtEl>
                                      </p:cBhvr>
                                    </p:animEffect>
                                  </p:childTnLst>
                                </p:cTn>
                              </p:par>
                              <p:par>
                                <p:cTn id="63" presetID="10" presetClass="entr" presetSubtype="0" fill="hold" nodeType="withEffect">
                                  <p:stCondLst>
                                    <p:cond delay="68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450"/>
                                        <p:tgtEl>
                                          <p:spTgt spid="17"/>
                                        </p:tgtEl>
                                      </p:cBhvr>
                                    </p:animEffect>
                                  </p:childTnLst>
                                </p:cTn>
                              </p:par>
                              <p:par>
                                <p:cTn id="66" presetID="10" presetClass="entr" presetSubtype="0" fill="hold" nodeType="withEffect">
                                  <p:stCondLst>
                                    <p:cond delay="68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450"/>
                                        <p:tgtEl>
                                          <p:spTgt spid="18"/>
                                        </p:tgtEl>
                                      </p:cBhvr>
                                    </p:animEffect>
                                  </p:childTnLst>
                                </p:cTn>
                              </p:par>
                              <p:par>
                                <p:cTn id="69" presetID="10" presetClass="entr" presetSubtype="0" fill="hold" nodeType="withEffect">
                                  <p:stCondLst>
                                    <p:cond delay="680"/>
                                  </p:stCondLst>
                                  <p:childTnLst>
                                    <p:set>
                                      <p:cBhvr>
                                        <p:cTn id="67" dur="1" fill="hold">
                                          <p:stCondLst>
                                            <p:cond delay="0"/>
                                          </p:stCondLst>
                                        </p:cTn>
                                        <p:tgtEl>
                                          <p:spTgt spid="19"/>
                                        </p:tgtEl>
                                        <p:attrNameLst>
                                          <p:attrName>style.visibility</p:attrName>
                                        </p:attrNameLst>
                                      </p:cBhvr>
                                      <p:to>
                                        <p:strVal val="visible"/>
                                      </p:to>
                                    </p:set>
                                    <p:animEffect transition="in" filter="fade">
                                      <p:cBhvr>
                                        <p:cTn id="68" dur="450"/>
                                        <p:tgtEl>
                                          <p:spTgt spid="19"/>
                                        </p:tgtEl>
                                      </p:cBhvr>
                                    </p:animEffect>
                                  </p:childTnLst>
                                </p:cTn>
                              </p:par>
                              <p:par>
                                <p:cTn id="72" presetID="10" presetClass="entr" presetSubtype="0" fill="hold" nodeType="withEffect">
                                  <p:stCondLst>
                                    <p:cond delay="77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450"/>
                                        <p:tgtEl>
                                          <p:spTgt spid="20"/>
                                        </p:tgtEl>
                                      </p:cBhvr>
                                    </p:animEffect>
                                  </p:childTnLst>
                                </p:cTn>
                              </p:par>
                              <p:par>
                                <p:cTn id="75" presetID="10" presetClass="entr" presetSubtype="0" fill="hold" nodeType="withEffect">
                                  <p:stCondLst>
                                    <p:cond delay="77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450"/>
                                        <p:tgtEl>
                                          <p:spTgt spid="21"/>
                                        </p:tgtEl>
                                      </p:cBhvr>
                                    </p:animEffect>
                                  </p:childTnLst>
                                </p:cTn>
                              </p:par>
                              <p:par>
                                <p:cTn id="78" presetID="10" presetClass="entr" presetSubtype="0" fill="hold" nodeType="withEffect">
                                  <p:stCondLst>
                                    <p:cond delay="77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450"/>
                                        <p:tgtEl>
                                          <p:spTgt spid="22"/>
                                        </p:tgtEl>
                                      </p:cBhvr>
                                    </p:animEffect>
                                  </p:childTnLst>
                                </p:cTn>
                              </p:par>
                              <p:par>
                                <p:cTn id="81" presetID="10" presetClass="entr" presetSubtype="0" fill="hold" nodeType="withEffect">
                                  <p:stCondLst>
                                    <p:cond delay="860"/>
                                  </p:stCondLst>
                                  <p:childTnLst>
                                    <p:set>
                                      <p:cBhvr>
                                        <p:cTn id="79" dur="1" fill="hold">
                                          <p:stCondLst>
                                            <p:cond delay="0"/>
                                          </p:stCondLst>
                                        </p:cTn>
                                        <p:tgtEl>
                                          <p:spTgt spid="23"/>
                                        </p:tgtEl>
                                        <p:attrNameLst>
                                          <p:attrName>style.visibility</p:attrName>
                                        </p:attrNameLst>
                                      </p:cBhvr>
                                      <p:to>
                                        <p:strVal val="visible"/>
                                      </p:to>
                                    </p:set>
                                    <p:animEffect transition="in" filter="fade">
                                      <p:cBhvr>
                                        <p:cTn id="80" dur="450"/>
                                        <p:tgtEl>
                                          <p:spTgt spid="23"/>
                                        </p:tgtEl>
                                      </p:cBhvr>
                                    </p:animEffect>
                                  </p:childTnLst>
                                </p:cTn>
                              </p:par>
                              <p:par>
                                <p:cTn id="84" presetID="10" presetClass="entr" presetSubtype="0" fill="hold" nodeType="withEffect">
                                  <p:stCondLst>
                                    <p:cond delay="86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450"/>
                                        <p:tgtEl>
                                          <p:spTgt spid="24"/>
                                        </p:tgtEl>
                                      </p:cBhvr>
                                    </p:animEffect>
                                  </p:childTnLst>
                                </p:cTn>
                              </p:par>
                              <p:par>
                                <p:cTn id="87" presetID="10" presetClass="entr" presetSubtype="0" fill="hold" nodeType="withEffect">
                                  <p:stCondLst>
                                    <p:cond delay="860"/>
                                  </p:stCondLst>
                                  <p:childTnLst>
                                    <p:set>
                                      <p:cBhvr>
                                        <p:cTn id="85" dur="1" fill="hold">
                                          <p:stCondLst>
                                            <p:cond delay="0"/>
                                          </p:stCondLst>
                                        </p:cTn>
                                        <p:tgtEl>
                                          <p:spTgt spid="25"/>
                                        </p:tgtEl>
                                        <p:attrNameLst>
                                          <p:attrName>style.visibility</p:attrName>
                                        </p:attrNameLst>
                                      </p:cBhvr>
                                      <p:to>
                                        <p:strVal val="visible"/>
                                      </p:to>
                                    </p:set>
                                    <p:animEffect transition="in" filter="fade">
                                      <p:cBhvr>
                                        <p:cTn id="86" dur="450"/>
                                        <p:tgtEl>
                                          <p:spTgt spid="25"/>
                                        </p:tgtEl>
                                      </p:cBhvr>
                                    </p:animEffect>
                                  </p:childTnLst>
                                </p:cTn>
                              </p:par>
                              <p:par>
                                <p:cTn id="90" presetID="10" presetClass="entr" presetSubtype="0" fill="hold" nodeType="withEffect">
                                  <p:stCondLst>
                                    <p:cond delay="950"/>
                                  </p:stCondLst>
                                  <p:childTnLst>
                                    <p:set>
                                      <p:cBhvr>
                                        <p:cTn id="88" dur="1" fill="hold">
                                          <p:stCondLst>
                                            <p:cond delay="0"/>
                                          </p:stCondLst>
                                        </p:cTn>
                                        <p:tgtEl>
                                          <p:spTgt spid="26"/>
                                        </p:tgtEl>
                                        <p:attrNameLst>
                                          <p:attrName>style.visibility</p:attrName>
                                        </p:attrNameLst>
                                      </p:cBhvr>
                                      <p:to>
                                        <p:strVal val="visible"/>
                                      </p:to>
                                    </p:set>
                                    <p:animEffect transition="in" filter="fade">
                                      <p:cBhvr>
                                        <p:cTn id="89" dur="450"/>
                                        <p:tgtEl>
                                          <p:spTgt spid="26"/>
                                        </p:tgtEl>
                                      </p:cBhvr>
                                    </p:animEffect>
                                  </p:childTnLst>
                                </p:cTn>
                              </p:par>
                              <p:par>
                                <p:cTn id="93" presetID="10" presetClass="entr" presetSubtype="0" fill="hold" nodeType="withEffect">
                                  <p:stCondLst>
                                    <p:cond delay="950"/>
                                  </p:stCondLst>
                                  <p:childTnLst>
                                    <p:set>
                                      <p:cBhvr>
                                        <p:cTn id="91" dur="1" fill="hold">
                                          <p:stCondLst>
                                            <p:cond delay="0"/>
                                          </p:stCondLst>
                                        </p:cTn>
                                        <p:tgtEl>
                                          <p:spTgt spid="27"/>
                                        </p:tgtEl>
                                        <p:attrNameLst>
                                          <p:attrName>style.visibility</p:attrName>
                                        </p:attrNameLst>
                                      </p:cBhvr>
                                      <p:to>
                                        <p:strVal val="visible"/>
                                      </p:to>
                                    </p:set>
                                    <p:animEffect transition="in" filter="fade">
                                      <p:cBhvr>
                                        <p:cTn id="92" dur="450"/>
                                        <p:tgtEl>
                                          <p:spTgt spid="27"/>
                                        </p:tgtEl>
                                      </p:cBhvr>
                                    </p:animEffect>
                                  </p:childTnLst>
                                </p:cTn>
                              </p:par>
                              <p:par>
                                <p:cTn id="96" presetID="10" presetClass="entr" presetSubtype="0" fill="hold" nodeType="withEffect">
                                  <p:stCondLst>
                                    <p:cond delay="950"/>
                                  </p:stCondLst>
                                  <p:childTnLst>
                                    <p:set>
                                      <p:cBhvr>
                                        <p:cTn id="94" dur="1" fill="hold">
                                          <p:stCondLst>
                                            <p:cond delay="0"/>
                                          </p:stCondLst>
                                        </p:cTn>
                                        <p:tgtEl>
                                          <p:spTgt spid="28"/>
                                        </p:tgtEl>
                                        <p:attrNameLst>
                                          <p:attrName>style.visibility</p:attrName>
                                        </p:attrNameLst>
                                      </p:cBhvr>
                                      <p:to>
                                        <p:strVal val="visible"/>
                                      </p:to>
                                    </p:set>
                                    <p:animEffect transition="in" filter="fade">
                                      <p:cBhvr>
                                        <p:cTn id="95" dur="450"/>
                                        <p:tgtEl>
                                          <p:spTgt spid="28"/>
                                        </p:tgtEl>
                                      </p:cBhvr>
                                    </p:animEffect>
                                  </p:childTnLst>
                                </p:cTn>
                              </p:par>
                              <p:par>
                                <p:cTn id="99" presetID="10" presetClass="entr" presetSubtype="0" fill="hold" nodeType="withEffect">
                                  <p:stCondLst>
                                    <p:cond delay="1100"/>
                                  </p:stCondLst>
                                  <p:childTnLst>
                                    <p:set>
                                      <p:cBhvr>
                                        <p:cTn id="97" dur="1" fill="hold">
                                          <p:stCondLst>
                                            <p:cond delay="0"/>
                                          </p:stCondLst>
                                        </p:cTn>
                                        <p:tgtEl>
                                          <p:spTgt spid="31"/>
                                        </p:tgtEl>
                                        <p:attrNameLst>
                                          <p:attrName>style.visibility</p:attrName>
                                        </p:attrNameLst>
                                      </p:cBhvr>
                                      <p:to>
                                        <p:strVal val="visible"/>
                                      </p:to>
                                    </p:set>
                                    <p:animEffect transition="in" filter="fade">
                                      <p:cBhvr>
                                        <p:cTn id="98" dur="450"/>
                                        <p:tgtEl>
                                          <p:spTgt spid="31"/>
                                        </p:tgtEl>
                                      </p:cBhvr>
                                    </p:animEffect>
                                  </p:childTnLst>
                                </p:cTn>
                              </p:par>
                              <p:par>
                                <p:cTn id="103" presetID="10" presetClass="entr" presetSubtype="0" fill="hold" nodeType="withEffect">
                                  <p:stCondLst>
                                    <p:cond delay="1200"/>
                                  </p:stCondLst>
                                  <p:childTnLst>
                                    <p:set>
                                      <p:cBhvr>
                                        <p:cTn id="100" dur="1" fill="hold">
                                          <p:stCondLst>
                                            <p:cond delay="0"/>
                                          </p:stCondLst>
                                        </p:cTn>
                                        <p:tgtEl>
                                          <p:spTgt spid="32"/>
                                        </p:tgtEl>
                                        <p:attrNameLst>
                                          <p:attrName>style.visibility</p:attrName>
                                        </p:attrNameLst>
                                      </p:cBhvr>
                                      <p:to>
                                        <p:strVal val="visible"/>
                                      </p:to>
                                    </p:set>
                                    <p:animEffect transition="in" filter="fade">
                                      <p:cBhvr>
                                        <p:cTn id="101" dur="450"/>
                                        <p:tgtEl>
                                          <p:spTgt spid="32"/>
                                        </p:tgtEl>
                                      </p:cBhvr>
                                    </p:animEffect>
                                    <p:anim calcmode="lin" valueType="num">
                                      <p:cBhvr additive="base">
                                        <p:cTn id="102" dur="450" fill="hold"/>
                                        <p:tgtEl>
                                          <p:spTgt spid="32"/>
                                        </p:tgtEl>
                                        <p:attrNameLst>
                                          <p:attrName>ppt_y</p:attrName>
                                        </p:attrNameLst>
                                      </p:cBhvr>
                                      <p:tavLst>
                                        <p:tav tm="0">
                                          <p:val>
                                            <p:strVal val="#ppt_y+0.05"/>
                                          </p:val>
                                        </p:tav>
                                        <p:tav tm="100000">
                                          <p:val>
                                            <p:strVal val="#ppt_y"/>
                                          </p:val>
                                        </p:tav>
                                      </p:tavLst>
                                    </p:anim>
                                  </p:childTnLst>
                                </p:cTn>
                              </p:par>
                              <p:par>
                                <p:cTn id="107" presetID="10" presetClass="entr" presetSubtype="0" fill="hold" nodeType="withEffect">
                                  <p:stCondLst>
                                    <p:cond delay="1200"/>
                                  </p:stCondLst>
                                  <p:childTnLst>
                                    <p:set>
                                      <p:cBhvr>
                                        <p:cTn id="104" dur="1" fill="hold">
                                          <p:stCondLst>
                                            <p:cond delay="0"/>
                                          </p:stCondLst>
                                        </p:cTn>
                                        <p:tgtEl>
                                          <p:spTgt spid="33"/>
                                        </p:tgtEl>
                                        <p:attrNameLst>
                                          <p:attrName>style.visibility</p:attrName>
                                        </p:attrNameLst>
                                      </p:cBhvr>
                                      <p:to>
                                        <p:strVal val="visible"/>
                                      </p:to>
                                    </p:set>
                                    <p:animEffect transition="in" filter="fade">
                                      <p:cBhvr>
                                        <p:cTn id="105" dur="450"/>
                                        <p:tgtEl>
                                          <p:spTgt spid="33"/>
                                        </p:tgtEl>
                                      </p:cBhvr>
                                    </p:animEffect>
                                    <p:anim calcmode="lin" valueType="num">
                                      <p:cBhvr additive="base">
                                        <p:cTn id="106" dur="450" fill="hold"/>
                                        <p:tgtEl>
                                          <p:spTgt spid="33"/>
                                        </p:tgtEl>
                                        <p:attrNameLst>
                                          <p:attrName>ppt_y</p:attrName>
                                        </p:attrNameLst>
                                      </p:cBhvr>
                                      <p:tavLst>
                                        <p:tav tm="0">
                                          <p:val>
                                            <p:strVal val="#ppt_y+0.05"/>
                                          </p:val>
                                        </p:tav>
                                        <p:tav tm="100000">
                                          <p:val>
                                            <p:strVal val="#ppt_y"/>
                                          </p:val>
                                        </p:tav>
                                      </p:tavLst>
                                    </p:anim>
                                  </p:childTnLst>
                                </p:cTn>
                              </p:par>
                              <p:par>
                                <p:cTn id="111" presetID="10" presetClass="entr" presetSubtype="0" fill="hold" nodeType="withEffect">
                                  <p:stCondLst>
                                    <p:cond delay="1200"/>
                                  </p:stCondLst>
                                  <p:childTnLst>
                                    <p:set>
                                      <p:cBhvr>
                                        <p:cTn id="108" dur="1" fill="hold">
                                          <p:stCondLst>
                                            <p:cond delay="0"/>
                                          </p:stCondLst>
                                        </p:cTn>
                                        <p:tgtEl>
                                          <p:spTgt spid="34"/>
                                        </p:tgtEl>
                                        <p:attrNameLst>
                                          <p:attrName>style.visibility</p:attrName>
                                        </p:attrNameLst>
                                      </p:cBhvr>
                                      <p:to>
                                        <p:strVal val="visible"/>
                                      </p:to>
                                    </p:set>
                                    <p:animEffect transition="in" filter="fade">
                                      <p:cBhvr>
                                        <p:cTn id="109" dur="450"/>
                                        <p:tgtEl>
                                          <p:spTgt spid="34"/>
                                        </p:tgtEl>
                                      </p:cBhvr>
                                    </p:animEffect>
                                    <p:anim calcmode="lin" valueType="num">
                                      <p:cBhvr additive="base">
                                        <p:cTn id="110" dur="450" fill="hold"/>
                                        <p:tgtEl>
                                          <p:spTgt spid="34"/>
                                        </p:tgtEl>
                                        <p:attrNameLst>
                                          <p:attrName>ppt_y</p:attrName>
                                        </p:attrNameLst>
                                      </p:cBhvr>
                                      <p:tavLst>
                                        <p:tav tm="0">
                                          <p:val>
                                            <p:strVal val="#ppt_y+0.05"/>
                                          </p:val>
                                        </p:tav>
                                        <p:tav tm="100000">
                                          <p:val>
                                            <p:strVal val="#ppt_y"/>
                                          </p:val>
                                        </p:tav>
                                      </p:tavLst>
                                    </p:anim>
                                  </p:childTnLst>
                                </p:cTn>
                              </p:par>
                              <p:par>
                                <p:cTn id="115" presetID="10" presetClass="entr" presetSubtype="0" fill="hold" nodeType="withEffect">
                                  <p:stCondLst>
                                    <p:cond delay="1200"/>
                                  </p:stCondLst>
                                  <p:childTnLst>
                                    <p:set>
                                      <p:cBhvr>
                                        <p:cTn id="112" dur="1" fill="hold">
                                          <p:stCondLst>
                                            <p:cond delay="0"/>
                                          </p:stCondLst>
                                        </p:cTn>
                                        <p:tgtEl>
                                          <p:spTgt spid="35"/>
                                        </p:tgtEl>
                                        <p:attrNameLst>
                                          <p:attrName>style.visibility</p:attrName>
                                        </p:attrNameLst>
                                      </p:cBhvr>
                                      <p:to>
                                        <p:strVal val="visible"/>
                                      </p:to>
                                    </p:set>
                                    <p:animEffect transition="in" filter="fade">
                                      <p:cBhvr>
                                        <p:cTn id="113" dur="450"/>
                                        <p:tgtEl>
                                          <p:spTgt spid="35"/>
                                        </p:tgtEl>
                                      </p:cBhvr>
                                    </p:animEffect>
                                    <p:anim calcmode="lin" valueType="num">
                                      <p:cBhvr additive="base">
                                        <p:cTn id="114" dur="450" fill="hold"/>
                                        <p:tgtEl>
                                          <p:spTgt spid="35"/>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NUM"/>
          <p:cNvSpPr txBox="1"/>
          <p:nvPr/>
        </p:nvSpPr>
        <p:spPr>
          <a:xfrm>
            <a:off x="7498080" y="365760"/>
            <a:ext cx="4206240" cy="5669280"/>
          </a:xfrm>
          <a:prstGeom prst="rect">
            <a:avLst/>
          </a:prstGeom>
          <a:noFill/>
          <a:ln/>
        </p:spPr>
        <p:txBody>
          <a:bodyPr wrap="square" lIns="0" tIns="0" rIns="0" bIns="0" rtlCol="0" anchor="ctr"/>
          <a:lstStyle/>
          <a:p>
            <a:pPr algn="r" indent="0" marL="0">
              <a:buNone/>
            </a:pPr>
            <a:r>
              <a:rPr lang="en-US" sz="21000" b="1" dirty="0">
                <a:solidFill>
                  <a:srgbClr val="2F5B4D"/>
                </a:solidFill>
                <a:latin typeface="Cambria" pitchFamily="34" charset="0"/>
                <a:ea typeface="Cambria" pitchFamily="34" charset="-122"/>
                <a:cs typeface="Cambria" pitchFamily="34" charset="-120"/>
              </a:rPr>
              <a:t>01</a:t>
            </a:r>
            <a:endParaRPr lang="en-US" sz="21000" dirty="0"/>
          </a:p>
        </p:txBody>
      </p:sp>
      <p:sp>
        <p:nvSpPr>
          <p:cNvPr id="3" name="DK"/>
          <p:cNvSpPr txBox="1"/>
          <p:nvPr/>
        </p:nvSpPr>
        <p:spPr>
          <a:xfrm>
            <a:off x="822960" y="1874520"/>
            <a:ext cx="4572000" cy="365760"/>
          </a:xfrm>
          <a:prstGeom prst="rect">
            <a:avLst/>
          </a:prstGeom>
          <a:noFill/>
          <a:ln/>
        </p:spPr>
        <p:txBody>
          <a:bodyPr wrap="square" lIns="0" tIns="0" rIns="0" bIns="0" rtlCol="0" anchor="t"/>
          <a:lstStyle/>
          <a:p>
            <a:pPr indent="0" marL="0">
              <a:buNone/>
            </a:pPr>
            <a:r>
              <a:rPr lang="en-US" sz="1600" b="1" spc="500" kern="0" dirty="0">
                <a:solidFill>
                  <a:srgbClr val="E3A83A"/>
                </a:solidFill>
                <a:latin typeface="Calibri" pitchFamily="34" charset="0"/>
                <a:ea typeface="Calibri" pitchFamily="34" charset="-122"/>
                <a:cs typeface="Calibri" pitchFamily="34" charset="-120"/>
              </a:rPr>
              <a:t>SECTION 01</a:t>
            </a:r>
            <a:endParaRPr lang="en-US" sz="1600" dirty="0"/>
          </a:p>
        </p:txBody>
      </p:sp>
      <p:sp>
        <p:nvSpPr>
          <p:cNvPr id="4" name="DT"/>
          <p:cNvSpPr txBox="1"/>
          <p:nvPr/>
        </p:nvSpPr>
        <p:spPr>
          <a:xfrm>
            <a:off x="822960" y="2377440"/>
            <a:ext cx="6766560" cy="1737360"/>
          </a:xfrm>
          <a:prstGeom prst="rect">
            <a:avLst/>
          </a:prstGeom>
          <a:noFill/>
          <a:ln/>
        </p:spPr>
        <p:txBody>
          <a:bodyPr wrap="square" lIns="0" tIns="0" rIns="0" bIns="0" rtlCol="0" anchor="t"/>
          <a:lstStyle/>
          <a:p>
            <a:pPr indent="0" marL="0">
              <a:buNone/>
            </a:pPr>
            <a:r>
              <a:rPr lang="en-US" sz="4400" b="1" dirty="0">
                <a:solidFill>
                  <a:srgbClr val="F4EEE3"/>
                </a:solidFill>
                <a:latin typeface="Cambria" pitchFamily="34" charset="0"/>
                <a:ea typeface="Cambria" pitchFamily="34" charset="-122"/>
                <a:cs typeface="Cambria" pitchFamily="34" charset="-120"/>
              </a:rPr>
              <a:t>Problem Statement &amp; System Architecture</a:t>
            </a:r>
            <a:endParaRPr lang="en-US" sz="4400" dirty="0"/>
          </a:p>
        </p:txBody>
      </p:sp>
      <p:sp>
        <p:nvSpPr>
          <p:cNvPr id="5" name="DBAR"/>
          <p:cNvSpPr/>
          <p:nvPr/>
        </p:nvSpPr>
        <p:spPr>
          <a:xfrm>
            <a:off x="822960" y="4224528"/>
            <a:ext cx="1188720" cy="64008"/>
          </a:xfrm>
          <a:prstGeom prst="rect">
            <a:avLst/>
          </a:prstGeom>
          <a:solidFill>
            <a:srgbClr val="E3A83A"/>
          </a:solidFill>
          <a:ln w="12700">
            <a:solidFill>
              <a:srgbClr val="E3A83A"/>
            </a:solidFill>
            <a:prstDash val="solid"/>
          </a:ln>
        </p:spPr>
      </p:sp>
      <p:sp>
        <p:nvSpPr>
          <p:cNvPr id="6" name="DS"/>
          <p:cNvSpPr txBox="1"/>
          <p:nvPr/>
        </p:nvSpPr>
        <p:spPr>
          <a:xfrm>
            <a:off x="822960" y="4526280"/>
            <a:ext cx="7498080" cy="914400"/>
          </a:xfrm>
          <a:prstGeom prst="rect">
            <a:avLst/>
          </a:prstGeom>
          <a:noFill/>
          <a:ln/>
        </p:spPr>
        <p:txBody>
          <a:bodyPr wrap="square" lIns="0" tIns="0" rIns="0" bIns="0" rtlCol="0" anchor="t"/>
          <a:lstStyle/>
          <a:p>
            <a:pPr indent="0" marL="0">
              <a:buNone/>
            </a:pPr>
            <a:r>
              <a:rPr lang="en-US" sz="2100" dirty="0">
                <a:solidFill>
                  <a:srgbClr val="D9CDB8"/>
                </a:solidFill>
                <a:latin typeface="Calibri" pitchFamily="34" charset="0"/>
                <a:ea typeface="Calibri" pitchFamily="34" charset="-122"/>
                <a:cs typeface="Calibri" pitchFamily="34" charset="-120"/>
              </a:rPr>
              <a:t>The Physics of Inertial Compounding and the Drift-Sense Solution</a:t>
            </a:r>
            <a:endParaRPr lang="en-US" sz="2100" dirty="0"/>
          </a:p>
        </p:txBody>
      </p:sp>
      <p:sp>
        <p:nvSpPr>
          <p:cNvPr id="7" name="DF"/>
          <p:cNvSpPr txBox="1"/>
          <p:nvPr/>
        </p:nvSpPr>
        <p:spPr>
          <a:xfrm>
            <a:off x="822960" y="6400800"/>
            <a:ext cx="8229600" cy="256032"/>
          </a:xfrm>
          <a:prstGeom prst="rect">
            <a:avLst/>
          </a:prstGeom>
          <a:noFill/>
          <a:ln/>
        </p:spPr>
        <p:txBody>
          <a:bodyPr wrap="square" lIns="0" tIns="0" rIns="0" bIns="0" rtlCol="0" anchor="t"/>
          <a:lstStyle/>
          <a:p>
            <a:pPr indent="0" marL="0">
              <a:buNone/>
            </a:pPr>
            <a:r>
              <a:rPr lang="en-US" sz="1000" b="1" spc="200" kern="0" dirty="0">
                <a:solidFill>
                  <a:srgbClr val="9FB3A8"/>
                </a:solidFill>
                <a:latin typeface="Calibri" pitchFamily="34" charset="0"/>
                <a:ea typeface="Calibri" pitchFamily="34" charset="-122"/>
                <a:cs typeface="Calibri" pitchFamily="34" charset="-120"/>
              </a:rPr>
              <a:t>DRIFT-SENSE  •  AUTONOMOUS ROBOTICS &amp; FLIGHT TELEMETRY</a:t>
            </a:r>
            <a:endParaRPr lang="en-US" sz="1000" dirty="0"/>
          </a:p>
        </p:txBody>
      </p:sp>
      <p:sp>
        <p:nvSpPr>
          <p:cNvPr id="8" name="DP"/>
          <p:cNvSpPr txBox="1"/>
          <p:nvPr/>
        </p:nvSpPr>
        <p:spPr>
          <a:xfrm>
            <a:off x="10881360" y="6400800"/>
            <a:ext cx="758952" cy="256032"/>
          </a:xfrm>
          <a:prstGeom prst="rect">
            <a:avLst/>
          </a:prstGeom>
          <a:noFill/>
          <a:ln/>
        </p:spPr>
        <p:txBody>
          <a:bodyPr wrap="square" lIns="0" tIns="0" rIns="0" bIns="0" rtlCol="0" anchor="t"/>
          <a:lstStyle/>
          <a:p>
            <a:pPr algn="r" indent="0" marL="0">
              <a:buNone/>
            </a:pPr>
            <a:r>
              <a:rPr lang="en-US" sz="1100" b="1" dirty="0">
                <a:solidFill>
                  <a:srgbClr val="9FB3A8"/>
                </a:solidFill>
                <a:latin typeface="Calibri" pitchFamily="34" charset="0"/>
                <a:ea typeface="Calibri" pitchFamily="34" charset="-122"/>
                <a:cs typeface="Calibri" pitchFamily="34" charset="-120"/>
              </a:rPr>
              <a:t>02</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900">
        <p14:doors dir="ver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21" fill="hold">
                            <p:stCondLst>
                              <p:cond delay="0"/>
                            </p:stCondLst>
                            <p:childTnLst>
                              <p:par>
                                <p:cTn id="6" presetID="10" presetClass="entr" presetSubtype="0" fill="hold" nodeType="withEffect">
                                  <p:stCondLst>
                                    <p:cond delay="15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700"/>
                                        <p:tgtEl>
                                          <p:spTgt spid="2"/>
                                        </p:tgtEl>
                                      </p:cBhvr>
                                    </p:animEffect>
                                  </p:childTnLst>
                                </p:cTn>
                              </p:par>
                              <p:par>
                                <p:cTn id="9" presetID="10" presetClass="entr" presetSubtype="0" fill="hold" nodeType="withEffect">
                                  <p:stCondLst>
                                    <p:cond delay="30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13" presetID="10" presetClass="entr" presetSubtype="0" fill="hold" nodeType="withEffect">
                                  <p:stCondLst>
                                    <p:cond delay="42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anim calcmode="lin" valueType="num">
                                      <p:cBhvr additive="base">
                                        <p:cTn id="12" dur="450" fill="hold"/>
                                        <p:tgtEl>
                                          <p:spTgt spid="4"/>
                                        </p:tgtEl>
                                        <p:attrNameLst>
                                          <p:attrName>ppt_y</p:attrName>
                                        </p:attrNameLst>
                                      </p:cBhvr>
                                      <p:tavLst>
                                        <p:tav tm="0">
                                          <p:val>
                                            <p:strVal val="#ppt_y+0.05"/>
                                          </p:val>
                                        </p:tav>
                                        <p:tav tm="100000">
                                          <p:val>
                                            <p:strVal val="#ppt_y"/>
                                          </p:val>
                                        </p:tav>
                                      </p:tavLst>
                                    </p:anim>
                                  </p:childTnLst>
                                </p:cTn>
                              </p:par>
                              <p:par>
                                <p:cTn id="16" presetID="22" presetClass="entr" presetSubtype="8" fill="hold" nodeType="withEffect">
                                  <p:stCondLst>
                                    <p:cond delay="70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450"/>
                                        <p:tgtEl>
                                          <p:spTgt spid="5"/>
                                        </p:tgtEl>
                                      </p:cBhvr>
                                    </p:animEffect>
                                  </p:childTnLst>
                                </p:cTn>
                              </p:par>
                              <p:par>
                                <p:cTn id="20" presetID="10" presetClass="entr" presetSubtype="0" fill="hold" nodeType="withEffect">
                                  <p:stCondLst>
                                    <p:cond delay="85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50"/>
                                        <p:tgtEl>
                                          <p:spTgt spid="6"/>
                                        </p:tgtEl>
                                      </p:cBhvr>
                                    </p:animEffect>
                                    <p:anim calcmode="lin" valueType="num">
                                      <p:cBhvr additive="base">
                                        <p:cTn id="19" dur="450" fill="hold"/>
                                        <p:tgtEl>
                                          <p:spTgt spid="6"/>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2"/>
          <p:cNvSpPr txBox="1"/>
          <p:nvPr/>
        </p:nvSpPr>
        <p:spPr>
          <a:xfrm>
            <a:off x="548640" y="310896"/>
            <a:ext cx="9144000" cy="256032"/>
          </a:xfrm>
          <a:prstGeom prst="rect">
            <a:avLst/>
          </a:prstGeom>
          <a:noFill/>
          <a:ln/>
        </p:spPr>
        <p:txBody>
          <a:bodyPr wrap="square" lIns="0" tIns="0" rIns="0" bIns="0" rtlCol="0" anchor="t"/>
          <a:lstStyle/>
          <a:p>
            <a:pPr indent="0" marL="0">
              <a:buNone/>
            </a:pPr>
            <a:r>
              <a:rPr lang="en-US" sz="1150" b="1" spc="250" kern="0" dirty="0">
                <a:solidFill>
                  <a:srgbClr val="B8512F"/>
                </a:solidFill>
                <a:latin typeface="Calibri" pitchFamily="34" charset="0"/>
                <a:ea typeface="Calibri" pitchFamily="34" charset="-122"/>
                <a:cs typeface="Calibri" pitchFamily="34" charset="-120"/>
              </a:rPr>
              <a:t>SECTION 01 • PROBLEM STATEMENT &amp; MOTIVATION</a:t>
            </a:r>
            <a:endParaRPr lang="en-US" sz="1150" dirty="0"/>
          </a:p>
        </p:txBody>
      </p:sp>
      <p:sp>
        <p:nvSpPr>
          <p:cNvPr id="3" name="TTL2"/>
          <p:cNvSpPr txBox="1"/>
          <p:nvPr/>
        </p:nvSpPr>
        <p:spPr>
          <a:xfrm>
            <a:off x="548640" y="603504"/>
            <a:ext cx="11091672" cy="658368"/>
          </a:xfrm>
          <a:prstGeom prst="rect">
            <a:avLst/>
          </a:prstGeom>
          <a:noFill/>
          <a:ln/>
        </p:spPr>
        <p:txBody>
          <a:bodyPr wrap="square" lIns="0" tIns="0" rIns="0" bIns="0" rtlCol="0" anchor="ctr"/>
          <a:lstStyle/>
          <a:p>
            <a:pPr indent="0" marL="0">
              <a:buNone/>
            </a:pPr>
            <a:r>
              <a:rPr lang="en-US" sz="2700" b="1" dirty="0">
                <a:solidFill>
                  <a:srgbClr val="26221E"/>
                </a:solidFill>
                <a:latin typeface="Cambria" pitchFamily="34" charset="0"/>
                <a:ea typeface="Cambria" pitchFamily="34" charset="-122"/>
                <a:cs typeface="Cambria" pitchFamily="34" charset="-120"/>
              </a:rPr>
              <a:t>The Dead-Reckoning Crisis: Quadratic Compounding (∫∫ a dt²)</a:t>
            </a:r>
            <a:endParaRPr lang="en-US" sz="2700" dirty="0"/>
          </a:p>
        </p:txBody>
      </p:sp>
      <p:sp>
        <p:nvSpPr>
          <p:cNvPr id="4" name="PG2"/>
          <p:cNvSpPr txBox="1"/>
          <p:nvPr/>
        </p:nvSpPr>
        <p:spPr>
          <a:xfrm>
            <a:off x="10881360" y="6473952"/>
            <a:ext cx="758952" cy="228600"/>
          </a:xfrm>
          <a:prstGeom prst="rect">
            <a:avLst/>
          </a:prstGeom>
          <a:noFill/>
          <a:ln/>
        </p:spPr>
        <p:txBody>
          <a:bodyPr wrap="square" lIns="0" tIns="0" rIns="0" bIns="0" rtlCol="0" anchor="t"/>
          <a:lstStyle/>
          <a:p>
            <a:pPr algn="r" indent="0" marL="0">
              <a:buNone/>
            </a:pPr>
            <a:r>
              <a:rPr lang="en-US" sz="1100" b="1" dirty="0">
                <a:solidFill>
                  <a:srgbClr val="6F675C"/>
                </a:solidFill>
                <a:latin typeface="Calibri" pitchFamily="34" charset="0"/>
                <a:ea typeface="Calibri" pitchFamily="34" charset="-122"/>
                <a:cs typeface="Calibri" pitchFamily="34" charset="-120"/>
              </a:rPr>
              <a:t>03</a:t>
            </a:r>
            <a:endParaRPr lang="en-US" sz="1100" dirty="0"/>
          </a:p>
        </p:txBody>
      </p:sp>
      <p:sp>
        <p:nvSpPr>
          <p:cNvPr id="5" name="RULE2"/>
          <p:cNvSpPr/>
          <p:nvPr/>
        </p:nvSpPr>
        <p:spPr>
          <a:xfrm>
            <a:off x="548640" y="1280160"/>
            <a:ext cx="822960" cy="41148"/>
          </a:xfrm>
          <a:prstGeom prst="rect">
            <a:avLst/>
          </a:prstGeom>
          <a:solidFill>
            <a:srgbClr val="B8512F"/>
          </a:solidFill>
          <a:ln w="12700">
            <a:solidFill>
              <a:srgbClr val="B8512F"/>
            </a:solidFill>
            <a:prstDash val="solid"/>
          </a:ln>
        </p:spPr>
      </p:sp>
      <p:sp>
        <p:nvSpPr>
          <p:cNvPr id="6" name="C2_12"/>
          <p:cNvSpPr/>
          <p:nvPr/>
        </p:nvSpPr>
        <p:spPr>
          <a:xfrm>
            <a:off x="548640" y="1554480"/>
            <a:ext cx="5468112" cy="4663440"/>
          </a:xfrm>
          <a:prstGeom prst="roundRect">
            <a:avLst>
              <a:gd name="adj" fmla="val 1373"/>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7" name="C2_12_a"/>
          <p:cNvSpPr/>
          <p:nvPr/>
        </p:nvSpPr>
        <p:spPr>
          <a:xfrm>
            <a:off x="548640" y="1700784"/>
            <a:ext cx="64008" cy="4370832"/>
          </a:xfrm>
          <a:prstGeom prst="rect">
            <a:avLst/>
          </a:prstGeom>
          <a:solidFill>
            <a:srgbClr val="B8512F"/>
          </a:solidFill>
          <a:ln w="12700">
            <a:solidFill>
              <a:srgbClr val="B8512F"/>
            </a:solidFill>
            <a:prstDash val="solid"/>
          </a:ln>
        </p:spPr>
      </p:sp>
      <p:sp>
        <p:nvSpPr>
          <p:cNvPr id="8" name="C2_12_h"/>
          <p:cNvSpPr txBox="1"/>
          <p:nvPr/>
        </p:nvSpPr>
        <p:spPr>
          <a:xfrm>
            <a:off x="822960" y="1737360"/>
            <a:ext cx="5010912" cy="292608"/>
          </a:xfrm>
          <a:prstGeom prst="rect">
            <a:avLst/>
          </a:prstGeom>
          <a:noFill/>
          <a:ln/>
        </p:spPr>
        <p:txBody>
          <a:bodyPr wrap="square" lIns="0" tIns="0" rIns="0" bIns="0" rtlCol="0" anchor="t"/>
          <a:lstStyle/>
          <a:p>
            <a:pPr indent="0" marL="0">
              <a:buNone/>
            </a:pPr>
            <a:r>
              <a:rPr lang="en-US" sz="1250" b="1" spc="150" kern="0" dirty="0">
                <a:solidFill>
                  <a:srgbClr val="B8512F"/>
                </a:solidFill>
                <a:latin typeface="Calibri" pitchFamily="34" charset="0"/>
                <a:ea typeface="Calibri" pitchFamily="34" charset="-122"/>
                <a:cs typeface="Calibri" pitchFamily="34" charset="-120"/>
              </a:rPr>
              <a:t>THE REAL-WORLD ENGINEERING FAILURE</a:t>
            </a:r>
            <a:endParaRPr lang="en-US" sz="1250" dirty="0"/>
          </a:p>
        </p:txBody>
      </p:sp>
      <p:sp>
        <p:nvSpPr>
          <p:cNvPr id="9" name="C2_12_b"/>
          <p:cNvSpPr txBox="1"/>
          <p:nvPr/>
        </p:nvSpPr>
        <p:spPr>
          <a:xfrm>
            <a:off x="822960" y="2121408"/>
            <a:ext cx="5010912" cy="3986784"/>
          </a:xfrm>
          <a:prstGeom prst="rect">
            <a:avLst/>
          </a:prstGeom>
          <a:noFill/>
          <a:ln/>
        </p:spPr>
        <p:txBody>
          <a:bodyPr wrap="square" lIns="0" tIns="0" rIns="0" bIns="0" rtlCol="0" anchor="t"/>
          <a:lstStyle/>
          <a:p>
            <a:pPr indent="0" marL="0">
              <a:lnSpc>
                <a:spcPct val="105000"/>
              </a:lnSpc>
              <a:spcAft>
                <a:spcPts val="1300"/>
              </a:spcAft>
              <a:buNone/>
            </a:pPr>
            <a:r>
              <a:rPr lang="en-US" sz="1750" b="1" dirty="0">
                <a:solidFill>
                  <a:srgbClr val="26221E"/>
                </a:solidFill>
                <a:latin typeface="Calibri" pitchFamily="34" charset="0"/>
                <a:ea typeface="Calibri" pitchFamily="34" charset="-122"/>
                <a:cs typeface="Calibri" pitchFamily="34" charset="-120"/>
              </a:rPr>
              <a:t>How drones navigate: </a:t>
            </a:r>
            <a:pPr indent="0" marL="0">
              <a:lnSpc>
                <a:spcPct val="105000"/>
              </a:lnSpc>
              <a:spcAft>
                <a:spcPts val="1300"/>
              </a:spcAft>
              <a:buNone/>
            </a:pPr>
            <a:r>
              <a:rPr lang="en-US" sz="1750" dirty="0">
                <a:solidFill>
                  <a:srgbClr val="26221E"/>
                </a:solidFill>
                <a:latin typeface="Calibri" pitchFamily="34" charset="0"/>
                <a:ea typeface="Calibri" pitchFamily="34" charset="-122"/>
                <a:cs typeface="Calibri" pitchFamily="34" charset="-120"/>
              </a:rPr>
              <a:t>Micro Aerial Vehicles rely on Visual-Inertial Odometry (VIO), but visual tracking fails in darkness, smoke, aggressive turns, or textureless corridors.</a:t>
            </a:r>
            <a:endParaRPr lang="en-US" sz="1750" dirty="0"/>
          </a:p>
          <a:p>
            <a:pPr indent="0" marL="0">
              <a:lnSpc>
                <a:spcPct val="105000"/>
              </a:lnSpc>
              <a:spcAft>
                <a:spcPts val="1300"/>
              </a:spcAft>
              <a:buNone/>
            </a:pPr>
            <a:r>
              <a:rPr lang="en-US" sz="1750" b="1" dirty="0">
                <a:solidFill>
                  <a:srgbClr val="26221E"/>
                </a:solidFill>
                <a:latin typeface="Calibri" pitchFamily="34" charset="0"/>
                <a:ea typeface="Calibri" pitchFamily="34" charset="-122"/>
                <a:cs typeface="Calibri" pitchFamily="34" charset="-120"/>
              </a:rPr>
              <a:t>Dead-reckoning fallback:</a:t>
            </a:r>
            <a:pPr indent="0" marL="0">
              <a:lnSpc>
                <a:spcPct val="105000"/>
              </a:lnSpc>
              <a:spcAft>
                <a:spcPts val="1300"/>
              </a:spcAft>
              <a:buNone/>
            </a:pPr>
            <a:r>
              <a:rPr lang="en-US" sz="1750" dirty="0">
                <a:solidFill>
                  <a:srgbClr val="26221E"/>
                </a:solidFill>
                <a:latin typeface="Calibri" pitchFamily="34" charset="0"/>
                <a:ea typeface="Calibri" pitchFamily="34" charset="-122"/>
                <a:cs typeface="Calibri" pitchFamily="34" charset="-120"/>
              </a:rPr>
              <a:t> when cameras fail, the drone adds up accelerometer and gyroscope readings 200 times per second.</a:t>
            </a:r>
            <a:endParaRPr lang="en-US" sz="1750" dirty="0"/>
          </a:p>
          <a:p>
            <a:pPr indent="0" marL="0">
              <a:lnSpc>
                <a:spcPct val="105000"/>
              </a:lnSpc>
              <a:spcAft>
                <a:spcPts val="1300"/>
              </a:spcAft>
              <a:buNone/>
            </a:pPr>
            <a:r>
              <a:rPr lang="en-US" sz="1750" b="1" dirty="0">
                <a:solidFill>
                  <a:srgbClr val="26221E"/>
                </a:solidFill>
                <a:latin typeface="Calibri" pitchFamily="34" charset="0"/>
                <a:ea typeface="Calibri" pitchFamily="34" charset="-122"/>
                <a:cs typeface="Calibri" pitchFamily="34" charset="-120"/>
              </a:rPr>
              <a:t>Pedometer analogy:</a:t>
            </a:r>
            <a:pPr indent="0" marL="0">
              <a:lnSpc>
                <a:spcPct val="105000"/>
              </a:lnSpc>
              <a:spcAft>
                <a:spcPts val="1300"/>
              </a:spcAft>
              <a:buNone/>
            </a:pPr>
            <a:r>
              <a:rPr lang="en-US" sz="1750" dirty="0">
                <a:solidFill>
                  <a:srgbClr val="26221E"/>
                </a:solidFill>
                <a:latin typeface="Calibri" pitchFamily="34" charset="0"/>
                <a:ea typeface="Calibri" pitchFamily="34" charset="-122"/>
                <a:cs typeface="Calibri" pitchFamily="34" charset="-120"/>
              </a:rPr>
              <a:t> a half-inch mistake per step can miss a target by 3 feet after 50 steps.</a:t>
            </a:r>
            <a:endParaRPr lang="en-US" sz="1750" dirty="0"/>
          </a:p>
          <a:p>
            <a:pPr indent="0" marL="0">
              <a:lnSpc>
                <a:spcPct val="105000"/>
              </a:lnSpc>
              <a:spcAft>
                <a:spcPts val="1300"/>
              </a:spcAft>
              <a:buNone/>
            </a:pPr>
            <a:r>
              <a:rPr lang="en-US" sz="1750" b="1" dirty="0">
                <a:solidFill>
                  <a:srgbClr val="26221E"/>
                </a:solidFill>
                <a:latin typeface="Calibri" pitchFamily="34" charset="0"/>
                <a:ea typeface="Calibri" pitchFamily="34" charset="-122"/>
                <a:cs typeface="Calibri" pitchFamily="34" charset="-120"/>
              </a:rPr>
              <a:t>Quadratic curse: </a:t>
            </a:r>
            <a:pPr indent="0" marL="0">
              <a:lnSpc>
                <a:spcPct val="105000"/>
              </a:lnSpc>
              <a:spcAft>
                <a:spcPts val="1300"/>
              </a:spcAft>
              <a:buNone/>
            </a:pPr>
            <a:r>
              <a:rPr lang="en-US" sz="1750" dirty="0">
                <a:solidFill>
                  <a:srgbClr val="26221E"/>
                </a:solidFill>
                <a:latin typeface="Calibri" pitchFamily="34" charset="0"/>
                <a:ea typeface="Calibri" pitchFamily="34" charset="-122"/>
                <a:cs typeface="Calibri" pitchFamily="34" charset="-120"/>
              </a:rPr>
              <a:t>position is the double integral of acceleration. A 0.05 m/s² sensor offset can compound into metres of error within seconds.</a:t>
            </a:r>
            <a:endParaRPr lang="en-US" sz="1750" dirty="0"/>
          </a:p>
        </p:txBody>
      </p:sp>
      <p:sp>
        <p:nvSpPr>
          <p:cNvPr id="10" name="C2_18"/>
          <p:cNvSpPr/>
          <p:nvPr/>
        </p:nvSpPr>
        <p:spPr>
          <a:xfrm>
            <a:off x="6172200" y="1554480"/>
            <a:ext cx="5468112" cy="4663440"/>
          </a:xfrm>
          <a:prstGeom prst="roundRect">
            <a:avLst>
              <a:gd name="adj" fmla="val 1373"/>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11" name="C2_18_a"/>
          <p:cNvSpPr/>
          <p:nvPr/>
        </p:nvSpPr>
        <p:spPr>
          <a:xfrm>
            <a:off x="6172200" y="1700784"/>
            <a:ext cx="64008" cy="4370832"/>
          </a:xfrm>
          <a:prstGeom prst="rect">
            <a:avLst/>
          </a:prstGeom>
          <a:solidFill>
            <a:srgbClr val="2E5A4C"/>
          </a:solidFill>
          <a:ln w="12700">
            <a:solidFill>
              <a:srgbClr val="2E5A4C"/>
            </a:solidFill>
            <a:prstDash val="solid"/>
          </a:ln>
        </p:spPr>
      </p:sp>
      <p:sp>
        <p:nvSpPr>
          <p:cNvPr id="12" name="C2_18_h"/>
          <p:cNvSpPr txBox="1"/>
          <p:nvPr/>
        </p:nvSpPr>
        <p:spPr>
          <a:xfrm>
            <a:off x="6446520" y="1737360"/>
            <a:ext cx="5010912" cy="292608"/>
          </a:xfrm>
          <a:prstGeom prst="rect">
            <a:avLst/>
          </a:prstGeom>
          <a:noFill/>
          <a:ln/>
        </p:spPr>
        <p:txBody>
          <a:bodyPr wrap="square" lIns="0" tIns="0" rIns="0" bIns="0" rtlCol="0" anchor="t"/>
          <a:lstStyle/>
          <a:p>
            <a:pPr indent="0" marL="0">
              <a:buNone/>
            </a:pPr>
            <a:r>
              <a:rPr lang="en-US" sz="1250" b="1" spc="150" kern="0" dirty="0">
                <a:solidFill>
                  <a:srgbClr val="2E5A4C"/>
                </a:solidFill>
                <a:latin typeface="Calibri" pitchFamily="34" charset="0"/>
                <a:ea typeface="Calibri" pitchFamily="34" charset="-122"/>
                <a:cs typeface="Calibri" pitchFamily="34" charset="-120"/>
              </a:rPr>
              <a:t>WHAT DRIFT-SENSE DEALS WITH &amp; SOLVES</a:t>
            </a:r>
            <a:endParaRPr lang="en-US" sz="1250" dirty="0"/>
          </a:p>
        </p:txBody>
      </p:sp>
      <p:sp>
        <p:nvSpPr>
          <p:cNvPr id="13" name="C2_18_b"/>
          <p:cNvSpPr txBox="1"/>
          <p:nvPr/>
        </p:nvSpPr>
        <p:spPr>
          <a:xfrm>
            <a:off x="6446520" y="2121408"/>
            <a:ext cx="5010912" cy="3986784"/>
          </a:xfrm>
          <a:prstGeom prst="rect">
            <a:avLst/>
          </a:prstGeom>
          <a:noFill/>
          <a:ln/>
        </p:spPr>
        <p:txBody>
          <a:bodyPr wrap="square" lIns="0" tIns="0" rIns="0" bIns="0" rtlCol="0" anchor="t"/>
          <a:lstStyle/>
          <a:p>
            <a:pPr indent="0" marL="0">
              <a:lnSpc>
                <a:spcPct val="105000"/>
              </a:lnSpc>
              <a:spcAft>
                <a:spcPts val="1300"/>
              </a:spcAft>
              <a:buNone/>
            </a:pPr>
            <a:r>
              <a:rPr lang="en-US" sz="1750" b="1" dirty="0">
                <a:solidFill>
                  <a:srgbClr val="26221E"/>
                </a:solidFill>
                <a:latin typeface="Calibri" pitchFamily="34" charset="0"/>
                <a:ea typeface="Calibri" pitchFamily="34" charset="-122"/>
                <a:cs typeface="Calibri" pitchFamily="34" charset="-120"/>
              </a:rPr>
              <a:t>Input: </a:t>
            </a:r>
            <a:pPr indent="0" marL="0">
              <a:lnSpc>
                <a:spcPct val="105000"/>
              </a:lnSpc>
              <a:spcAft>
                <a:spcPts val="1300"/>
              </a:spcAft>
              <a:buNone/>
            </a:pPr>
            <a:r>
              <a:rPr lang="en-US" sz="1750" dirty="0">
                <a:solidFill>
                  <a:srgbClr val="26221E"/>
                </a:solidFill>
                <a:latin typeface="Calibri" pitchFamily="34" charset="0"/>
                <a:ea typeface="Calibri" pitchFamily="34" charset="-122"/>
                <a:cs typeface="Calibri" pitchFamily="34" charset="-120"/>
              </a:rPr>
              <a:t>short 2.0-second slices of raw, noisy 6-axis IMU readings without camera images.</a:t>
            </a:r>
            <a:endParaRPr lang="en-US" sz="1750" dirty="0"/>
          </a:p>
          <a:p>
            <a:pPr indent="0" marL="0">
              <a:lnSpc>
                <a:spcPct val="105000"/>
              </a:lnSpc>
              <a:spcAft>
                <a:spcPts val="1300"/>
              </a:spcAft>
              <a:buNone/>
            </a:pPr>
            <a:r>
              <a:rPr lang="en-US" sz="1750" b="1" dirty="0">
                <a:solidFill>
                  <a:srgbClr val="26221E"/>
                </a:solidFill>
                <a:latin typeface="Calibri" pitchFamily="34" charset="0"/>
                <a:ea typeface="Calibri" pitchFamily="34" charset="-122"/>
                <a:cs typeface="Calibri" pitchFamily="34" charset="-120"/>
              </a:rPr>
              <a:t>Goal: </a:t>
            </a:r>
            <a:pPr indent="0" marL="0">
              <a:lnSpc>
                <a:spcPct val="105000"/>
              </a:lnSpc>
              <a:spcAft>
                <a:spcPts val="1300"/>
              </a:spcAft>
              <a:buNone/>
            </a:pPr>
            <a:r>
              <a:rPr lang="en-US" sz="1750" dirty="0">
                <a:solidFill>
                  <a:srgbClr val="26221E"/>
                </a:solidFill>
                <a:latin typeface="Calibri" pitchFamily="34" charset="0"/>
                <a:ea typeface="Calibri" pitchFamily="34" charset="-122"/>
                <a:cs typeface="Calibri" pitchFamily="34" charset="-120"/>
              </a:rPr>
              <a:t>supervised ML predicts accumulated position drift magnitude (err_mag_m) from motion patterns.</a:t>
            </a:r>
            <a:endParaRPr lang="en-US" sz="1750" dirty="0"/>
          </a:p>
          <a:p>
            <a:pPr indent="0" marL="0">
              <a:lnSpc>
                <a:spcPct val="105000"/>
              </a:lnSpc>
              <a:spcAft>
                <a:spcPts val="1300"/>
              </a:spcAft>
              <a:buNone/>
            </a:pPr>
            <a:r>
              <a:rPr lang="en-US" sz="1750" b="1" dirty="0">
                <a:solidFill>
                  <a:srgbClr val="26221E"/>
                </a:solidFill>
                <a:latin typeface="Calibri" pitchFamily="34" charset="0"/>
                <a:ea typeface="Calibri" pitchFamily="34" charset="-122"/>
                <a:cs typeface="Calibri" pitchFamily="34" charset="-120"/>
              </a:rPr>
              <a:t>Operational impact:</a:t>
            </a:r>
            <a:endParaRPr lang="en-US" sz="1750" dirty="0"/>
          </a:p>
          <a:p>
            <a:pPr indent="0" marL="0">
              <a:lnSpc>
                <a:spcPct val="105000"/>
              </a:lnSpc>
              <a:spcAft>
                <a:spcPts val="1300"/>
              </a:spcAft>
              <a:buNone/>
            </a:pPr>
            <a:r>
              <a:rPr lang="en-US" sz="1750" dirty="0">
                <a:solidFill>
                  <a:srgbClr val="26221E"/>
                </a:solidFill>
                <a:latin typeface="Calibri" pitchFamily="34" charset="0"/>
                <a:ea typeface="Calibri" pitchFamily="34" charset="-122"/>
                <a:cs typeface="Calibri" pitchFamily="34" charset="-120"/>
              </a:rPr>
              <a:t>• Real-time uncertainty: estimate error before an accident.</a:t>
            </a:r>
            <a:endParaRPr lang="en-US" sz="1750" dirty="0"/>
          </a:p>
          <a:p>
            <a:pPr indent="0" marL="0">
              <a:lnSpc>
                <a:spcPct val="105000"/>
              </a:lnSpc>
              <a:spcAft>
                <a:spcPts val="1300"/>
              </a:spcAft>
              <a:buNone/>
            </a:pPr>
            <a:r>
              <a:rPr lang="en-US" sz="1750" dirty="0">
                <a:solidFill>
                  <a:srgbClr val="26221E"/>
                </a:solidFill>
                <a:latin typeface="Calibri" pitchFamily="34" charset="0"/>
                <a:ea typeface="Calibri" pitchFamily="34" charset="-122"/>
                <a:cs typeface="Calibri" pitchFamily="34" charset="-120"/>
              </a:rPr>
              <a:t>• Trajectory correction: subtract predicted drift vectors.</a:t>
            </a:r>
            <a:endParaRPr lang="en-US" sz="1750" dirty="0"/>
          </a:p>
          <a:p>
            <a:pPr indent="0" marL="0">
              <a:lnSpc>
                <a:spcPct val="105000"/>
              </a:lnSpc>
              <a:spcAft>
                <a:spcPts val="1300"/>
              </a:spcAft>
              <a:buNone/>
            </a:pPr>
            <a:r>
              <a:rPr lang="en-US" sz="1750" dirty="0">
                <a:solidFill>
                  <a:srgbClr val="26221E"/>
                </a:solidFill>
                <a:latin typeface="Calibri" pitchFamily="34" charset="0"/>
                <a:ea typeface="Calibri" pitchFamily="34" charset="-122"/>
                <a:cs typeface="Calibri" pitchFamily="34" charset="-120"/>
              </a:rPr>
              <a:t>• Failsafe trigger: hover when drift exceeds safety limits.</a:t>
            </a:r>
            <a:endParaRPr lang="en-US" sz="1750" dirty="0"/>
          </a:p>
        </p:txBody>
      </p:sp>
    </p:spTree>
  </p:cSld>
  <p:clrMapOvr>
    <a:masterClrMapping/>
  </p:clrMapOvr>
  <mc:AlternateContent xmlns:mc="http://schemas.openxmlformats.org/markup-compatibility/2006">
    <mc:Choice xmlns:p14="http://schemas.microsoft.com/office/powerpoint/2010/main" Requires="p14">
      <p:transition spd="slow" p14:dur="900">
        <p14:pan dir="r"/>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6" fill="hold">
                            <p:stCondLst>
                              <p:cond delay="0"/>
                            </p:stCondLst>
                            <p:childTnLst>
                              <p:par>
                                <p:cTn id="6" presetID="10" presetClass="entr" presetSubtype="0" fill="hold" nodeType="withEffect">
                                  <p:stCondLst>
                                    <p:cond delay="8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10" presetID="10" presetClass="entr" presetSubtype="0" fill="hold" nodeType="withEffect">
                                  <p:stCondLst>
                                    <p:cond delay="12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anim calcmode="lin" valueType="num">
                                      <p:cBhvr additive="base">
                                        <p:cTn id="9" dur="450" fill="hold"/>
                                        <p:tgtEl>
                                          <p:spTgt spid="3"/>
                                        </p:tgtEl>
                                        <p:attrNameLst>
                                          <p:attrName>ppt_y</p:attrName>
                                        </p:attrNameLst>
                                      </p:cBhvr>
                                      <p:tavLst>
                                        <p:tav tm="0">
                                          <p:val>
                                            <p:strVal val="#ppt_y+0.05"/>
                                          </p:val>
                                        </p:tav>
                                        <p:tav tm="100000">
                                          <p:val>
                                            <p:strVal val="#ppt_y"/>
                                          </p:val>
                                        </p:tav>
                                      </p:tavLst>
                                    </p:anim>
                                  </p:childTnLst>
                                </p:cTn>
                              </p:par>
                              <p:par>
                                <p:cTn id="13" presetID="22" presetClass="entr" presetSubtype="8" fill="hold"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450"/>
                                        <p:tgtEl>
                                          <p:spTgt spid="5"/>
                                        </p:tgtEl>
                                      </p:cBhvr>
                                    </p:animEffect>
                                  </p:childTnLst>
                                </p:cTn>
                              </p:par>
                              <p:par>
                                <p:cTn id="17" presetID="10" presetClass="entr" presetSubtype="0" fill="hold" nodeType="withEffect">
                                  <p:stCondLst>
                                    <p:cond delay="3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anim calcmode="lin" valueType="num">
                                      <p:cBhvr additive="base">
                                        <p:cTn id="16" dur="450" fill="hold"/>
                                        <p:tgtEl>
                                          <p:spTgt spid="6"/>
                                        </p:tgtEl>
                                        <p:attrNameLst>
                                          <p:attrName>ppt_y</p:attrName>
                                        </p:attrNameLst>
                                      </p:cBhvr>
                                      <p:tavLst>
                                        <p:tav tm="0">
                                          <p:val>
                                            <p:strVal val="#ppt_y+0.05"/>
                                          </p:val>
                                        </p:tav>
                                        <p:tav tm="100000">
                                          <p:val>
                                            <p:strVal val="#ppt_y"/>
                                          </p:val>
                                        </p:tav>
                                      </p:tavLst>
                                    </p:anim>
                                  </p:childTnLst>
                                </p:cTn>
                              </p:par>
                              <p:par>
                                <p:cTn id="21" presetID="10" presetClass="entr" presetSubtype="0" fill="hold" nodeType="withEffect">
                                  <p:stCondLst>
                                    <p:cond delay="3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anim calcmode="lin" valueType="num">
                                      <p:cBhvr additive="base">
                                        <p:cTn id="20" dur="450" fill="hold"/>
                                        <p:tgtEl>
                                          <p:spTgt spid="7"/>
                                        </p:tgtEl>
                                        <p:attrNameLst>
                                          <p:attrName>ppt_y</p:attrName>
                                        </p:attrNameLst>
                                      </p:cBhvr>
                                      <p:tavLst>
                                        <p:tav tm="0">
                                          <p:val>
                                            <p:strVal val="#ppt_y+0.05"/>
                                          </p:val>
                                        </p:tav>
                                        <p:tav tm="100000">
                                          <p:val>
                                            <p:strVal val="#ppt_y"/>
                                          </p:val>
                                        </p:tav>
                                      </p:tavLst>
                                    </p:anim>
                                  </p:childTnLst>
                                </p:cTn>
                              </p:par>
                              <p:par>
                                <p:cTn id="25" presetID="10" presetClass="entr" presetSubtype="0" fill="hold" nodeType="withEffect">
                                  <p:stCondLst>
                                    <p:cond delay="30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50"/>
                                        <p:tgtEl>
                                          <p:spTgt spid="8"/>
                                        </p:tgtEl>
                                      </p:cBhvr>
                                    </p:animEffect>
                                    <p:anim calcmode="lin" valueType="num">
                                      <p:cBhvr additive="base">
                                        <p:cTn id="24" dur="450" fill="hold"/>
                                        <p:tgtEl>
                                          <p:spTgt spid="8"/>
                                        </p:tgtEl>
                                        <p:attrNameLst>
                                          <p:attrName>ppt_y</p:attrName>
                                        </p:attrNameLst>
                                      </p:cBhvr>
                                      <p:tavLst>
                                        <p:tav tm="0">
                                          <p:val>
                                            <p:strVal val="#ppt_y+0.05"/>
                                          </p:val>
                                        </p:tav>
                                        <p:tav tm="100000">
                                          <p:val>
                                            <p:strVal val="#ppt_y"/>
                                          </p:val>
                                        </p:tav>
                                      </p:tavLst>
                                    </p:anim>
                                  </p:childTnLst>
                                </p:cTn>
                              </p:par>
                              <p:par>
                                <p:cTn id="29" presetID="10" presetClass="entr" presetSubtype="0" fill="hold" nodeType="withEffect">
                                  <p:stCondLst>
                                    <p:cond delay="3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anim calcmode="lin" valueType="num">
                                      <p:cBhvr additive="base">
                                        <p:cTn id="28" dur="450" fill="hold"/>
                                        <p:tgtEl>
                                          <p:spTgt spid="9"/>
                                        </p:tgtEl>
                                        <p:attrNameLst>
                                          <p:attrName>ppt_y</p:attrName>
                                        </p:attrNameLst>
                                      </p:cBhvr>
                                      <p:tavLst>
                                        <p:tav tm="0">
                                          <p:val>
                                            <p:strVal val="#ppt_y+0.05"/>
                                          </p:val>
                                        </p:tav>
                                        <p:tav tm="100000">
                                          <p:val>
                                            <p:strVal val="#ppt_y"/>
                                          </p:val>
                                        </p:tav>
                                      </p:tavLst>
                                    </p:anim>
                                  </p:childTnLst>
                                </p:cTn>
                              </p:par>
                              <p:par>
                                <p:cTn id="33" presetID="10" presetClass="entr" presetSubtype="0" fill="hold" nodeType="withEffect">
                                  <p:stCondLst>
                                    <p:cond delay="50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anim calcmode="lin" valueType="num">
                                      <p:cBhvr additive="base">
                                        <p:cTn id="32" dur="450" fill="hold"/>
                                        <p:tgtEl>
                                          <p:spTgt spid="10"/>
                                        </p:tgtEl>
                                        <p:attrNameLst>
                                          <p:attrName>ppt_y</p:attrName>
                                        </p:attrNameLst>
                                      </p:cBhvr>
                                      <p:tavLst>
                                        <p:tav tm="0">
                                          <p:val>
                                            <p:strVal val="#ppt_y+0.05"/>
                                          </p:val>
                                        </p:tav>
                                        <p:tav tm="100000">
                                          <p:val>
                                            <p:strVal val="#ppt_y"/>
                                          </p:val>
                                        </p:tav>
                                      </p:tavLst>
                                    </p:anim>
                                  </p:childTnLst>
                                </p:cTn>
                              </p:par>
                              <p:par>
                                <p:cTn id="37" presetID="10" presetClass="entr" presetSubtype="0" fill="hold" nodeType="withEffect">
                                  <p:stCondLst>
                                    <p:cond delay="50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450"/>
                                        <p:tgtEl>
                                          <p:spTgt spid="11"/>
                                        </p:tgtEl>
                                      </p:cBhvr>
                                    </p:animEffect>
                                    <p:anim calcmode="lin" valueType="num">
                                      <p:cBhvr additive="base">
                                        <p:cTn id="36" dur="450" fill="hold"/>
                                        <p:tgtEl>
                                          <p:spTgt spid="11"/>
                                        </p:tgtEl>
                                        <p:attrNameLst>
                                          <p:attrName>ppt_y</p:attrName>
                                        </p:attrNameLst>
                                      </p:cBhvr>
                                      <p:tavLst>
                                        <p:tav tm="0">
                                          <p:val>
                                            <p:strVal val="#ppt_y+0.05"/>
                                          </p:val>
                                        </p:tav>
                                        <p:tav tm="100000">
                                          <p:val>
                                            <p:strVal val="#ppt_y"/>
                                          </p:val>
                                        </p:tav>
                                      </p:tavLst>
                                    </p:anim>
                                  </p:childTnLst>
                                </p:cTn>
                              </p:par>
                              <p:par>
                                <p:cTn id="41" presetID="10" presetClass="entr" presetSubtype="0" fill="hold" nodeType="withEffect">
                                  <p:stCondLst>
                                    <p:cond delay="50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450"/>
                                        <p:tgtEl>
                                          <p:spTgt spid="12"/>
                                        </p:tgtEl>
                                      </p:cBhvr>
                                    </p:animEffect>
                                    <p:anim calcmode="lin" valueType="num">
                                      <p:cBhvr additive="base">
                                        <p:cTn id="40" dur="450" fill="hold"/>
                                        <p:tgtEl>
                                          <p:spTgt spid="12"/>
                                        </p:tgtEl>
                                        <p:attrNameLst>
                                          <p:attrName>ppt_y</p:attrName>
                                        </p:attrNameLst>
                                      </p:cBhvr>
                                      <p:tavLst>
                                        <p:tav tm="0">
                                          <p:val>
                                            <p:strVal val="#ppt_y+0.05"/>
                                          </p:val>
                                        </p:tav>
                                        <p:tav tm="100000">
                                          <p:val>
                                            <p:strVal val="#ppt_y"/>
                                          </p:val>
                                        </p:tav>
                                      </p:tavLst>
                                    </p:anim>
                                  </p:childTnLst>
                                </p:cTn>
                              </p:par>
                              <p:par>
                                <p:cTn id="45" presetID="10" presetClass="entr" presetSubtype="0" fill="hold" nodeType="withEffect">
                                  <p:stCondLst>
                                    <p:cond delay="50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450"/>
                                        <p:tgtEl>
                                          <p:spTgt spid="13"/>
                                        </p:tgtEl>
                                      </p:cBhvr>
                                    </p:animEffect>
                                    <p:anim calcmode="lin" valueType="num">
                                      <p:cBhvr additive="base">
                                        <p:cTn id="44" dur="450" fill="hold"/>
                                        <p:tgtEl>
                                          <p:spTgt spid="13"/>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3"/>
          <p:cNvSpPr txBox="1"/>
          <p:nvPr/>
        </p:nvSpPr>
        <p:spPr>
          <a:xfrm>
            <a:off x="548640" y="310896"/>
            <a:ext cx="9144000" cy="256032"/>
          </a:xfrm>
          <a:prstGeom prst="rect">
            <a:avLst/>
          </a:prstGeom>
          <a:noFill/>
          <a:ln/>
        </p:spPr>
        <p:txBody>
          <a:bodyPr wrap="square" lIns="0" tIns="0" rIns="0" bIns="0" rtlCol="0" anchor="t"/>
          <a:lstStyle/>
          <a:p>
            <a:pPr indent="0" marL="0">
              <a:buNone/>
            </a:pPr>
            <a:r>
              <a:rPr lang="en-US" sz="1150" b="1" spc="250" kern="0" dirty="0">
                <a:solidFill>
                  <a:srgbClr val="B8512F"/>
                </a:solidFill>
                <a:latin typeface="Calibri" pitchFamily="34" charset="0"/>
                <a:ea typeface="Calibri" pitchFamily="34" charset="-122"/>
                <a:cs typeface="Calibri" pitchFamily="34" charset="-120"/>
              </a:rPr>
              <a:t>SECTION 01 • SYSTEM ARCHITECTURE</a:t>
            </a:r>
            <a:endParaRPr lang="en-US" sz="1150" dirty="0"/>
          </a:p>
        </p:txBody>
      </p:sp>
      <p:sp>
        <p:nvSpPr>
          <p:cNvPr id="3" name="TTL3"/>
          <p:cNvSpPr txBox="1"/>
          <p:nvPr/>
        </p:nvSpPr>
        <p:spPr>
          <a:xfrm>
            <a:off x="548640" y="603504"/>
            <a:ext cx="11091672" cy="658368"/>
          </a:xfrm>
          <a:prstGeom prst="rect">
            <a:avLst/>
          </a:prstGeom>
          <a:noFill/>
          <a:ln/>
        </p:spPr>
        <p:txBody>
          <a:bodyPr wrap="square" lIns="0" tIns="0" rIns="0" bIns="0" rtlCol="0" anchor="ctr"/>
          <a:lstStyle/>
          <a:p>
            <a:pPr indent="0" marL="0">
              <a:buNone/>
            </a:pPr>
            <a:r>
              <a:rPr lang="en-US" sz="2700" b="1" dirty="0">
                <a:solidFill>
                  <a:srgbClr val="26221E"/>
                </a:solidFill>
                <a:latin typeface="Cambria" pitchFamily="34" charset="0"/>
                <a:ea typeface="Cambria" pitchFamily="34" charset="-122"/>
                <a:cs typeface="Cambria" pitchFamily="34" charset="-120"/>
              </a:rPr>
              <a:t>The Drift-Sense Pipeline: From 200 Hz Sensors to 2.5 cm Accuracy</a:t>
            </a:r>
            <a:endParaRPr lang="en-US" sz="2700" dirty="0"/>
          </a:p>
        </p:txBody>
      </p:sp>
      <p:sp>
        <p:nvSpPr>
          <p:cNvPr id="4" name="PG3"/>
          <p:cNvSpPr txBox="1"/>
          <p:nvPr/>
        </p:nvSpPr>
        <p:spPr>
          <a:xfrm>
            <a:off x="10881360" y="6473952"/>
            <a:ext cx="758952" cy="228600"/>
          </a:xfrm>
          <a:prstGeom prst="rect">
            <a:avLst/>
          </a:prstGeom>
          <a:noFill/>
          <a:ln/>
        </p:spPr>
        <p:txBody>
          <a:bodyPr wrap="square" lIns="0" tIns="0" rIns="0" bIns="0" rtlCol="0" anchor="t"/>
          <a:lstStyle/>
          <a:p>
            <a:pPr algn="r" indent="0" marL="0">
              <a:buNone/>
            </a:pPr>
            <a:r>
              <a:rPr lang="en-US" sz="1100" b="1" dirty="0">
                <a:solidFill>
                  <a:srgbClr val="6F675C"/>
                </a:solidFill>
                <a:latin typeface="Calibri" pitchFamily="34" charset="0"/>
                <a:ea typeface="Calibri" pitchFamily="34" charset="-122"/>
                <a:cs typeface="Calibri" pitchFamily="34" charset="-120"/>
              </a:rPr>
              <a:t>04</a:t>
            </a:r>
            <a:endParaRPr lang="en-US" sz="1100" dirty="0"/>
          </a:p>
        </p:txBody>
      </p:sp>
      <p:sp>
        <p:nvSpPr>
          <p:cNvPr id="5" name="RULE3"/>
          <p:cNvSpPr/>
          <p:nvPr/>
        </p:nvSpPr>
        <p:spPr>
          <a:xfrm>
            <a:off x="548640" y="1280160"/>
            <a:ext cx="822960" cy="41148"/>
          </a:xfrm>
          <a:prstGeom prst="rect">
            <a:avLst/>
          </a:prstGeom>
          <a:solidFill>
            <a:srgbClr val="B8512F"/>
          </a:solidFill>
          <a:ln w="12700">
            <a:solidFill>
              <a:srgbClr val="B8512F"/>
            </a:solidFill>
            <a:prstDash val="solid"/>
          </a:ln>
        </p:spPr>
      </p:sp>
      <p:sp>
        <p:nvSpPr>
          <p:cNvPr id="6" name="IMG4"/>
          <p:cNvSpPr/>
          <p:nvPr/>
        </p:nvSpPr>
        <p:spPr>
          <a:xfrm>
            <a:off x="548640" y="1554480"/>
            <a:ext cx="11091672" cy="2743200"/>
          </a:xfrm>
          <a:prstGeom prst="roundRect">
            <a:avLst>
              <a:gd name="adj" fmla="val 2333"/>
            </a:avLst>
          </a:prstGeom>
          <a:solidFill>
            <a:srgbClr val="FFFFFF"/>
          </a:solidFill>
          <a:ln w="9525">
            <a:solidFill>
              <a:srgbClr val="DED4C2"/>
            </a:solidFill>
            <a:prstDash val="solid"/>
          </a:ln>
          <a:effectLst>
            <a:outerShdw sx="100000" sy="100000" kx="0" ky="0" algn="bl" rotWithShape="0" blurRad="88900" dist="25400" dir="5400000">
              <a:srgbClr val="6B5A3C">
                <a:alpha val="14000"/>
              </a:srgbClr>
            </a:outerShdw>
          </a:effectLst>
        </p:spPr>
      </p:sp>
      <p:pic>
        <p:nvPicPr>
          <p:cNvPr id="7" name="IMG4_i" descr="End-to-end Drift-Sense pipeline flow diagram">    </p:cNvPr>
          <p:cNvPicPr>
            <a:picLocks noChangeAspect="1"/>
          </p:cNvPicPr>
          <p:nvPr/>
        </p:nvPicPr>
        <p:blipFill>
          <a:blip r:embed="rId1"/>
          <a:stretch>
            <a:fillRect/>
          </a:stretch>
        </p:blipFill>
        <p:spPr>
          <a:xfrm>
            <a:off x="676656" y="1725059"/>
            <a:ext cx="10835640" cy="2402041"/>
          </a:xfrm>
          <a:prstGeom prst="rect">
            <a:avLst/>
          </a:prstGeom>
        </p:spPr>
      </p:pic>
      <p:sp>
        <p:nvSpPr>
          <p:cNvPr id="8" name="C3_14"/>
          <p:cNvSpPr/>
          <p:nvPr/>
        </p:nvSpPr>
        <p:spPr>
          <a:xfrm>
            <a:off x="548640" y="4480560"/>
            <a:ext cx="3566160" cy="1737360"/>
          </a:xfrm>
          <a:prstGeom prst="roundRect">
            <a:avLst>
              <a:gd name="adj" fmla="val 3684"/>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9" name="C3_14_a"/>
          <p:cNvSpPr/>
          <p:nvPr/>
        </p:nvSpPr>
        <p:spPr>
          <a:xfrm>
            <a:off x="548640" y="4626864"/>
            <a:ext cx="64008" cy="1444752"/>
          </a:xfrm>
          <a:prstGeom prst="rect">
            <a:avLst/>
          </a:prstGeom>
          <a:solidFill>
            <a:srgbClr val="B8512F"/>
          </a:solidFill>
          <a:ln w="12700">
            <a:solidFill>
              <a:srgbClr val="B8512F"/>
            </a:solidFill>
            <a:prstDash val="solid"/>
          </a:ln>
        </p:spPr>
      </p:sp>
      <p:sp>
        <p:nvSpPr>
          <p:cNvPr id="10" name="C3_14_h"/>
          <p:cNvSpPr txBox="1"/>
          <p:nvPr/>
        </p:nvSpPr>
        <p:spPr>
          <a:xfrm>
            <a:off x="822960" y="4663440"/>
            <a:ext cx="3108960" cy="292608"/>
          </a:xfrm>
          <a:prstGeom prst="rect">
            <a:avLst/>
          </a:prstGeom>
          <a:noFill/>
          <a:ln/>
        </p:spPr>
        <p:txBody>
          <a:bodyPr wrap="square" lIns="0" tIns="0" rIns="0" bIns="0" rtlCol="0" anchor="t"/>
          <a:lstStyle/>
          <a:p>
            <a:pPr indent="0" marL="0">
              <a:buNone/>
            </a:pPr>
            <a:r>
              <a:rPr lang="en-US" sz="1250" b="1" spc="150" kern="0" dirty="0">
                <a:solidFill>
                  <a:srgbClr val="B8512F"/>
                </a:solidFill>
                <a:latin typeface="Calibri" pitchFamily="34" charset="0"/>
                <a:ea typeface="Calibri" pitchFamily="34" charset="-122"/>
                <a:cs typeface="Calibri" pitchFamily="34" charset="-120"/>
              </a:rPr>
              <a:t>SYNCHRONOUS ALIGNMENT</a:t>
            </a:r>
            <a:endParaRPr lang="en-US" sz="1250" dirty="0"/>
          </a:p>
        </p:txBody>
      </p:sp>
      <p:sp>
        <p:nvSpPr>
          <p:cNvPr id="11" name="C3_14_b"/>
          <p:cNvSpPr txBox="1"/>
          <p:nvPr/>
        </p:nvSpPr>
        <p:spPr>
          <a:xfrm>
            <a:off x="822960" y="5047488"/>
            <a:ext cx="3108960" cy="1060704"/>
          </a:xfrm>
          <a:prstGeom prst="rect">
            <a:avLst/>
          </a:prstGeom>
          <a:noFill/>
          <a:ln/>
        </p:spPr>
        <p:txBody>
          <a:bodyPr wrap="square" lIns="0" tIns="0" rIns="0" bIns="0" rtlCol="0" anchor="t"/>
          <a:lstStyle/>
          <a:p>
            <a:pPr indent="0" marL="0">
              <a:lnSpc>
                <a:spcPct val="105000"/>
              </a:lnSpc>
              <a:spcAft>
                <a:spcPts val="700"/>
              </a:spcAft>
              <a:buNone/>
            </a:pPr>
            <a:r>
              <a:rPr lang="en-US" sz="1450" dirty="0">
                <a:solidFill>
                  <a:srgbClr val="26221E"/>
                </a:solidFill>
                <a:latin typeface="Calibri" pitchFamily="34" charset="0"/>
                <a:ea typeface="Calibri" pitchFamily="34" charset="-122"/>
                <a:cs typeface="Calibri" pitchFamily="34" charset="-120"/>
              </a:rPr>
              <a:t>Align onboard sensors and Vicon tracking within a 20 ms tolerance to eliminate independent clock drift.</a:t>
            </a:r>
            <a:endParaRPr lang="en-US" sz="1450" dirty="0"/>
          </a:p>
        </p:txBody>
      </p:sp>
      <p:sp>
        <p:nvSpPr>
          <p:cNvPr id="12" name="C3_20"/>
          <p:cNvSpPr/>
          <p:nvPr/>
        </p:nvSpPr>
        <p:spPr>
          <a:xfrm>
            <a:off x="4315968" y="4480560"/>
            <a:ext cx="3566160" cy="1737360"/>
          </a:xfrm>
          <a:prstGeom prst="roundRect">
            <a:avLst>
              <a:gd name="adj" fmla="val 3684"/>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13" name="C3_20_a"/>
          <p:cNvSpPr/>
          <p:nvPr/>
        </p:nvSpPr>
        <p:spPr>
          <a:xfrm>
            <a:off x="4315968" y="4626864"/>
            <a:ext cx="64008" cy="1444752"/>
          </a:xfrm>
          <a:prstGeom prst="rect">
            <a:avLst/>
          </a:prstGeom>
          <a:solidFill>
            <a:srgbClr val="2E5A4C"/>
          </a:solidFill>
          <a:ln w="12700">
            <a:solidFill>
              <a:srgbClr val="2E5A4C"/>
            </a:solidFill>
            <a:prstDash val="solid"/>
          </a:ln>
        </p:spPr>
      </p:sp>
      <p:sp>
        <p:nvSpPr>
          <p:cNvPr id="14" name="C3_20_h"/>
          <p:cNvSpPr txBox="1"/>
          <p:nvPr/>
        </p:nvSpPr>
        <p:spPr>
          <a:xfrm>
            <a:off x="4590288" y="4663440"/>
            <a:ext cx="3108960" cy="292608"/>
          </a:xfrm>
          <a:prstGeom prst="rect">
            <a:avLst/>
          </a:prstGeom>
          <a:noFill/>
          <a:ln/>
        </p:spPr>
        <p:txBody>
          <a:bodyPr wrap="square" lIns="0" tIns="0" rIns="0" bIns="0" rtlCol="0" anchor="t"/>
          <a:lstStyle/>
          <a:p>
            <a:pPr indent="0" marL="0">
              <a:buNone/>
            </a:pPr>
            <a:r>
              <a:rPr lang="en-US" sz="1250" b="1" spc="150" kern="0" dirty="0">
                <a:solidFill>
                  <a:srgbClr val="2E5A4C"/>
                </a:solidFill>
                <a:latin typeface="Calibri" pitchFamily="34" charset="0"/>
                <a:ea typeface="Calibri" pitchFamily="34" charset="-122"/>
                <a:cs typeface="Calibri" pitchFamily="34" charset="-120"/>
              </a:rPr>
              <a:t>PARALLEL DECOUPLED PIPELINES</a:t>
            </a:r>
            <a:endParaRPr lang="en-US" sz="1250" dirty="0"/>
          </a:p>
        </p:txBody>
      </p:sp>
      <p:sp>
        <p:nvSpPr>
          <p:cNvPr id="15" name="C3_20_b"/>
          <p:cNvSpPr txBox="1"/>
          <p:nvPr/>
        </p:nvSpPr>
        <p:spPr>
          <a:xfrm>
            <a:off x="4590288" y="5047488"/>
            <a:ext cx="3108960" cy="1060704"/>
          </a:xfrm>
          <a:prstGeom prst="rect">
            <a:avLst/>
          </a:prstGeom>
          <a:noFill/>
          <a:ln/>
        </p:spPr>
        <p:txBody>
          <a:bodyPr wrap="square" lIns="0" tIns="0" rIns="0" bIns="0" rtlCol="0" anchor="t"/>
          <a:lstStyle/>
          <a:p>
            <a:pPr indent="0" marL="0">
              <a:lnSpc>
                <a:spcPct val="105000"/>
              </a:lnSpc>
              <a:spcAft>
                <a:spcPts val="700"/>
              </a:spcAft>
              <a:buNone/>
            </a:pPr>
            <a:r>
              <a:rPr lang="en-US" sz="1450" dirty="0">
                <a:solidFill>
                  <a:srgbClr val="26221E"/>
                </a:solidFill>
                <a:latin typeface="Calibri" pitchFamily="34" charset="0"/>
                <a:ea typeface="Calibri" pitchFamily="34" charset="-122"/>
                <a:cs typeface="Calibri" pitchFamily="34" charset="-120"/>
              </a:rPr>
              <a:t>Part A builds ground-truth drift targets via Newtonian physics; Part C extracts 104 features from raw IMU.</a:t>
            </a:r>
            <a:endParaRPr lang="en-US" sz="1450" dirty="0"/>
          </a:p>
        </p:txBody>
      </p:sp>
      <p:sp>
        <p:nvSpPr>
          <p:cNvPr id="16" name="C3_26"/>
          <p:cNvSpPr/>
          <p:nvPr/>
        </p:nvSpPr>
        <p:spPr>
          <a:xfrm>
            <a:off x="8074152" y="4480560"/>
            <a:ext cx="3566160" cy="1737360"/>
          </a:xfrm>
          <a:prstGeom prst="roundRect">
            <a:avLst>
              <a:gd name="adj" fmla="val 3684"/>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17" name="C3_26_a"/>
          <p:cNvSpPr/>
          <p:nvPr/>
        </p:nvSpPr>
        <p:spPr>
          <a:xfrm>
            <a:off x="8074152" y="4626864"/>
            <a:ext cx="64008" cy="1444752"/>
          </a:xfrm>
          <a:prstGeom prst="rect">
            <a:avLst/>
          </a:prstGeom>
          <a:solidFill>
            <a:srgbClr val="B07A12"/>
          </a:solidFill>
          <a:ln w="12700">
            <a:solidFill>
              <a:srgbClr val="B07A12"/>
            </a:solidFill>
            <a:prstDash val="solid"/>
          </a:ln>
        </p:spPr>
      </p:sp>
      <p:sp>
        <p:nvSpPr>
          <p:cNvPr id="18" name="C3_26_h"/>
          <p:cNvSpPr txBox="1"/>
          <p:nvPr/>
        </p:nvSpPr>
        <p:spPr>
          <a:xfrm>
            <a:off x="8348472" y="4663440"/>
            <a:ext cx="3108960" cy="292608"/>
          </a:xfrm>
          <a:prstGeom prst="rect">
            <a:avLst/>
          </a:prstGeom>
          <a:noFill/>
          <a:ln/>
        </p:spPr>
        <p:txBody>
          <a:bodyPr wrap="square" lIns="0" tIns="0" rIns="0" bIns="0" rtlCol="0" anchor="t"/>
          <a:lstStyle/>
          <a:p>
            <a:pPr indent="0" marL="0">
              <a:buNone/>
            </a:pPr>
            <a:r>
              <a:rPr lang="en-US" sz="1250" b="1" spc="150" kern="0" dirty="0">
                <a:solidFill>
                  <a:srgbClr val="B07A12"/>
                </a:solidFill>
                <a:latin typeface="Calibri" pitchFamily="34" charset="0"/>
                <a:ea typeface="Calibri" pitchFamily="34" charset="-122"/>
                <a:cs typeface="Calibri" pitchFamily="34" charset="-120"/>
              </a:rPr>
              <a:t>LEAKAGE-SAFE MODELING</a:t>
            </a:r>
            <a:endParaRPr lang="en-US" sz="1250" dirty="0"/>
          </a:p>
        </p:txBody>
      </p:sp>
      <p:sp>
        <p:nvSpPr>
          <p:cNvPr id="19" name="C3_26_b"/>
          <p:cNvSpPr txBox="1"/>
          <p:nvPr/>
        </p:nvSpPr>
        <p:spPr>
          <a:xfrm>
            <a:off x="8348472" y="5047488"/>
            <a:ext cx="3108960" cy="1060704"/>
          </a:xfrm>
          <a:prstGeom prst="rect">
            <a:avLst/>
          </a:prstGeom>
          <a:noFill/>
          <a:ln/>
        </p:spPr>
        <p:txBody>
          <a:bodyPr wrap="square" lIns="0" tIns="0" rIns="0" bIns="0" rtlCol="0" anchor="t"/>
          <a:lstStyle/>
          <a:p>
            <a:pPr indent="0" marL="0">
              <a:lnSpc>
                <a:spcPct val="105000"/>
              </a:lnSpc>
              <a:spcAft>
                <a:spcPts val="700"/>
              </a:spcAft>
              <a:buNone/>
            </a:pPr>
            <a:r>
              <a:rPr lang="en-US" sz="1450" dirty="0">
                <a:solidFill>
                  <a:srgbClr val="26221E"/>
                </a:solidFill>
                <a:latin typeface="Calibri" pitchFamily="34" charset="0"/>
                <a:ea typeface="Calibri" pitchFamily="34" charset="-122"/>
                <a:cs typeface="Calibri" pitchFamily="34" charset="-120"/>
              </a:rPr>
              <a:t>Split by entire flights (LOSO) and temporal blocks to prevent overlapping-window leakage.</a:t>
            </a:r>
            <a:endParaRPr lang="en-US" sz="1450" dirty="0"/>
          </a:p>
        </p:txBody>
      </p:sp>
    </p:spTree>
  </p:cSld>
  <p:clrMapOvr>
    <a:masterClrMapping/>
  </p:clrMapOvr>
  <mc:AlternateContent xmlns:mc="http://schemas.openxmlformats.org/markup-compatibility/2006">
    <mc:Choice xmlns:p14="http://schemas.microsoft.com/office/powerpoint/2010/main" Requires="p14">
      <p:transition spd="slow" p14:dur="900">
        <p14:pan dir="r"/>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8" fill="hold">
                            <p:stCondLst>
                              <p:cond delay="0"/>
                            </p:stCondLst>
                            <p:childTnLst>
                              <p:par>
                                <p:cTn id="6" presetID="10" presetClass="entr" presetSubtype="0" fill="hold" nodeType="withEffect">
                                  <p:stCondLst>
                                    <p:cond delay="8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10" presetID="10" presetClass="entr" presetSubtype="0" fill="hold" nodeType="withEffect">
                                  <p:stCondLst>
                                    <p:cond delay="12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anim calcmode="lin" valueType="num">
                                      <p:cBhvr additive="base">
                                        <p:cTn id="9" dur="450" fill="hold"/>
                                        <p:tgtEl>
                                          <p:spTgt spid="3"/>
                                        </p:tgtEl>
                                        <p:attrNameLst>
                                          <p:attrName>ppt_y</p:attrName>
                                        </p:attrNameLst>
                                      </p:cBhvr>
                                      <p:tavLst>
                                        <p:tav tm="0">
                                          <p:val>
                                            <p:strVal val="#ppt_y+0.05"/>
                                          </p:val>
                                        </p:tav>
                                        <p:tav tm="100000">
                                          <p:val>
                                            <p:strVal val="#ppt_y"/>
                                          </p:val>
                                        </p:tav>
                                      </p:tavLst>
                                    </p:anim>
                                  </p:childTnLst>
                                </p:cTn>
                              </p:par>
                              <p:par>
                                <p:cTn id="13" presetID="22" presetClass="entr" presetSubtype="8" fill="hold"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450"/>
                                        <p:tgtEl>
                                          <p:spTgt spid="5"/>
                                        </p:tgtEl>
                                      </p:cBhvr>
                                    </p:animEffect>
                                  </p:childTnLst>
                                </p:cTn>
                              </p:par>
                              <p:par>
                                <p:cTn id="16" presetID="10" presetClass="entr" presetSubtype="0" fill="hold" nodeType="withEffect">
                                  <p:stCondLst>
                                    <p:cond delay="3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9" presetID="10" presetClass="entr" presetSubtype="0" fill="hold" nodeType="withEffect">
                                  <p:stCondLst>
                                    <p:cond delay="30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23" presetID="10" presetClass="entr" presetSubtype="0" fill="hold" nodeType="withEffect">
                                  <p:stCondLst>
                                    <p:cond delay="55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anim calcmode="lin" valueType="num">
                                      <p:cBhvr additive="base">
                                        <p:cTn id="22" dur="450" fill="hold"/>
                                        <p:tgtEl>
                                          <p:spTgt spid="8"/>
                                        </p:tgtEl>
                                        <p:attrNameLst>
                                          <p:attrName>ppt_y</p:attrName>
                                        </p:attrNameLst>
                                      </p:cBhvr>
                                      <p:tavLst>
                                        <p:tav tm="0">
                                          <p:val>
                                            <p:strVal val="#ppt_y+0.05"/>
                                          </p:val>
                                        </p:tav>
                                        <p:tav tm="100000">
                                          <p:val>
                                            <p:strVal val="#ppt_y"/>
                                          </p:val>
                                        </p:tav>
                                      </p:tavLst>
                                    </p:anim>
                                  </p:childTnLst>
                                </p:cTn>
                              </p:par>
                              <p:par>
                                <p:cTn id="27" presetID="10" presetClass="entr" presetSubtype="0" fill="hold" nodeType="withEffect">
                                  <p:stCondLst>
                                    <p:cond delay="5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anim calcmode="lin" valueType="num">
                                      <p:cBhvr additive="base">
                                        <p:cTn id="26" dur="450" fill="hold"/>
                                        <p:tgtEl>
                                          <p:spTgt spid="9"/>
                                        </p:tgtEl>
                                        <p:attrNameLst>
                                          <p:attrName>ppt_y</p:attrName>
                                        </p:attrNameLst>
                                      </p:cBhvr>
                                      <p:tavLst>
                                        <p:tav tm="0">
                                          <p:val>
                                            <p:strVal val="#ppt_y+0.05"/>
                                          </p:val>
                                        </p:tav>
                                        <p:tav tm="100000">
                                          <p:val>
                                            <p:strVal val="#ppt_y"/>
                                          </p:val>
                                        </p:tav>
                                      </p:tavLst>
                                    </p:anim>
                                  </p:childTnLst>
                                </p:cTn>
                              </p:par>
                              <p:par>
                                <p:cTn id="31" presetID="10" presetClass="entr" presetSubtype="0" fill="hold" nodeType="withEffect">
                                  <p:stCondLst>
                                    <p:cond delay="55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anim calcmode="lin" valueType="num">
                                      <p:cBhvr additive="base">
                                        <p:cTn id="30" dur="450" fill="hold"/>
                                        <p:tgtEl>
                                          <p:spTgt spid="10"/>
                                        </p:tgtEl>
                                        <p:attrNameLst>
                                          <p:attrName>ppt_y</p:attrName>
                                        </p:attrNameLst>
                                      </p:cBhvr>
                                      <p:tavLst>
                                        <p:tav tm="0">
                                          <p:val>
                                            <p:strVal val="#ppt_y+0.05"/>
                                          </p:val>
                                        </p:tav>
                                        <p:tav tm="100000">
                                          <p:val>
                                            <p:strVal val="#ppt_y"/>
                                          </p:val>
                                        </p:tav>
                                      </p:tavLst>
                                    </p:anim>
                                  </p:childTnLst>
                                </p:cTn>
                              </p:par>
                              <p:par>
                                <p:cTn id="35" presetID="10" presetClass="entr" presetSubtype="0" fill="hold" nodeType="withEffect">
                                  <p:stCondLst>
                                    <p:cond delay="55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50"/>
                                        <p:tgtEl>
                                          <p:spTgt spid="11"/>
                                        </p:tgtEl>
                                      </p:cBhvr>
                                    </p:animEffect>
                                    <p:anim calcmode="lin" valueType="num">
                                      <p:cBhvr additive="base">
                                        <p:cTn id="34" dur="450" fill="hold"/>
                                        <p:tgtEl>
                                          <p:spTgt spid="11"/>
                                        </p:tgtEl>
                                        <p:attrNameLst>
                                          <p:attrName>ppt_y</p:attrName>
                                        </p:attrNameLst>
                                      </p:cBhvr>
                                      <p:tavLst>
                                        <p:tav tm="0">
                                          <p:val>
                                            <p:strVal val="#ppt_y+0.05"/>
                                          </p:val>
                                        </p:tav>
                                        <p:tav tm="100000">
                                          <p:val>
                                            <p:strVal val="#ppt_y"/>
                                          </p:val>
                                        </p:tav>
                                      </p:tavLst>
                                    </p:anim>
                                  </p:childTnLst>
                                </p:cTn>
                              </p:par>
                              <p:par>
                                <p:cTn id="39" presetID="10" presetClass="entr" presetSubtype="0" fill="hold" nodeType="withEffect">
                                  <p:stCondLst>
                                    <p:cond delay="70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50"/>
                                        <p:tgtEl>
                                          <p:spTgt spid="12"/>
                                        </p:tgtEl>
                                      </p:cBhvr>
                                    </p:animEffect>
                                    <p:anim calcmode="lin" valueType="num">
                                      <p:cBhvr additive="base">
                                        <p:cTn id="38" dur="450" fill="hold"/>
                                        <p:tgtEl>
                                          <p:spTgt spid="12"/>
                                        </p:tgtEl>
                                        <p:attrNameLst>
                                          <p:attrName>ppt_y</p:attrName>
                                        </p:attrNameLst>
                                      </p:cBhvr>
                                      <p:tavLst>
                                        <p:tav tm="0">
                                          <p:val>
                                            <p:strVal val="#ppt_y+0.05"/>
                                          </p:val>
                                        </p:tav>
                                        <p:tav tm="100000">
                                          <p:val>
                                            <p:strVal val="#ppt_y"/>
                                          </p:val>
                                        </p:tav>
                                      </p:tavLst>
                                    </p:anim>
                                  </p:childTnLst>
                                </p:cTn>
                              </p:par>
                              <p:par>
                                <p:cTn id="43" presetID="10" presetClass="entr" presetSubtype="0" fill="hold" nodeType="withEffect">
                                  <p:stCondLst>
                                    <p:cond delay="70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450"/>
                                        <p:tgtEl>
                                          <p:spTgt spid="13"/>
                                        </p:tgtEl>
                                      </p:cBhvr>
                                    </p:animEffect>
                                    <p:anim calcmode="lin" valueType="num">
                                      <p:cBhvr additive="base">
                                        <p:cTn id="42" dur="450" fill="hold"/>
                                        <p:tgtEl>
                                          <p:spTgt spid="13"/>
                                        </p:tgtEl>
                                        <p:attrNameLst>
                                          <p:attrName>ppt_y</p:attrName>
                                        </p:attrNameLst>
                                      </p:cBhvr>
                                      <p:tavLst>
                                        <p:tav tm="0">
                                          <p:val>
                                            <p:strVal val="#ppt_y+0.05"/>
                                          </p:val>
                                        </p:tav>
                                        <p:tav tm="100000">
                                          <p:val>
                                            <p:strVal val="#ppt_y"/>
                                          </p:val>
                                        </p:tav>
                                      </p:tavLst>
                                    </p:anim>
                                  </p:childTnLst>
                                </p:cTn>
                              </p:par>
                              <p:par>
                                <p:cTn id="47" presetID="10" presetClass="entr" presetSubtype="0" fill="hold" nodeType="withEffect">
                                  <p:stCondLst>
                                    <p:cond delay="70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450"/>
                                        <p:tgtEl>
                                          <p:spTgt spid="14"/>
                                        </p:tgtEl>
                                      </p:cBhvr>
                                    </p:animEffect>
                                    <p:anim calcmode="lin" valueType="num">
                                      <p:cBhvr additive="base">
                                        <p:cTn id="46" dur="450" fill="hold"/>
                                        <p:tgtEl>
                                          <p:spTgt spid="14"/>
                                        </p:tgtEl>
                                        <p:attrNameLst>
                                          <p:attrName>ppt_y</p:attrName>
                                        </p:attrNameLst>
                                      </p:cBhvr>
                                      <p:tavLst>
                                        <p:tav tm="0">
                                          <p:val>
                                            <p:strVal val="#ppt_y+0.05"/>
                                          </p:val>
                                        </p:tav>
                                        <p:tav tm="100000">
                                          <p:val>
                                            <p:strVal val="#ppt_y"/>
                                          </p:val>
                                        </p:tav>
                                      </p:tavLst>
                                    </p:anim>
                                  </p:childTnLst>
                                </p:cTn>
                              </p:par>
                              <p:par>
                                <p:cTn id="51" presetID="10" presetClass="entr" presetSubtype="0" fill="hold" nodeType="withEffect">
                                  <p:stCondLst>
                                    <p:cond delay="70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450"/>
                                        <p:tgtEl>
                                          <p:spTgt spid="15"/>
                                        </p:tgtEl>
                                      </p:cBhvr>
                                    </p:animEffect>
                                    <p:anim calcmode="lin" valueType="num">
                                      <p:cBhvr additive="base">
                                        <p:cTn id="50" dur="450" fill="hold"/>
                                        <p:tgtEl>
                                          <p:spTgt spid="15"/>
                                        </p:tgtEl>
                                        <p:attrNameLst>
                                          <p:attrName>ppt_y</p:attrName>
                                        </p:attrNameLst>
                                      </p:cBhvr>
                                      <p:tavLst>
                                        <p:tav tm="0">
                                          <p:val>
                                            <p:strVal val="#ppt_y+0.05"/>
                                          </p:val>
                                        </p:tav>
                                        <p:tav tm="100000">
                                          <p:val>
                                            <p:strVal val="#ppt_y"/>
                                          </p:val>
                                        </p:tav>
                                      </p:tavLst>
                                    </p:anim>
                                  </p:childTnLst>
                                </p:cTn>
                              </p:par>
                              <p:par>
                                <p:cTn id="55" presetID="10" presetClass="entr" presetSubtype="0" fill="hold" nodeType="withEffect">
                                  <p:stCondLst>
                                    <p:cond delay="85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450"/>
                                        <p:tgtEl>
                                          <p:spTgt spid="16"/>
                                        </p:tgtEl>
                                      </p:cBhvr>
                                    </p:animEffect>
                                    <p:anim calcmode="lin" valueType="num">
                                      <p:cBhvr additive="base">
                                        <p:cTn id="54" dur="450" fill="hold"/>
                                        <p:tgtEl>
                                          <p:spTgt spid="16"/>
                                        </p:tgtEl>
                                        <p:attrNameLst>
                                          <p:attrName>ppt_y</p:attrName>
                                        </p:attrNameLst>
                                      </p:cBhvr>
                                      <p:tavLst>
                                        <p:tav tm="0">
                                          <p:val>
                                            <p:strVal val="#ppt_y+0.05"/>
                                          </p:val>
                                        </p:tav>
                                        <p:tav tm="100000">
                                          <p:val>
                                            <p:strVal val="#ppt_y"/>
                                          </p:val>
                                        </p:tav>
                                      </p:tavLst>
                                    </p:anim>
                                  </p:childTnLst>
                                </p:cTn>
                              </p:par>
                              <p:par>
                                <p:cTn id="59" presetID="10" presetClass="entr" presetSubtype="0" fill="hold" nodeType="withEffect">
                                  <p:stCondLst>
                                    <p:cond delay="85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450"/>
                                        <p:tgtEl>
                                          <p:spTgt spid="17"/>
                                        </p:tgtEl>
                                      </p:cBhvr>
                                    </p:animEffect>
                                    <p:anim calcmode="lin" valueType="num">
                                      <p:cBhvr additive="base">
                                        <p:cTn id="58" dur="450" fill="hold"/>
                                        <p:tgtEl>
                                          <p:spTgt spid="17"/>
                                        </p:tgtEl>
                                        <p:attrNameLst>
                                          <p:attrName>ppt_y</p:attrName>
                                        </p:attrNameLst>
                                      </p:cBhvr>
                                      <p:tavLst>
                                        <p:tav tm="0">
                                          <p:val>
                                            <p:strVal val="#ppt_y+0.05"/>
                                          </p:val>
                                        </p:tav>
                                        <p:tav tm="100000">
                                          <p:val>
                                            <p:strVal val="#ppt_y"/>
                                          </p:val>
                                        </p:tav>
                                      </p:tavLst>
                                    </p:anim>
                                  </p:childTnLst>
                                </p:cTn>
                              </p:par>
                              <p:par>
                                <p:cTn id="63" presetID="10" presetClass="entr" presetSubtype="0" fill="hold" nodeType="withEffect">
                                  <p:stCondLst>
                                    <p:cond delay="850"/>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450"/>
                                        <p:tgtEl>
                                          <p:spTgt spid="18"/>
                                        </p:tgtEl>
                                      </p:cBhvr>
                                    </p:animEffect>
                                    <p:anim calcmode="lin" valueType="num">
                                      <p:cBhvr additive="base">
                                        <p:cTn id="62" dur="450" fill="hold"/>
                                        <p:tgtEl>
                                          <p:spTgt spid="18"/>
                                        </p:tgtEl>
                                        <p:attrNameLst>
                                          <p:attrName>ppt_y</p:attrName>
                                        </p:attrNameLst>
                                      </p:cBhvr>
                                      <p:tavLst>
                                        <p:tav tm="0">
                                          <p:val>
                                            <p:strVal val="#ppt_y+0.05"/>
                                          </p:val>
                                        </p:tav>
                                        <p:tav tm="100000">
                                          <p:val>
                                            <p:strVal val="#ppt_y"/>
                                          </p:val>
                                        </p:tav>
                                      </p:tavLst>
                                    </p:anim>
                                  </p:childTnLst>
                                </p:cTn>
                              </p:par>
                              <p:par>
                                <p:cTn id="67" presetID="10" presetClass="entr" presetSubtype="0" fill="hold" nodeType="withEffect">
                                  <p:stCondLst>
                                    <p:cond delay="850"/>
                                  </p:stCondLst>
                                  <p:childTnLst>
                                    <p:set>
                                      <p:cBhvr>
                                        <p:cTn id="64" dur="1" fill="hold">
                                          <p:stCondLst>
                                            <p:cond delay="0"/>
                                          </p:stCondLst>
                                        </p:cTn>
                                        <p:tgtEl>
                                          <p:spTgt spid="19"/>
                                        </p:tgtEl>
                                        <p:attrNameLst>
                                          <p:attrName>style.visibility</p:attrName>
                                        </p:attrNameLst>
                                      </p:cBhvr>
                                      <p:to>
                                        <p:strVal val="visible"/>
                                      </p:to>
                                    </p:set>
                                    <p:animEffect transition="in" filter="fade">
                                      <p:cBhvr>
                                        <p:cTn id="65" dur="450"/>
                                        <p:tgtEl>
                                          <p:spTgt spid="19"/>
                                        </p:tgtEl>
                                      </p:cBhvr>
                                    </p:animEffect>
                                    <p:anim calcmode="lin" valueType="num">
                                      <p:cBhvr additive="base">
                                        <p:cTn id="66" dur="450" fill="hold"/>
                                        <p:tgtEl>
                                          <p:spTgt spid="19"/>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NUM"/>
          <p:cNvSpPr txBox="1"/>
          <p:nvPr/>
        </p:nvSpPr>
        <p:spPr>
          <a:xfrm>
            <a:off x="7498080" y="365760"/>
            <a:ext cx="4206240" cy="5669280"/>
          </a:xfrm>
          <a:prstGeom prst="rect">
            <a:avLst/>
          </a:prstGeom>
          <a:noFill/>
          <a:ln/>
        </p:spPr>
        <p:txBody>
          <a:bodyPr wrap="square" lIns="0" tIns="0" rIns="0" bIns="0" rtlCol="0" anchor="ctr"/>
          <a:lstStyle/>
          <a:p>
            <a:pPr algn="r" indent="0" marL="0">
              <a:buNone/>
            </a:pPr>
            <a:r>
              <a:rPr lang="en-US" sz="21000" b="1" dirty="0">
                <a:solidFill>
                  <a:srgbClr val="2F5B4D"/>
                </a:solidFill>
                <a:latin typeface="Cambria" pitchFamily="34" charset="0"/>
                <a:ea typeface="Cambria" pitchFamily="34" charset="-122"/>
                <a:cs typeface="Cambria" pitchFamily="34" charset="-120"/>
              </a:rPr>
              <a:t>02</a:t>
            </a:r>
            <a:endParaRPr lang="en-US" sz="21000" dirty="0"/>
          </a:p>
        </p:txBody>
      </p:sp>
      <p:sp>
        <p:nvSpPr>
          <p:cNvPr id="3" name="DK"/>
          <p:cNvSpPr txBox="1"/>
          <p:nvPr/>
        </p:nvSpPr>
        <p:spPr>
          <a:xfrm>
            <a:off x="822960" y="1874520"/>
            <a:ext cx="4572000" cy="365760"/>
          </a:xfrm>
          <a:prstGeom prst="rect">
            <a:avLst/>
          </a:prstGeom>
          <a:noFill/>
          <a:ln/>
        </p:spPr>
        <p:txBody>
          <a:bodyPr wrap="square" lIns="0" tIns="0" rIns="0" bIns="0" rtlCol="0" anchor="t"/>
          <a:lstStyle/>
          <a:p>
            <a:pPr indent="0" marL="0">
              <a:buNone/>
            </a:pPr>
            <a:r>
              <a:rPr lang="en-US" sz="1600" b="1" spc="500" kern="0" dirty="0">
                <a:solidFill>
                  <a:srgbClr val="E3A83A"/>
                </a:solidFill>
                <a:latin typeface="Calibri" pitchFamily="34" charset="0"/>
                <a:ea typeface="Calibri" pitchFamily="34" charset="-122"/>
                <a:cs typeface="Calibri" pitchFamily="34" charset="-120"/>
              </a:rPr>
              <a:t>SECTION 02</a:t>
            </a:r>
            <a:endParaRPr lang="en-US" sz="1600" dirty="0"/>
          </a:p>
        </p:txBody>
      </p:sp>
      <p:sp>
        <p:nvSpPr>
          <p:cNvPr id="4" name="DT"/>
          <p:cNvSpPr txBox="1"/>
          <p:nvPr/>
        </p:nvSpPr>
        <p:spPr>
          <a:xfrm>
            <a:off x="822960" y="2377440"/>
            <a:ext cx="6766560" cy="1737360"/>
          </a:xfrm>
          <a:prstGeom prst="rect">
            <a:avLst/>
          </a:prstGeom>
          <a:noFill/>
          <a:ln/>
        </p:spPr>
        <p:txBody>
          <a:bodyPr wrap="square" lIns="0" tIns="0" rIns="0" bIns="0" rtlCol="0" anchor="t"/>
          <a:lstStyle/>
          <a:p>
            <a:pPr indent="0" marL="0">
              <a:buNone/>
            </a:pPr>
            <a:r>
              <a:rPr lang="en-US" sz="4400" b="1" dirty="0">
                <a:solidFill>
                  <a:srgbClr val="F4EEE3"/>
                </a:solidFill>
                <a:latin typeface="Cambria" pitchFamily="34" charset="0"/>
                <a:ea typeface="Cambria" pitchFamily="34" charset="-122"/>
                <a:cs typeface="Cambria" pitchFamily="34" charset="-120"/>
              </a:rPr>
              <a:t>Data Preprocessing &amp; Ground-Truth Labeling</a:t>
            </a:r>
            <a:endParaRPr lang="en-US" sz="4400" dirty="0"/>
          </a:p>
        </p:txBody>
      </p:sp>
      <p:sp>
        <p:nvSpPr>
          <p:cNvPr id="5" name="DBAR"/>
          <p:cNvSpPr/>
          <p:nvPr/>
        </p:nvSpPr>
        <p:spPr>
          <a:xfrm>
            <a:off x="822960" y="4224528"/>
            <a:ext cx="1188720" cy="64008"/>
          </a:xfrm>
          <a:prstGeom prst="rect">
            <a:avLst/>
          </a:prstGeom>
          <a:solidFill>
            <a:srgbClr val="E3A83A"/>
          </a:solidFill>
          <a:ln w="12700">
            <a:solidFill>
              <a:srgbClr val="E3A83A"/>
            </a:solidFill>
            <a:prstDash val="solid"/>
          </a:ln>
        </p:spPr>
      </p:sp>
      <p:sp>
        <p:nvSpPr>
          <p:cNvPr id="6" name="DS"/>
          <p:cNvSpPr txBox="1"/>
          <p:nvPr/>
        </p:nvSpPr>
        <p:spPr>
          <a:xfrm>
            <a:off x="822960" y="4526280"/>
            <a:ext cx="7498080" cy="914400"/>
          </a:xfrm>
          <a:prstGeom prst="rect">
            <a:avLst/>
          </a:prstGeom>
          <a:noFill/>
          <a:ln/>
        </p:spPr>
        <p:txBody>
          <a:bodyPr wrap="square" lIns="0" tIns="0" rIns="0" bIns="0" rtlCol="0" anchor="t"/>
          <a:lstStyle/>
          <a:p>
            <a:pPr indent="0" marL="0">
              <a:buNone/>
            </a:pPr>
            <a:r>
              <a:rPr lang="en-US" sz="2100" dirty="0">
                <a:solidFill>
                  <a:srgbClr val="D9CDB8"/>
                </a:solidFill>
                <a:latin typeface="Calibri" pitchFamily="34" charset="0"/>
                <a:ea typeface="Calibri" pitchFamily="34" charset="-122"/>
                <a:cs typeface="Calibri" pitchFamily="34" charset="-120"/>
              </a:rPr>
              <a:t>Synchronization, Calibration, Windowing, and Physics Integration</a:t>
            </a:r>
            <a:endParaRPr lang="en-US" sz="2100" dirty="0"/>
          </a:p>
        </p:txBody>
      </p:sp>
      <p:sp>
        <p:nvSpPr>
          <p:cNvPr id="7" name="DF"/>
          <p:cNvSpPr txBox="1"/>
          <p:nvPr/>
        </p:nvSpPr>
        <p:spPr>
          <a:xfrm>
            <a:off x="822960" y="6400800"/>
            <a:ext cx="8229600" cy="256032"/>
          </a:xfrm>
          <a:prstGeom prst="rect">
            <a:avLst/>
          </a:prstGeom>
          <a:noFill/>
          <a:ln/>
        </p:spPr>
        <p:txBody>
          <a:bodyPr wrap="square" lIns="0" tIns="0" rIns="0" bIns="0" rtlCol="0" anchor="t"/>
          <a:lstStyle/>
          <a:p>
            <a:pPr indent="0" marL="0">
              <a:buNone/>
            </a:pPr>
            <a:r>
              <a:rPr lang="en-US" sz="1000" b="1" spc="200" kern="0" dirty="0">
                <a:solidFill>
                  <a:srgbClr val="9FB3A8"/>
                </a:solidFill>
                <a:latin typeface="Calibri" pitchFamily="34" charset="0"/>
                <a:ea typeface="Calibri" pitchFamily="34" charset="-122"/>
                <a:cs typeface="Calibri" pitchFamily="34" charset="-120"/>
              </a:rPr>
              <a:t>DRIFT-SENSE  •  AUTONOMOUS ROBOTICS &amp; FLIGHT TELEMETRY</a:t>
            </a:r>
            <a:endParaRPr lang="en-US" sz="1000" dirty="0"/>
          </a:p>
        </p:txBody>
      </p:sp>
      <p:sp>
        <p:nvSpPr>
          <p:cNvPr id="8" name="DP"/>
          <p:cNvSpPr txBox="1"/>
          <p:nvPr/>
        </p:nvSpPr>
        <p:spPr>
          <a:xfrm>
            <a:off x="10881360" y="6400800"/>
            <a:ext cx="758952" cy="256032"/>
          </a:xfrm>
          <a:prstGeom prst="rect">
            <a:avLst/>
          </a:prstGeom>
          <a:noFill/>
          <a:ln/>
        </p:spPr>
        <p:txBody>
          <a:bodyPr wrap="square" lIns="0" tIns="0" rIns="0" bIns="0" rtlCol="0" anchor="t"/>
          <a:lstStyle/>
          <a:p>
            <a:pPr algn="r" indent="0" marL="0">
              <a:buNone/>
            </a:pPr>
            <a:r>
              <a:rPr lang="en-US" sz="1100" b="1" dirty="0">
                <a:solidFill>
                  <a:srgbClr val="9FB3A8"/>
                </a:solidFill>
                <a:latin typeface="Calibri" pitchFamily="34" charset="0"/>
                <a:ea typeface="Calibri" pitchFamily="34" charset="-122"/>
                <a:cs typeface="Calibri" pitchFamily="34" charset="-120"/>
              </a:rPr>
              <a:t>05</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900">
        <p14:doors dir="ver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21" fill="hold">
                            <p:stCondLst>
                              <p:cond delay="0"/>
                            </p:stCondLst>
                            <p:childTnLst>
                              <p:par>
                                <p:cTn id="6" presetID="10" presetClass="entr" presetSubtype="0" fill="hold" nodeType="withEffect">
                                  <p:stCondLst>
                                    <p:cond delay="15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700"/>
                                        <p:tgtEl>
                                          <p:spTgt spid="2"/>
                                        </p:tgtEl>
                                      </p:cBhvr>
                                    </p:animEffect>
                                  </p:childTnLst>
                                </p:cTn>
                              </p:par>
                              <p:par>
                                <p:cTn id="9" presetID="10" presetClass="entr" presetSubtype="0" fill="hold" nodeType="withEffect">
                                  <p:stCondLst>
                                    <p:cond delay="30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13" presetID="10" presetClass="entr" presetSubtype="0" fill="hold" nodeType="withEffect">
                                  <p:stCondLst>
                                    <p:cond delay="42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anim calcmode="lin" valueType="num">
                                      <p:cBhvr additive="base">
                                        <p:cTn id="12" dur="450" fill="hold"/>
                                        <p:tgtEl>
                                          <p:spTgt spid="4"/>
                                        </p:tgtEl>
                                        <p:attrNameLst>
                                          <p:attrName>ppt_y</p:attrName>
                                        </p:attrNameLst>
                                      </p:cBhvr>
                                      <p:tavLst>
                                        <p:tav tm="0">
                                          <p:val>
                                            <p:strVal val="#ppt_y+0.05"/>
                                          </p:val>
                                        </p:tav>
                                        <p:tav tm="100000">
                                          <p:val>
                                            <p:strVal val="#ppt_y"/>
                                          </p:val>
                                        </p:tav>
                                      </p:tavLst>
                                    </p:anim>
                                  </p:childTnLst>
                                </p:cTn>
                              </p:par>
                              <p:par>
                                <p:cTn id="16" presetID="22" presetClass="entr" presetSubtype="8" fill="hold" nodeType="withEffect">
                                  <p:stCondLst>
                                    <p:cond delay="70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450"/>
                                        <p:tgtEl>
                                          <p:spTgt spid="5"/>
                                        </p:tgtEl>
                                      </p:cBhvr>
                                    </p:animEffect>
                                  </p:childTnLst>
                                </p:cTn>
                              </p:par>
                              <p:par>
                                <p:cTn id="20" presetID="10" presetClass="entr" presetSubtype="0" fill="hold" nodeType="withEffect">
                                  <p:stCondLst>
                                    <p:cond delay="85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50"/>
                                        <p:tgtEl>
                                          <p:spTgt spid="6"/>
                                        </p:tgtEl>
                                      </p:cBhvr>
                                    </p:animEffect>
                                    <p:anim calcmode="lin" valueType="num">
                                      <p:cBhvr additive="base">
                                        <p:cTn id="19" dur="450" fill="hold"/>
                                        <p:tgtEl>
                                          <p:spTgt spid="6"/>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5"/>
          <p:cNvSpPr txBox="1"/>
          <p:nvPr/>
        </p:nvSpPr>
        <p:spPr>
          <a:xfrm>
            <a:off x="548640" y="310896"/>
            <a:ext cx="9144000" cy="256032"/>
          </a:xfrm>
          <a:prstGeom prst="rect">
            <a:avLst/>
          </a:prstGeom>
          <a:noFill/>
          <a:ln/>
        </p:spPr>
        <p:txBody>
          <a:bodyPr wrap="square" lIns="0" tIns="0" rIns="0" bIns="0" rtlCol="0" anchor="t"/>
          <a:lstStyle/>
          <a:p>
            <a:pPr indent="0" marL="0">
              <a:buNone/>
            </a:pPr>
            <a:r>
              <a:rPr lang="en-US" sz="1150" b="1" spc="250" kern="0" dirty="0">
                <a:solidFill>
                  <a:srgbClr val="B8512F"/>
                </a:solidFill>
                <a:latin typeface="Calibri" pitchFamily="34" charset="0"/>
                <a:ea typeface="Calibri" pitchFamily="34" charset="-122"/>
                <a:cs typeface="Calibri" pitchFamily="34" charset="-120"/>
              </a:rPr>
              <a:t>SECTION 02 • DATASET SPECIFICATIONS</a:t>
            </a:r>
            <a:endParaRPr lang="en-US" sz="1150" dirty="0"/>
          </a:p>
        </p:txBody>
      </p:sp>
      <p:sp>
        <p:nvSpPr>
          <p:cNvPr id="3" name="TTL5"/>
          <p:cNvSpPr txBox="1"/>
          <p:nvPr/>
        </p:nvSpPr>
        <p:spPr>
          <a:xfrm>
            <a:off x="548640" y="603504"/>
            <a:ext cx="11091672" cy="658368"/>
          </a:xfrm>
          <a:prstGeom prst="rect">
            <a:avLst/>
          </a:prstGeom>
          <a:noFill/>
          <a:ln/>
        </p:spPr>
        <p:txBody>
          <a:bodyPr wrap="square" lIns="0" tIns="0" rIns="0" bIns="0" rtlCol="0" anchor="ctr"/>
          <a:lstStyle/>
          <a:p>
            <a:pPr indent="0" marL="0">
              <a:buNone/>
            </a:pPr>
            <a:r>
              <a:rPr lang="en-US" sz="2700" b="1" dirty="0">
                <a:solidFill>
                  <a:srgbClr val="26221E"/>
                </a:solidFill>
                <a:latin typeface="Cambria" pitchFamily="34" charset="0"/>
                <a:ea typeface="Cambria" pitchFamily="34" charset="-122"/>
                <a:cs typeface="Cambria" pitchFamily="34" charset="-120"/>
              </a:rPr>
              <a:t>EuRoC MAV Benchmark: Real Drone Flight Parameters</a:t>
            </a:r>
            <a:endParaRPr lang="en-US" sz="2700" dirty="0"/>
          </a:p>
        </p:txBody>
      </p:sp>
      <p:sp>
        <p:nvSpPr>
          <p:cNvPr id="4" name="PG5"/>
          <p:cNvSpPr txBox="1"/>
          <p:nvPr/>
        </p:nvSpPr>
        <p:spPr>
          <a:xfrm>
            <a:off x="10881360" y="6473952"/>
            <a:ext cx="758952" cy="228600"/>
          </a:xfrm>
          <a:prstGeom prst="rect">
            <a:avLst/>
          </a:prstGeom>
          <a:noFill/>
          <a:ln/>
        </p:spPr>
        <p:txBody>
          <a:bodyPr wrap="square" lIns="0" tIns="0" rIns="0" bIns="0" rtlCol="0" anchor="t"/>
          <a:lstStyle/>
          <a:p>
            <a:pPr algn="r" indent="0" marL="0">
              <a:buNone/>
            </a:pPr>
            <a:r>
              <a:rPr lang="en-US" sz="1100" b="1" dirty="0">
                <a:solidFill>
                  <a:srgbClr val="6F675C"/>
                </a:solidFill>
                <a:latin typeface="Calibri" pitchFamily="34" charset="0"/>
                <a:ea typeface="Calibri" pitchFamily="34" charset="-122"/>
                <a:cs typeface="Calibri" pitchFamily="34" charset="-120"/>
              </a:rPr>
              <a:t>06</a:t>
            </a:r>
            <a:endParaRPr lang="en-US" sz="1100" dirty="0"/>
          </a:p>
        </p:txBody>
      </p:sp>
      <p:sp>
        <p:nvSpPr>
          <p:cNvPr id="5" name="RULE5"/>
          <p:cNvSpPr/>
          <p:nvPr/>
        </p:nvSpPr>
        <p:spPr>
          <a:xfrm>
            <a:off x="548640" y="1280160"/>
            <a:ext cx="822960" cy="41148"/>
          </a:xfrm>
          <a:prstGeom prst="rect">
            <a:avLst/>
          </a:prstGeom>
          <a:solidFill>
            <a:srgbClr val="B8512F"/>
          </a:solidFill>
          <a:ln w="12700">
            <a:solidFill>
              <a:srgbClr val="B8512F"/>
            </a:solidFill>
            <a:prstDash val="solid"/>
          </a:ln>
        </p:spPr>
      </p:sp>
      <p:sp>
        <p:nvSpPr>
          <p:cNvPr id="6" name="C5_12"/>
          <p:cNvSpPr/>
          <p:nvPr/>
        </p:nvSpPr>
        <p:spPr>
          <a:xfrm>
            <a:off x="548640" y="1554480"/>
            <a:ext cx="5394960" cy="2697480"/>
          </a:xfrm>
          <a:prstGeom prst="roundRect">
            <a:avLst>
              <a:gd name="adj" fmla="val 2373"/>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7" name="C5_12_a"/>
          <p:cNvSpPr/>
          <p:nvPr/>
        </p:nvSpPr>
        <p:spPr>
          <a:xfrm>
            <a:off x="548640" y="1700784"/>
            <a:ext cx="64008" cy="2404872"/>
          </a:xfrm>
          <a:prstGeom prst="rect">
            <a:avLst/>
          </a:prstGeom>
          <a:solidFill>
            <a:srgbClr val="B8512F"/>
          </a:solidFill>
          <a:ln w="12700">
            <a:solidFill>
              <a:srgbClr val="B8512F"/>
            </a:solidFill>
            <a:prstDash val="solid"/>
          </a:ln>
        </p:spPr>
      </p:sp>
      <p:sp>
        <p:nvSpPr>
          <p:cNvPr id="8" name="C5_12_h"/>
          <p:cNvSpPr txBox="1"/>
          <p:nvPr/>
        </p:nvSpPr>
        <p:spPr>
          <a:xfrm>
            <a:off x="822960" y="1737360"/>
            <a:ext cx="4937760" cy="292608"/>
          </a:xfrm>
          <a:prstGeom prst="rect">
            <a:avLst/>
          </a:prstGeom>
          <a:noFill/>
          <a:ln/>
        </p:spPr>
        <p:txBody>
          <a:bodyPr wrap="square" lIns="0" tIns="0" rIns="0" bIns="0" rtlCol="0" anchor="t"/>
          <a:lstStyle/>
          <a:p>
            <a:pPr indent="0" marL="0">
              <a:buNone/>
            </a:pPr>
            <a:r>
              <a:rPr lang="en-US" sz="1250" b="1" spc="150" kern="0" dirty="0">
                <a:solidFill>
                  <a:srgbClr val="B8512F"/>
                </a:solidFill>
                <a:latin typeface="Calibri" pitchFamily="34" charset="0"/>
                <a:ea typeface="Calibri" pitchFamily="34" charset="-122"/>
                <a:cs typeface="Calibri" pitchFamily="34" charset="-120"/>
              </a:rPr>
              <a:t>FLIGHT OVERVIEW</a:t>
            </a:r>
            <a:endParaRPr lang="en-US" sz="1250" dirty="0"/>
          </a:p>
        </p:txBody>
      </p:sp>
      <p:sp>
        <p:nvSpPr>
          <p:cNvPr id="9" name="C5_12_b"/>
          <p:cNvSpPr txBox="1"/>
          <p:nvPr/>
        </p:nvSpPr>
        <p:spPr>
          <a:xfrm>
            <a:off x="822960" y="2121408"/>
            <a:ext cx="4937760" cy="2020824"/>
          </a:xfrm>
          <a:prstGeom prst="rect">
            <a:avLst/>
          </a:prstGeom>
          <a:noFill/>
          <a:ln/>
        </p:spPr>
        <p:txBody>
          <a:bodyPr wrap="square" lIns="0" tIns="0" rIns="0" bIns="0" rtlCol="0" anchor="t"/>
          <a:lstStyle/>
          <a:p>
            <a:pPr indent="0" marL="0">
              <a:lnSpc>
                <a:spcPct val="105000"/>
              </a:lnSpc>
              <a:spcAft>
                <a:spcPts val="900"/>
              </a:spcAft>
              <a:buNone/>
            </a:pPr>
            <a:r>
              <a:rPr lang="en-US" sz="1550" dirty="0">
                <a:solidFill>
                  <a:srgbClr val="26221E"/>
                </a:solidFill>
                <a:latin typeface="Calibri" pitchFamily="34" charset="0"/>
                <a:ea typeface="Calibri" pitchFamily="34" charset="-122"/>
                <a:cs typeface="Calibri" pitchFamily="34" charset="-120"/>
              </a:rPr>
              <a:t>Platform: AscTec Firefly hexacopter in an industrial machine hall (30 m × 10 m × 5 m).</a:t>
            </a:r>
            <a:endParaRPr lang="en-US" sz="1550" dirty="0"/>
          </a:p>
          <a:p>
            <a:pPr indent="0" marL="0">
              <a:lnSpc>
                <a:spcPct val="105000"/>
              </a:lnSpc>
              <a:spcAft>
                <a:spcPts val="900"/>
              </a:spcAft>
              <a:buNone/>
            </a:pPr>
            <a:r>
              <a:rPr lang="en-US" sz="1550" dirty="0">
                <a:solidFill>
                  <a:srgbClr val="26221E"/>
                </a:solidFill>
                <a:latin typeface="Calibri" pitchFamily="34" charset="0"/>
                <a:ea typeface="Calibri" pitchFamily="34" charset="-122"/>
                <a:cs typeface="Calibri" pitchFamily="34" charset="-120"/>
              </a:rPr>
              <a:t>MH_01_easy: 184.1 s • 36,820 IMU rows • 81 m path • mean speed 0.44 m/s • peak 2.0 m/s.</a:t>
            </a:r>
            <a:endParaRPr lang="en-US" sz="1550" dirty="0"/>
          </a:p>
          <a:p>
            <a:pPr indent="0" marL="0">
              <a:lnSpc>
                <a:spcPct val="105000"/>
              </a:lnSpc>
              <a:spcAft>
                <a:spcPts val="900"/>
              </a:spcAft>
              <a:buNone/>
            </a:pPr>
            <a:r>
              <a:rPr lang="en-US" sz="1550" dirty="0">
                <a:solidFill>
                  <a:srgbClr val="26221E"/>
                </a:solidFill>
                <a:latin typeface="Calibri" pitchFamily="34" charset="0"/>
                <a:ea typeface="Calibri" pitchFamily="34" charset="-122"/>
                <a:cs typeface="Calibri" pitchFamily="34" charset="-120"/>
              </a:rPr>
              <a:t>MH_02_easy: 152.0 s • 30,400 IMU rows • 74 m path • mean speed 0.49 m/s • peak 1.2 m/s.</a:t>
            </a:r>
            <a:endParaRPr lang="en-US" sz="1550" dirty="0"/>
          </a:p>
        </p:txBody>
      </p:sp>
      <p:sp>
        <p:nvSpPr>
          <p:cNvPr id="10" name="IMG6"/>
          <p:cNvSpPr/>
          <p:nvPr/>
        </p:nvSpPr>
        <p:spPr>
          <a:xfrm>
            <a:off x="6126480" y="1554480"/>
            <a:ext cx="5513832" cy="2697480"/>
          </a:xfrm>
          <a:prstGeom prst="roundRect">
            <a:avLst>
              <a:gd name="adj" fmla="val 2373"/>
            </a:avLst>
          </a:prstGeom>
          <a:solidFill>
            <a:srgbClr val="FFFFFF"/>
          </a:solidFill>
          <a:ln w="9525">
            <a:solidFill>
              <a:srgbClr val="DED4C2"/>
            </a:solidFill>
            <a:prstDash val="solid"/>
          </a:ln>
          <a:effectLst>
            <a:outerShdw sx="100000" sy="100000" kx="0" ky="0" algn="bl" rotWithShape="0" blurRad="88900" dist="25400" dir="5400000">
              <a:srgbClr val="6B5A3C">
                <a:alpha val="14000"/>
              </a:srgbClr>
            </a:outerShdw>
          </a:effectLst>
        </p:spPr>
      </p:sp>
      <p:pic>
        <p:nvPicPr>
          <p:cNvPr id="11" name="IMG6_i" descr="Ground-truth speed of both flights over time">    </p:cNvPr>
          <p:cNvPicPr>
            <a:picLocks noChangeAspect="1"/>
          </p:cNvPicPr>
          <p:nvPr/>
        </p:nvPicPr>
        <p:blipFill>
          <a:blip r:embed="rId1"/>
          <a:stretch>
            <a:fillRect/>
          </a:stretch>
        </p:blipFill>
        <p:spPr>
          <a:xfrm>
            <a:off x="6254496" y="1851660"/>
            <a:ext cx="5257800" cy="2103120"/>
          </a:xfrm>
          <a:prstGeom prst="rect">
            <a:avLst/>
          </a:prstGeom>
        </p:spPr>
      </p:pic>
      <p:sp>
        <p:nvSpPr>
          <p:cNvPr id="12" name="C5_18"/>
          <p:cNvSpPr/>
          <p:nvPr/>
        </p:nvSpPr>
        <p:spPr>
          <a:xfrm>
            <a:off x="548640" y="4434840"/>
            <a:ext cx="11091672" cy="1783080"/>
          </a:xfrm>
          <a:prstGeom prst="roundRect">
            <a:avLst>
              <a:gd name="adj" fmla="val 3590"/>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13" name="C5_18_a"/>
          <p:cNvSpPr/>
          <p:nvPr/>
        </p:nvSpPr>
        <p:spPr>
          <a:xfrm>
            <a:off x="548640" y="4581144"/>
            <a:ext cx="64008" cy="1490472"/>
          </a:xfrm>
          <a:prstGeom prst="rect">
            <a:avLst/>
          </a:prstGeom>
          <a:solidFill>
            <a:srgbClr val="2E5A4C"/>
          </a:solidFill>
          <a:ln w="12700">
            <a:solidFill>
              <a:srgbClr val="2E5A4C"/>
            </a:solidFill>
            <a:prstDash val="solid"/>
          </a:ln>
        </p:spPr>
      </p:sp>
      <p:sp>
        <p:nvSpPr>
          <p:cNvPr id="14" name="C5_18_h"/>
          <p:cNvSpPr txBox="1"/>
          <p:nvPr/>
        </p:nvSpPr>
        <p:spPr>
          <a:xfrm>
            <a:off x="822960" y="4617720"/>
            <a:ext cx="10634472" cy="292608"/>
          </a:xfrm>
          <a:prstGeom prst="rect">
            <a:avLst/>
          </a:prstGeom>
          <a:noFill/>
          <a:ln/>
        </p:spPr>
        <p:txBody>
          <a:bodyPr wrap="square" lIns="0" tIns="0" rIns="0" bIns="0" rtlCol="0" anchor="t"/>
          <a:lstStyle/>
          <a:p>
            <a:pPr indent="0" marL="0">
              <a:buNone/>
            </a:pPr>
            <a:r>
              <a:rPr lang="en-US" sz="1250" b="1" spc="150" kern="0" dirty="0">
                <a:solidFill>
                  <a:srgbClr val="2E5A4C"/>
                </a:solidFill>
                <a:latin typeface="Calibri" pitchFamily="34" charset="0"/>
                <a:ea typeface="Calibri" pitchFamily="34" charset="-122"/>
                <a:cs typeface="Calibri" pitchFamily="34" charset="-120"/>
              </a:rPr>
              <a:t>DATA COMPLETENESS &amp; SENSOR STREAMS</a:t>
            </a:r>
            <a:endParaRPr lang="en-US" sz="1250" dirty="0"/>
          </a:p>
        </p:txBody>
      </p:sp>
      <p:sp>
        <p:nvSpPr>
          <p:cNvPr id="15" name="C5_18_b"/>
          <p:cNvSpPr txBox="1"/>
          <p:nvPr/>
        </p:nvSpPr>
        <p:spPr>
          <a:xfrm>
            <a:off x="822960" y="5001768"/>
            <a:ext cx="10634472" cy="1106424"/>
          </a:xfrm>
          <a:prstGeom prst="rect">
            <a:avLst/>
          </a:prstGeom>
          <a:noFill/>
          <a:ln/>
        </p:spPr>
        <p:txBody>
          <a:bodyPr wrap="square" lIns="0" tIns="0" rIns="0" bIns="0" rtlCol="0" anchor="t"/>
          <a:lstStyle/>
          <a:p>
            <a:pPr indent="0" marL="0">
              <a:lnSpc>
                <a:spcPct val="105000"/>
              </a:lnSpc>
              <a:spcAft>
                <a:spcPts val="700"/>
              </a:spcAft>
              <a:buNone/>
            </a:pPr>
            <a:r>
              <a:rPr lang="en-US" sz="1550" b="1" dirty="0">
                <a:solidFill>
                  <a:srgbClr val="26221E"/>
                </a:solidFill>
                <a:latin typeface="Calibri" pitchFamily="34" charset="0"/>
                <a:ea typeface="Calibri" pitchFamily="34" charset="-122"/>
                <a:cs typeface="Calibri" pitchFamily="34" charset="-120"/>
              </a:rPr>
              <a:t>Raw IMU (7 columns):</a:t>
            </a:r>
            <a:pPr indent="0" marL="0">
              <a:lnSpc>
                <a:spcPct val="105000"/>
              </a:lnSpc>
              <a:spcAft>
                <a:spcPts val="700"/>
              </a:spcAft>
              <a:buNone/>
            </a:pPr>
            <a:r>
              <a:rPr lang="en-US" sz="1550" dirty="0">
                <a:solidFill>
                  <a:srgbClr val="26221E"/>
                </a:solidFill>
                <a:latin typeface="Calibri" pitchFamily="34" charset="0"/>
                <a:ea typeface="Calibri" pitchFamily="34" charset="-122"/>
                <a:cs typeface="Calibri" pitchFamily="34" charset="-120"/>
              </a:rPr>
              <a:t> nanosecond timestamp, 3-axis gyroscope (rad/s), 3-axis accelerometer (m/s²).</a:t>
            </a:r>
            <a:endParaRPr lang="en-US" sz="1550" dirty="0"/>
          </a:p>
          <a:p>
            <a:pPr indent="0" marL="0">
              <a:lnSpc>
                <a:spcPct val="105000"/>
              </a:lnSpc>
              <a:spcAft>
                <a:spcPts val="700"/>
              </a:spcAft>
              <a:buNone/>
            </a:pPr>
            <a:r>
              <a:rPr lang="en-US" sz="1550" b="1" dirty="0">
                <a:solidFill>
                  <a:srgbClr val="26221E"/>
                </a:solidFill>
                <a:latin typeface="Calibri" pitchFamily="34" charset="0"/>
                <a:ea typeface="Calibri" pitchFamily="34" charset="-122"/>
                <a:cs typeface="Calibri" pitchFamily="34" charset="-120"/>
              </a:rPr>
              <a:t>Ground truth (17 columns):</a:t>
            </a:r>
            <a:pPr indent="0" marL="0">
              <a:lnSpc>
                <a:spcPct val="105000"/>
              </a:lnSpc>
              <a:spcAft>
                <a:spcPts val="700"/>
              </a:spcAft>
              <a:buNone/>
            </a:pPr>
            <a:r>
              <a:rPr lang="en-US" sz="1550" dirty="0">
                <a:solidFill>
                  <a:srgbClr val="26221E"/>
                </a:solidFill>
                <a:latin typeface="Calibri" pitchFamily="34" charset="0"/>
                <a:ea typeface="Calibri" pitchFamily="34" charset="-122"/>
                <a:cs typeface="Calibri" pitchFamily="34" charset="-120"/>
              </a:rPr>
              <a:t> timestamp, 3D position, orientation quaternion, velocity, and sensor biases.</a:t>
            </a:r>
            <a:endParaRPr lang="en-US" sz="1550" dirty="0"/>
          </a:p>
          <a:p>
            <a:pPr indent="0" marL="0">
              <a:lnSpc>
                <a:spcPct val="105000"/>
              </a:lnSpc>
              <a:spcAft>
                <a:spcPts val="700"/>
              </a:spcAft>
              <a:buNone/>
            </a:pPr>
            <a:r>
              <a:rPr lang="en-US" sz="1550" b="1" dirty="0">
                <a:solidFill>
                  <a:srgbClr val="26221E"/>
                </a:solidFill>
                <a:latin typeface="Calibri" pitchFamily="34" charset="0"/>
                <a:ea typeface="Calibri" pitchFamily="34" charset="-122"/>
                <a:cs typeface="Calibri" pitchFamily="34" charset="-120"/>
              </a:rPr>
              <a:t>Quality check:</a:t>
            </a:r>
            <a:pPr indent="0" marL="0">
              <a:lnSpc>
                <a:spcPct val="105000"/>
              </a:lnSpc>
              <a:spcAft>
                <a:spcPts val="700"/>
              </a:spcAft>
              <a:buNone/>
            </a:pPr>
            <a:r>
              <a:rPr lang="en-US" sz="1550" dirty="0">
                <a:solidFill>
                  <a:srgbClr val="26221E"/>
                </a:solidFill>
                <a:latin typeface="Calibri" pitchFamily="34" charset="0"/>
                <a:ea typeface="Calibri" pitchFamily="34" charset="-122"/>
                <a:cs typeface="Calibri" pitchFamily="34" charset="-120"/>
              </a:rPr>
              <a:t> exactly ZERO missing/NaN values. Sampling interval is 5.0 ms (200 Hz).</a:t>
            </a:r>
            <a:endParaRPr lang="en-US" sz="1550" dirty="0"/>
          </a:p>
        </p:txBody>
      </p:sp>
    </p:spTree>
  </p:cSld>
  <p:clrMapOvr>
    <a:masterClrMapping/>
  </p:clrMapOvr>
  <mc:AlternateContent xmlns:mc="http://schemas.openxmlformats.org/markup-compatibility/2006">
    <mc:Choice xmlns:p14="http://schemas.microsoft.com/office/powerpoint/2010/main" Requires="p14">
      <p:transition spd="slow" p14:dur="900">
        <p14:pan dir="r"/>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52" fill="hold">
                            <p:stCondLst>
                              <p:cond delay="0"/>
                            </p:stCondLst>
                            <p:childTnLst>
                              <p:par>
                                <p:cTn id="6" presetID="10" presetClass="entr" presetSubtype="0" fill="hold" nodeType="withEffect">
                                  <p:stCondLst>
                                    <p:cond delay="8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10" presetID="10" presetClass="entr" presetSubtype="0" fill="hold" nodeType="withEffect">
                                  <p:stCondLst>
                                    <p:cond delay="12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anim calcmode="lin" valueType="num">
                                      <p:cBhvr additive="base">
                                        <p:cTn id="9" dur="450" fill="hold"/>
                                        <p:tgtEl>
                                          <p:spTgt spid="3"/>
                                        </p:tgtEl>
                                        <p:attrNameLst>
                                          <p:attrName>ppt_y</p:attrName>
                                        </p:attrNameLst>
                                      </p:cBhvr>
                                      <p:tavLst>
                                        <p:tav tm="0">
                                          <p:val>
                                            <p:strVal val="#ppt_y+0.05"/>
                                          </p:val>
                                        </p:tav>
                                        <p:tav tm="100000">
                                          <p:val>
                                            <p:strVal val="#ppt_y"/>
                                          </p:val>
                                        </p:tav>
                                      </p:tavLst>
                                    </p:anim>
                                  </p:childTnLst>
                                </p:cTn>
                              </p:par>
                              <p:par>
                                <p:cTn id="13" presetID="22" presetClass="entr" presetSubtype="8" fill="hold"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450"/>
                                        <p:tgtEl>
                                          <p:spTgt spid="5"/>
                                        </p:tgtEl>
                                      </p:cBhvr>
                                    </p:animEffect>
                                  </p:childTnLst>
                                </p:cTn>
                              </p:par>
                              <p:par>
                                <p:cTn id="17" presetID="10" presetClass="entr" presetSubtype="0" fill="hold" nodeType="withEffect">
                                  <p:stCondLst>
                                    <p:cond delay="3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anim calcmode="lin" valueType="num">
                                      <p:cBhvr additive="base">
                                        <p:cTn id="16" dur="450" fill="hold"/>
                                        <p:tgtEl>
                                          <p:spTgt spid="6"/>
                                        </p:tgtEl>
                                        <p:attrNameLst>
                                          <p:attrName>ppt_y</p:attrName>
                                        </p:attrNameLst>
                                      </p:cBhvr>
                                      <p:tavLst>
                                        <p:tav tm="0">
                                          <p:val>
                                            <p:strVal val="#ppt_y+0.05"/>
                                          </p:val>
                                        </p:tav>
                                        <p:tav tm="100000">
                                          <p:val>
                                            <p:strVal val="#ppt_y"/>
                                          </p:val>
                                        </p:tav>
                                      </p:tavLst>
                                    </p:anim>
                                  </p:childTnLst>
                                </p:cTn>
                              </p:par>
                              <p:par>
                                <p:cTn id="21" presetID="10" presetClass="entr" presetSubtype="0" fill="hold" nodeType="withEffect">
                                  <p:stCondLst>
                                    <p:cond delay="3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anim calcmode="lin" valueType="num">
                                      <p:cBhvr additive="base">
                                        <p:cTn id="20" dur="450" fill="hold"/>
                                        <p:tgtEl>
                                          <p:spTgt spid="7"/>
                                        </p:tgtEl>
                                        <p:attrNameLst>
                                          <p:attrName>ppt_y</p:attrName>
                                        </p:attrNameLst>
                                      </p:cBhvr>
                                      <p:tavLst>
                                        <p:tav tm="0">
                                          <p:val>
                                            <p:strVal val="#ppt_y+0.05"/>
                                          </p:val>
                                        </p:tav>
                                        <p:tav tm="100000">
                                          <p:val>
                                            <p:strVal val="#ppt_y"/>
                                          </p:val>
                                        </p:tav>
                                      </p:tavLst>
                                    </p:anim>
                                  </p:childTnLst>
                                </p:cTn>
                              </p:par>
                              <p:par>
                                <p:cTn id="25" presetID="10" presetClass="entr" presetSubtype="0" fill="hold" nodeType="withEffect">
                                  <p:stCondLst>
                                    <p:cond delay="30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50"/>
                                        <p:tgtEl>
                                          <p:spTgt spid="8"/>
                                        </p:tgtEl>
                                      </p:cBhvr>
                                    </p:animEffect>
                                    <p:anim calcmode="lin" valueType="num">
                                      <p:cBhvr additive="base">
                                        <p:cTn id="24" dur="450" fill="hold"/>
                                        <p:tgtEl>
                                          <p:spTgt spid="8"/>
                                        </p:tgtEl>
                                        <p:attrNameLst>
                                          <p:attrName>ppt_y</p:attrName>
                                        </p:attrNameLst>
                                      </p:cBhvr>
                                      <p:tavLst>
                                        <p:tav tm="0">
                                          <p:val>
                                            <p:strVal val="#ppt_y+0.05"/>
                                          </p:val>
                                        </p:tav>
                                        <p:tav tm="100000">
                                          <p:val>
                                            <p:strVal val="#ppt_y"/>
                                          </p:val>
                                        </p:tav>
                                      </p:tavLst>
                                    </p:anim>
                                  </p:childTnLst>
                                </p:cTn>
                              </p:par>
                              <p:par>
                                <p:cTn id="29" presetID="10" presetClass="entr" presetSubtype="0" fill="hold" nodeType="withEffect">
                                  <p:stCondLst>
                                    <p:cond delay="3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anim calcmode="lin" valueType="num">
                                      <p:cBhvr additive="base">
                                        <p:cTn id="28" dur="450" fill="hold"/>
                                        <p:tgtEl>
                                          <p:spTgt spid="9"/>
                                        </p:tgtEl>
                                        <p:attrNameLst>
                                          <p:attrName>ppt_y</p:attrName>
                                        </p:attrNameLst>
                                      </p:cBhvr>
                                      <p:tavLst>
                                        <p:tav tm="0">
                                          <p:val>
                                            <p:strVal val="#ppt_y+0.05"/>
                                          </p:val>
                                        </p:tav>
                                        <p:tav tm="100000">
                                          <p:val>
                                            <p:strVal val="#ppt_y"/>
                                          </p:val>
                                        </p:tav>
                                      </p:tavLst>
                                    </p:anim>
                                  </p:childTnLst>
                                </p:cTn>
                              </p:par>
                              <p:par>
                                <p:cTn id="32" presetID="10" presetClass="entr" presetSubtype="0" fill="hold" nodeType="withEffect">
                                  <p:stCondLst>
                                    <p:cond delay="45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childTnLst>
                                </p:cTn>
                              </p:par>
                              <p:par>
                                <p:cTn id="35" presetID="10" presetClass="entr" presetSubtype="0" fill="hold" nodeType="withEffect">
                                  <p:stCondLst>
                                    <p:cond delay="45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50"/>
                                        <p:tgtEl>
                                          <p:spTgt spid="11"/>
                                        </p:tgtEl>
                                      </p:cBhvr>
                                    </p:animEffect>
                                  </p:childTnLst>
                                </p:cTn>
                              </p:par>
                              <p:par>
                                <p:cTn id="39" presetID="10" presetClass="entr" presetSubtype="0" fill="hold" nodeType="withEffect">
                                  <p:stCondLst>
                                    <p:cond delay="65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50"/>
                                        <p:tgtEl>
                                          <p:spTgt spid="12"/>
                                        </p:tgtEl>
                                      </p:cBhvr>
                                    </p:animEffect>
                                    <p:anim calcmode="lin" valueType="num">
                                      <p:cBhvr additive="base">
                                        <p:cTn id="38" dur="450" fill="hold"/>
                                        <p:tgtEl>
                                          <p:spTgt spid="12"/>
                                        </p:tgtEl>
                                        <p:attrNameLst>
                                          <p:attrName>ppt_y</p:attrName>
                                        </p:attrNameLst>
                                      </p:cBhvr>
                                      <p:tavLst>
                                        <p:tav tm="0">
                                          <p:val>
                                            <p:strVal val="#ppt_y+0.05"/>
                                          </p:val>
                                        </p:tav>
                                        <p:tav tm="100000">
                                          <p:val>
                                            <p:strVal val="#ppt_y"/>
                                          </p:val>
                                        </p:tav>
                                      </p:tavLst>
                                    </p:anim>
                                  </p:childTnLst>
                                </p:cTn>
                              </p:par>
                              <p:par>
                                <p:cTn id="43" presetID="10" presetClass="entr" presetSubtype="0" fill="hold" nodeType="withEffect">
                                  <p:stCondLst>
                                    <p:cond delay="65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450"/>
                                        <p:tgtEl>
                                          <p:spTgt spid="13"/>
                                        </p:tgtEl>
                                      </p:cBhvr>
                                    </p:animEffect>
                                    <p:anim calcmode="lin" valueType="num">
                                      <p:cBhvr additive="base">
                                        <p:cTn id="42" dur="450" fill="hold"/>
                                        <p:tgtEl>
                                          <p:spTgt spid="13"/>
                                        </p:tgtEl>
                                        <p:attrNameLst>
                                          <p:attrName>ppt_y</p:attrName>
                                        </p:attrNameLst>
                                      </p:cBhvr>
                                      <p:tavLst>
                                        <p:tav tm="0">
                                          <p:val>
                                            <p:strVal val="#ppt_y+0.05"/>
                                          </p:val>
                                        </p:tav>
                                        <p:tav tm="100000">
                                          <p:val>
                                            <p:strVal val="#ppt_y"/>
                                          </p:val>
                                        </p:tav>
                                      </p:tavLst>
                                    </p:anim>
                                  </p:childTnLst>
                                </p:cTn>
                              </p:par>
                              <p:par>
                                <p:cTn id="47" presetID="10" presetClass="entr" presetSubtype="0" fill="hold" nodeType="withEffect">
                                  <p:stCondLst>
                                    <p:cond delay="65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450"/>
                                        <p:tgtEl>
                                          <p:spTgt spid="14"/>
                                        </p:tgtEl>
                                      </p:cBhvr>
                                    </p:animEffect>
                                    <p:anim calcmode="lin" valueType="num">
                                      <p:cBhvr additive="base">
                                        <p:cTn id="46" dur="450" fill="hold"/>
                                        <p:tgtEl>
                                          <p:spTgt spid="14"/>
                                        </p:tgtEl>
                                        <p:attrNameLst>
                                          <p:attrName>ppt_y</p:attrName>
                                        </p:attrNameLst>
                                      </p:cBhvr>
                                      <p:tavLst>
                                        <p:tav tm="0">
                                          <p:val>
                                            <p:strVal val="#ppt_y+0.05"/>
                                          </p:val>
                                        </p:tav>
                                        <p:tav tm="100000">
                                          <p:val>
                                            <p:strVal val="#ppt_y"/>
                                          </p:val>
                                        </p:tav>
                                      </p:tavLst>
                                    </p:anim>
                                  </p:childTnLst>
                                </p:cTn>
                              </p:par>
                              <p:par>
                                <p:cTn id="51" presetID="10" presetClass="entr" presetSubtype="0" fill="hold" nodeType="withEffect">
                                  <p:stCondLst>
                                    <p:cond delay="65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450"/>
                                        <p:tgtEl>
                                          <p:spTgt spid="15"/>
                                        </p:tgtEl>
                                      </p:cBhvr>
                                    </p:animEffect>
                                    <p:anim calcmode="lin" valueType="num">
                                      <p:cBhvr additive="base">
                                        <p:cTn id="50" dur="450" fill="hold"/>
                                        <p:tgtEl>
                                          <p:spTgt spid="15"/>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6"/>
          <p:cNvSpPr txBox="1"/>
          <p:nvPr/>
        </p:nvSpPr>
        <p:spPr>
          <a:xfrm>
            <a:off x="548640" y="310896"/>
            <a:ext cx="9144000" cy="256032"/>
          </a:xfrm>
          <a:prstGeom prst="rect">
            <a:avLst/>
          </a:prstGeom>
          <a:noFill/>
          <a:ln/>
        </p:spPr>
        <p:txBody>
          <a:bodyPr wrap="square" lIns="0" tIns="0" rIns="0" bIns="0" rtlCol="0" anchor="t"/>
          <a:lstStyle/>
          <a:p>
            <a:pPr indent="0" marL="0">
              <a:buNone/>
            </a:pPr>
            <a:r>
              <a:rPr lang="en-US" sz="1150" b="1" spc="250" kern="0" dirty="0">
                <a:solidFill>
                  <a:srgbClr val="B8512F"/>
                </a:solidFill>
                <a:latin typeface="Calibri" pitchFamily="34" charset="0"/>
                <a:ea typeface="Calibri" pitchFamily="34" charset="-122"/>
                <a:cs typeface="Calibri" pitchFamily="34" charset="-120"/>
              </a:rPr>
              <a:t>SECTION 02 • PREPROCESSING IMPLEMENTATION</a:t>
            </a:r>
            <a:endParaRPr lang="en-US" sz="1150" dirty="0"/>
          </a:p>
        </p:txBody>
      </p:sp>
      <p:sp>
        <p:nvSpPr>
          <p:cNvPr id="3" name="TTL6"/>
          <p:cNvSpPr txBox="1"/>
          <p:nvPr/>
        </p:nvSpPr>
        <p:spPr>
          <a:xfrm>
            <a:off x="548640" y="603504"/>
            <a:ext cx="11091672" cy="658368"/>
          </a:xfrm>
          <a:prstGeom prst="rect">
            <a:avLst/>
          </a:prstGeom>
          <a:noFill/>
          <a:ln/>
        </p:spPr>
        <p:txBody>
          <a:bodyPr wrap="square" lIns="0" tIns="0" rIns="0" bIns="0" rtlCol="0" anchor="ctr"/>
          <a:lstStyle/>
          <a:p>
            <a:pPr indent="0" marL="0">
              <a:buNone/>
            </a:pPr>
            <a:r>
              <a:rPr lang="en-US" sz="2700" b="1" dirty="0">
                <a:solidFill>
                  <a:srgbClr val="26221E"/>
                </a:solidFill>
                <a:latin typeface="Cambria" pitchFamily="34" charset="0"/>
                <a:ea typeface="Cambria" pitchFamily="34" charset="-122"/>
                <a:cs typeface="Cambria" pitchFamily="34" charset="-120"/>
              </a:rPr>
              <a:t>The 6 Core Preprocessing Operations Explained</a:t>
            </a:r>
            <a:endParaRPr lang="en-US" sz="2700" dirty="0"/>
          </a:p>
        </p:txBody>
      </p:sp>
      <p:sp>
        <p:nvSpPr>
          <p:cNvPr id="4" name="PG6"/>
          <p:cNvSpPr txBox="1"/>
          <p:nvPr/>
        </p:nvSpPr>
        <p:spPr>
          <a:xfrm>
            <a:off x="10881360" y="6473952"/>
            <a:ext cx="758952" cy="228600"/>
          </a:xfrm>
          <a:prstGeom prst="rect">
            <a:avLst/>
          </a:prstGeom>
          <a:noFill/>
          <a:ln/>
        </p:spPr>
        <p:txBody>
          <a:bodyPr wrap="square" lIns="0" tIns="0" rIns="0" bIns="0" rtlCol="0" anchor="t"/>
          <a:lstStyle/>
          <a:p>
            <a:pPr algn="r" indent="0" marL="0">
              <a:buNone/>
            </a:pPr>
            <a:r>
              <a:rPr lang="en-US" sz="1100" b="1" dirty="0">
                <a:solidFill>
                  <a:srgbClr val="6F675C"/>
                </a:solidFill>
                <a:latin typeface="Calibri" pitchFamily="34" charset="0"/>
                <a:ea typeface="Calibri" pitchFamily="34" charset="-122"/>
                <a:cs typeface="Calibri" pitchFamily="34" charset="-120"/>
              </a:rPr>
              <a:t>07</a:t>
            </a:r>
            <a:endParaRPr lang="en-US" sz="1100" dirty="0"/>
          </a:p>
        </p:txBody>
      </p:sp>
      <p:sp>
        <p:nvSpPr>
          <p:cNvPr id="5" name="RULE6"/>
          <p:cNvSpPr/>
          <p:nvPr/>
        </p:nvSpPr>
        <p:spPr>
          <a:xfrm>
            <a:off x="548640" y="1280160"/>
            <a:ext cx="822960" cy="41148"/>
          </a:xfrm>
          <a:prstGeom prst="rect">
            <a:avLst/>
          </a:prstGeom>
          <a:solidFill>
            <a:srgbClr val="B8512F"/>
          </a:solidFill>
          <a:ln w="12700">
            <a:solidFill>
              <a:srgbClr val="B8512F"/>
            </a:solidFill>
            <a:prstDash val="solid"/>
          </a:ln>
        </p:spPr>
      </p:sp>
      <p:sp>
        <p:nvSpPr>
          <p:cNvPr id="6" name="C6_k0"/>
          <p:cNvSpPr/>
          <p:nvPr/>
        </p:nvSpPr>
        <p:spPr>
          <a:xfrm>
            <a:off x="548640" y="1554480"/>
            <a:ext cx="3639312" cy="2286000"/>
          </a:xfrm>
          <a:prstGeom prst="roundRect">
            <a:avLst>
              <a:gd name="adj" fmla="val 2800"/>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7" name="C6_k0_a"/>
          <p:cNvSpPr/>
          <p:nvPr/>
        </p:nvSpPr>
        <p:spPr>
          <a:xfrm>
            <a:off x="548640" y="1700784"/>
            <a:ext cx="64008" cy="1993392"/>
          </a:xfrm>
          <a:prstGeom prst="rect">
            <a:avLst/>
          </a:prstGeom>
          <a:solidFill>
            <a:srgbClr val="B8512F"/>
          </a:solidFill>
          <a:ln w="12700">
            <a:solidFill>
              <a:srgbClr val="B8512F"/>
            </a:solidFill>
            <a:prstDash val="solid"/>
          </a:ln>
        </p:spPr>
      </p:sp>
      <p:sp>
        <p:nvSpPr>
          <p:cNvPr id="8" name="C6_k0_h"/>
          <p:cNvSpPr txBox="1"/>
          <p:nvPr/>
        </p:nvSpPr>
        <p:spPr>
          <a:xfrm>
            <a:off x="822960" y="1737360"/>
            <a:ext cx="3182112" cy="292608"/>
          </a:xfrm>
          <a:prstGeom prst="rect">
            <a:avLst/>
          </a:prstGeom>
          <a:noFill/>
          <a:ln/>
        </p:spPr>
        <p:txBody>
          <a:bodyPr wrap="square" lIns="0" tIns="0" rIns="0" bIns="0" rtlCol="0" anchor="t"/>
          <a:lstStyle/>
          <a:p>
            <a:pPr indent="0" marL="0">
              <a:buNone/>
            </a:pPr>
            <a:r>
              <a:rPr lang="en-US" sz="1300" b="1" spc="150" kern="0" dirty="0">
                <a:solidFill>
                  <a:srgbClr val="B8512F"/>
                </a:solidFill>
                <a:latin typeface="Calibri" pitchFamily="34" charset="0"/>
                <a:ea typeface="Calibri" pitchFamily="34" charset="-122"/>
                <a:cs typeface="Calibri" pitchFamily="34" charset="-120"/>
              </a:rPr>
              <a:t>1 • CLEANING &amp; UNITS</a:t>
            </a:r>
            <a:endParaRPr lang="en-US" sz="1300" dirty="0"/>
          </a:p>
        </p:txBody>
      </p:sp>
      <p:sp>
        <p:nvSpPr>
          <p:cNvPr id="9" name="C6_k0_b"/>
          <p:cNvSpPr txBox="1"/>
          <p:nvPr/>
        </p:nvSpPr>
        <p:spPr>
          <a:xfrm>
            <a:off x="822960" y="2121408"/>
            <a:ext cx="3182112" cy="1609344"/>
          </a:xfrm>
          <a:prstGeom prst="rect">
            <a:avLst/>
          </a:prstGeom>
          <a:noFill/>
          <a:ln/>
        </p:spPr>
        <p:txBody>
          <a:bodyPr wrap="square" lIns="0" tIns="0" rIns="0" bIns="0" rtlCol="0" anchor="t"/>
          <a:lstStyle/>
          <a:p>
            <a:pPr indent="0" marL="0">
              <a:lnSpc>
                <a:spcPct val="105000"/>
              </a:lnSpc>
              <a:spcAft>
                <a:spcPts val="700"/>
              </a:spcAft>
              <a:buNone/>
            </a:pPr>
            <a:r>
              <a:rPr lang="en-US" sz="1650" dirty="0">
                <a:solidFill>
                  <a:srgbClr val="26221E"/>
                </a:solidFill>
                <a:latin typeface="Calibri" pitchFamily="34" charset="0"/>
                <a:ea typeface="Calibri" pitchFamily="34" charset="-122"/>
                <a:cs typeface="Calibri" pitchFamily="34" charset="-120"/>
              </a:rPr>
              <a:t>Standardized headers to gx, gy, gz, ax, ay, az; confirmed SI units (rad/s, m/s²).</a:t>
            </a:r>
            <a:endParaRPr lang="en-US" sz="1650" dirty="0"/>
          </a:p>
        </p:txBody>
      </p:sp>
      <p:sp>
        <p:nvSpPr>
          <p:cNvPr id="10" name="C6_k1"/>
          <p:cNvSpPr/>
          <p:nvPr/>
        </p:nvSpPr>
        <p:spPr>
          <a:xfrm>
            <a:off x="4270248" y="1554480"/>
            <a:ext cx="3639312" cy="2286000"/>
          </a:xfrm>
          <a:prstGeom prst="roundRect">
            <a:avLst>
              <a:gd name="adj" fmla="val 2800"/>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11" name="C6_k1_a"/>
          <p:cNvSpPr/>
          <p:nvPr/>
        </p:nvSpPr>
        <p:spPr>
          <a:xfrm>
            <a:off x="4270248" y="1700784"/>
            <a:ext cx="64008" cy="1993392"/>
          </a:xfrm>
          <a:prstGeom prst="rect">
            <a:avLst/>
          </a:prstGeom>
          <a:solidFill>
            <a:srgbClr val="2E5A4C"/>
          </a:solidFill>
          <a:ln w="12700">
            <a:solidFill>
              <a:srgbClr val="2E5A4C"/>
            </a:solidFill>
            <a:prstDash val="solid"/>
          </a:ln>
        </p:spPr>
      </p:sp>
      <p:sp>
        <p:nvSpPr>
          <p:cNvPr id="12" name="C6_k1_h"/>
          <p:cNvSpPr txBox="1"/>
          <p:nvPr/>
        </p:nvSpPr>
        <p:spPr>
          <a:xfrm>
            <a:off x="4544568" y="1737360"/>
            <a:ext cx="3182112" cy="292608"/>
          </a:xfrm>
          <a:prstGeom prst="rect">
            <a:avLst/>
          </a:prstGeom>
          <a:noFill/>
          <a:ln/>
        </p:spPr>
        <p:txBody>
          <a:bodyPr wrap="square" lIns="0" tIns="0" rIns="0" bIns="0" rtlCol="0" anchor="t"/>
          <a:lstStyle/>
          <a:p>
            <a:pPr indent="0" marL="0">
              <a:buNone/>
            </a:pPr>
            <a:r>
              <a:rPr lang="en-US" sz="1300" b="1" spc="150" kern="0" dirty="0">
                <a:solidFill>
                  <a:srgbClr val="2E5A4C"/>
                </a:solidFill>
                <a:latin typeface="Calibri" pitchFamily="34" charset="0"/>
                <a:ea typeface="Calibri" pitchFamily="34" charset="-122"/>
                <a:cs typeface="Calibri" pitchFamily="34" charset="-120"/>
              </a:rPr>
              <a:t>2 • TIME SYNCHRONIZATION</a:t>
            </a:r>
            <a:endParaRPr lang="en-US" sz="1300" dirty="0"/>
          </a:p>
        </p:txBody>
      </p:sp>
      <p:sp>
        <p:nvSpPr>
          <p:cNvPr id="13" name="C6_k1_b"/>
          <p:cNvSpPr txBox="1"/>
          <p:nvPr/>
        </p:nvSpPr>
        <p:spPr>
          <a:xfrm>
            <a:off x="4544568" y="2121408"/>
            <a:ext cx="3182112" cy="1609344"/>
          </a:xfrm>
          <a:prstGeom prst="rect">
            <a:avLst/>
          </a:prstGeom>
          <a:noFill/>
          <a:ln/>
        </p:spPr>
        <p:txBody>
          <a:bodyPr wrap="square" lIns="0" tIns="0" rIns="0" bIns="0" rtlCol="0" anchor="t"/>
          <a:lstStyle/>
          <a:p>
            <a:pPr indent="0" marL="0">
              <a:lnSpc>
                <a:spcPct val="105000"/>
              </a:lnSpc>
              <a:spcAft>
                <a:spcPts val="700"/>
              </a:spcAft>
              <a:buNone/>
            </a:pPr>
            <a:r>
              <a:rPr lang="en-US" sz="1650" dirty="0">
                <a:solidFill>
                  <a:srgbClr val="26221E"/>
                </a:solidFill>
                <a:latin typeface="Calibri" pitchFamily="34" charset="0"/>
                <a:ea typeface="Calibri" pitchFamily="34" charset="-122"/>
                <a:cs typeface="Calibri" pitchFamily="34" charset="-120"/>
              </a:rPr>
              <a:t>Nearest timestamp within 20 ms. Dropped 1.17% (MH_01) and 1.32% (MH_02), only at entry/exit; zero mid-flight drops.</a:t>
            </a:r>
            <a:endParaRPr lang="en-US" sz="1650" dirty="0"/>
          </a:p>
        </p:txBody>
      </p:sp>
      <p:sp>
        <p:nvSpPr>
          <p:cNvPr id="14" name="C6_k2"/>
          <p:cNvSpPr/>
          <p:nvPr/>
        </p:nvSpPr>
        <p:spPr>
          <a:xfrm>
            <a:off x="7991856" y="1554480"/>
            <a:ext cx="3639312" cy="2286000"/>
          </a:xfrm>
          <a:prstGeom prst="roundRect">
            <a:avLst>
              <a:gd name="adj" fmla="val 2800"/>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15" name="C6_k2_a"/>
          <p:cNvSpPr/>
          <p:nvPr/>
        </p:nvSpPr>
        <p:spPr>
          <a:xfrm>
            <a:off x="7991856" y="1700784"/>
            <a:ext cx="64008" cy="1993392"/>
          </a:xfrm>
          <a:prstGeom prst="rect">
            <a:avLst/>
          </a:prstGeom>
          <a:solidFill>
            <a:srgbClr val="B07A12"/>
          </a:solidFill>
          <a:ln w="12700">
            <a:solidFill>
              <a:srgbClr val="B07A12"/>
            </a:solidFill>
            <a:prstDash val="solid"/>
          </a:ln>
        </p:spPr>
      </p:sp>
      <p:sp>
        <p:nvSpPr>
          <p:cNvPr id="16" name="C6_k2_h"/>
          <p:cNvSpPr txBox="1"/>
          <p:nvPr/>
        </p:nvSpPr>
        <p:spPr>
          <a:xfrm>
            <a:off x="8266176" y="1737360"/>
            <a:ext cx="3182112" cy="292608"/>
          </a:xfrm>
          <a:prstGeom prst="rect">
            <a:avLst/>
          </a:prstGeom>
          <a:noFill/>
          <a:ln/>
        </p:spPr>
        <p:txBody>
          <a:bodyPr wrap="square" lIns="0" tIns="0" rIns="0" bIns="0" rtlCol="0" anchor="t"/>
          <a:lstStyle/>
          <a:p>
            <a:pPr indent="0" marL="0">
              <a:buNone/>
            </a:pPr>
            <a:r>
              <a:rPr lang="en-US" sz="1300" b="1" spc="150" kern="0" dirty="0">
                <a:solidFill>
                  <a:srgbClr val="B07A12"/>
                </a:solidFill>
                <a:latin typeface="Calibri" pitchFamily="34" charset="0"/>
                <a:ea typeface="Calibri" pitchFamily="34" charset="-122"/>
                <a:cs typeface="Calibri" pitchFamily="34" charset="-120"/>
              </a:rPr>
              <a:t>3 • COORDINATE PROBE</a:t>
            </a:r>
            <a:endParaRPr lang="en-US" sz="1300" dirty="0"/>
          </a:p>
        </p:txBody>
      </p:sp>
      <p:sp>
        <p:nvSpPr>
          <p:cNvPr id="17" name="C6_k2_b"/>
          <p:cNvSpPr txBox="1"/>
          <p:nvPr/>
        </p:nvSpPr>
        <p:spPr>
          <a:xfrm>
            <a:off x="8266176" y="2121408"/>
            <a:ext cx="3182112" cy="1609344"/>
          </a:xfrm>
          <a:prstGeom prst="rect">
            <a:avLst/>
          </a:prstGeom>
          <a:noFill/>
          <a:ln/>
        </p:spPr>
        <p:txBody>
          <a:bodyPr wrap="square" lIns="0" tIns="0" rIns="0" bIns="0" rtlCol="0" anchor="t"/>
          <a:lstStyle/>
          <a:p>
            <a:pPr indent="0" marL="0">
              <a:lnSpc>
                <a:spcPct val="105000"/>
              </a:lnSpc>
              <a:spcAft>
                <a:spcPts val="700"/>
              </a:spcAft>
              <a:buNone/>
            </a:pPr>
            <a:r>
              <a:rPr lang="en-US" sz="1650" dirty="0">
                <a:solidFill>
                  <a:srgbClr val="26221E"/>
                </a:solidFill>
                <a:latin typeface="Calibri" pitchFamily="34" charset="0"/>
                <a:ea typeface="Calibri" pitchFamily="34" charset="-122"/>
                <a:cs typeface="Calibri" pitchFamily="34" charset="-120"/>
              </a:rPr>
              <a:t>Tested 4 frame/gravity sign combinations on 0.25 s. Correct g = −9.81 m/s² and body-to-world rotation gave 0.017 m probe error vs 0.27–0.63 m wrong frames.</a:t>
            </a:r>
            <a:endParaRPr lang="en-US" sz="1650" dirty="0"/>
          </a:p>
        </p:txBody>
      </p:sp>
      <p:sp>
        <p:nvSpPr>
          <p:cNvPr id="18" name="C6_k3"/>
          <p:cNvSpPr/>
          <p:nvPr/>
        </p:nvSpPr>
        <p:spPr>
          <a:xfrm>
            <a:off x="548640" y="3950208"/>
            <a:ext cx="3639312" cy="2286000"/>
          </a:xfrm>
          <a:prstGeom prst="roundRect">
            <a:avLst>
              <a:gd name="adj" fmla="val 2800"/>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19" name="C6_k3_a"/>
          <p:cNvSpPr/>
          <p:nvPr/>
        </p:nvSpPr>
        <p:spPr>
          <a:xfrm>
            <a:off x="548640" y="4096512"/>
            <a:ext cx="64008" cy="1993392"/>
          </a:xfrm>
          <a:prstGeom prst="rect">
            <a:avLst/>
          </a:prstGeom>
          <a:solidFill>
            <a:srgbClr val="7A4A66"/>
          </a:solidFill>
          <a:ln w="12700">
            <a:solidFill>
              <a:srgbClr val="7A4A66"/>
            </a:solidFill>
            <a:prstDash val="solid"/>
          </a:ln>
        </p:spPr>
      </p:sp>
      <p:sp>
        <p:nvSpPr>
          <p:cNvPr id="20" name="C6_k3_h"/>
          <p:cNvSpPr txBox="1"/>
          <p:nvPr/>
        </p:nvSpPr>
        <p:spPr>
          <a:xfrm>
            <a:off x="822960" y="4133088"/>
            <a:ext cx="3182112" cy="292608"/>
          </a:xfrm>
          <a:prstGeom prst="rect">
            <a:avLst/>
          </a:prstGeom>
          <a:noFill/>
          <a:ln/>
        </p:spPr>
        <p:txBody>
          <a:bodyPr wrap="square" lIns="0" tIns="0" rIns="0" bIns="0" rtlCol="0" anchor="t"/>
          <a:lstStyle/>
          <a:p>
            <a:pPr indent="0" marL="0">
              <a:buNone/>
            </a:pPr>
            <a:r>
              <a:rPr lang="en-US" sz="1300" b="1" spc="150" kern="0" dirty="0">
                <a:solidFill>
                  <a:srgbClr val="7A4A66"/>
                </a:solidFill>
                <a:latin typeface="Calibri" pitchFamily="34" charset="0"/>
                <a:ea typeface="Calibri" pitchFamily="34" charset="-122"/>
                <a:cs typeface="Calibri" pitchFamily="34" charset="-120"/>
              </a:rPr>
              <a:t>4 • SLIDING WINDOWS</a:t>
            </a:r>
            <a:endParaRPr lang="en-US" sz="1300" dirty="0"/>
          </a:p>
        </p:txBody>
      </p:sp>
      <p:sp>
        <p:nvSpPr>
          <p:cNvPr id="21" name="C6_k3_b"/>
          <p:cNvSpPr txBox="1"/>
          <p:nvPr/>
        </p:nvSpPr>
        <p:spPr>
          <a:xfrm>
            <a:off x="822960" y="4517136"/>
            <a:ext cx="3182112" cy="1609344"/>
          </a:xfrm>
          <a:prstGeom prst="rect">
            <a:avLst/>
          </a:prstGeom>
          <a:noFill/>
          <a:ln/>
        </p:spPr>
        <p:txBody>
          <a:bodyPr wrap="square" lIns="0" tIns="0" rIns="0" bIns="0" rtlCol="0" anchor="t"/>
          <a:lstStyle/>
          <a:p>
            <a:pPr indent="0" marL="0">
              <a:lnSpc>
                <a:spcPct val="105000"/>
              </a:lnSpc>
              <a:spcAft>
                <a:spcPts val="700"/>
              </a:spcAft>
              <a:buNone/>
            </a:pPr>
            <a:r>
              <a:rPr lang="en-US" sz="1650" dirty="0">
                <a:solidFill>
                  <a:srgbClr val="26221E"/>
                </a:solidFill>
                <a:latin typeface="Calibri" pitchFamily="34" charset="0"/>
                <a:ea typeface="Calibri" pitchFamily="34" charset="-122"/>
                <a:cs typeface="Calibri" pitchFamily="34" charset="-120"/>
              </a:rPr>
              <a:t>2.0 s windows (400 samples), advancing 0.25 s (50 samples); 1,312 training windows total.</a:t>
            </a:r>
            <a:endParaRPr lang="en-US" sz="1650" dirty="0"/>
          </a:p>
        </p:txBody>
      </p:sp>
      <p:sp>
        <p:nvSpPr>
          <p:cNvPr id="22" name="C6_k4"/>
          <p:cNvSpPr/>
          <p:nvPr/>
        </p:nvSpPr>
        <p:spPr>
          <a:xfrm>
            <a:off x="4270248" y="3950208"/>
            <a:ext cx="3639312" cy="2286000"/>
          </a:xfrm>
          <a:prstGeom prst="roundRect">
            <a:avLst>
              <a:gd name="adj" fmla="val 2800"/>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23" name="C6_k4_a"/>
          <p:cNvSpPr/>
          <p:nvPr/>
        </p:nvSpPr>
        <p:spPr>
          <a:xfrm>
            <a:off x="4270248" y="4096512"/>
            <a:ext cx="64008" cy="1993392"/>
          </a:xfrm>
          <a:prstGeom prst="rect">
            <a:avLst/>
          </a:prstGeom>
          <a:solidFill>
            <a:srgbClr val="B8512F"/>
          </a:solidFill>
          <a:ln w="12700">
            <a:solidFill>
              <a:srgbClr val="B8512F"/>
            </a:solidFill>
            <a:prstDash val="solid"/>
          </a:ln>
        </p:spPr>
      </p:sp>
      <p:sp>
        <p:nvSpPr>
          <p:cNvPr id="24" name="C6_k4_h"/>
          <p:cNvSpPr txBox="1"/>
          <p:nvPr/>
        </p:nvSpPr>
        <p:spPr>
          <a:xfrm>
            <a:off x="4544568" y="4133088"/>
            <a:ext cx="3182112" cy="292608"/>
          </a:xfrm>
          <a:prstGeom prst="rect">
            <a:avLst/>
          </a:prstGeom>
          <a:noFill/>
          <a:ln/>
        </p:spPr>
        <p:txBody>
          <a:bodyPr wrap="square" lIns="0" tIns="0" rIns="0" bIns="0" rtlCol="0" anchor="t"/>
          <a:lstStyle/>
          <a:p>
            <a:pPr indent="0" marL="0">
              <a:buNone/>
            </a:pPr>
            <a:r>
              <a:rPr lang="en-US" sz="1300" b="1" spc="150" kern="0" dirty="0">
                <a:solidFill>
                  <a:srgbClr val="B8512F"/>
                </a:solidFill>
                <a:latin typeface="Calibri" pitchFamily="34" charset="0"/>
                <a:ea typeface="Calibri" pitchFamily="34" charset="-122"/>
                <a:cs typeface="Calibri" pitchFamily="34" charset="-120"/>
              </a:rPr>
              <a:t>5 • MEAN-REMOVAL BEFORE FFT</a:t>
            </a:r>
            <a:endParaRPr lang="en-US" sz="1300" dirty="0"/>
          </a:p>
        </p:txBody>
      </p:sp>
      <p:sp>
        <p:nvSpPr>
          <p:cNvPr id="25" name="C6_k4_b"/>
          <p:cNvSpPr txBox="1"/>
          <p:nvPr/>
        </p:nvSpPr>
        <p:spPr>
          <a:xfrm>
            <a:off x="4544568" y="4517136"/>
            <a:ext cx="3182112" cy="1609344"/>
          </a:xfrm>
          <a:prstGeom prst="rect">
            <a:avLst/>
          </a:prstGeom>
          <a:noFill/>
          <a:ln/>
        </p:spPr>
        <p:txBody>
          <a:bodyPr wrap="square" lIns="0" tIns="0" rIns="0" bIns="0" rtlCol="0" anchor="t"/>
          <a:lstStyle/>
          <a:p>
            <a:pPr indent="0" marL="0">
              <a:lnSpc>
                <a:spcPct val="105000"/>
              </a:lnSpc>
              <a:spcAft>
                <a:spcPts val="700"/>
              </a:spcAft>
              <a:buNone/>
            </a:pPr>
            <a:r>
              <a:rPr lang="en-US" sz="1650" dirty="0">
                <a:solidFill>
                  <a:srgbClr val="26221E"/>
                </a:solidFill>
                <a:latin typeface="Calibri" pitchFamily="34" charset="0"/>
                <a:ea typeface="Calibri" pitchFamily="34" charset="-122"/>
                <a:cs typeface="Calibri" pitchFamily="34" charset="-120"/>
              </a:rPr>
              <a:t>Subtract window mean before FFT to remove the 9.81 m/s² gravity DC spike and isolate vibration/aerodynamic oscillations.</a:t>
            </a:r>
            <a:endParaRPr lang="en-US" sz="1650" dirty="0"/>
          </a:p>
        </p:txBody>
      </p:sp>
      <p:sp>
        <p:nvSpPr>
          <p:cNvPr id="26" name="C6_k5"/>
          <p:cNvSpPr/>
          <p:nvPr/>
        </p:nvSpPr>
        <p:spPr>
          <a:xfrm>
            <a:off x="7991856" y="3950208"/>
            <a:ext cx="3639312" cy="2286000"/>
          </a:xfrm>
          <a:prstGeom prst="roundRect">
            <a:avLst>
              <a:gd name="adj" fmla="val 2800"/>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27" name="C6_k5_a"/>
          <p:cNvSpPr/>
          <p:nvPr/>
        </p:nvSpPr>
        <p:spPr>
          <a:xfrm>
            <a:off x="7991856" y="4096512"/>
            <a:ext cx="64008" cy="1993392"/>
          </a:xfrm>
          <a:prstGeom prst="rect">
            <a:avLst/>
          </a:prstGeom>
          <a:solidFill>
            <a:srgbClr val="2E5A4C"/>
          </a:solidFill>
          <a:ln w="12700">
            <a:solidFill>
              <a:srgbClr val="2E5A4C"/>
            </a:solidFill>
            <a:prstDash val="solid"/>
          </a:ln>
        </p:spPr>
      </p:sp>
      <p:sp>
        <p:nvSpPr>
          <p:cNvPr id="28" name="C6_k5_h"/>
          <p:cNvSpPr txBox="1"/>
          <p:nvPr/>
        </p:nvSpPr>
        <p:spPr>
          <a:xfrm>
            <a:off x="8266176" y="4133088"/>
            <a:ext cx="3182112" cy="292608"/>
          </a:xfrm>
          <a:prstGeom prst="rect">
            <a:avLst/>
          </a:prstGeom>
          <a:noFill/>
          <a:ln/>
        </p:spPr>
        <p:txBody>
          <a:bodyPr wrap="square" lIns="0" tIns="0" rIns="0" bIns="0" rtlCol="0" anchor="t"/>
          <a:lstStyle/>
          <a:p>
            <a:pPr indent="0" marL="0">
              <a:buNone/>
            </a:pPr>
            <a:r>
              <a:rPr lang="en-US" sz="1300" b="1" spc="150" kern="0" dirty="0">
                <a:solidFill>
                  <a:srgbClr val="2E5A4C"/>
                </a:solidFill>
                <a:latin typeface="Calibri" pitchFamily="34" charset="0"/>
                <a:ea typeface="Calibri" pitchFamily="34" charset="-122"/>
                <a:cs typeface="Calibri" pitchFamily="34" charset="-120"/>
              </a:rPr>
              <a:t>6 • ZERO-LEAKAGE SCALING</a:t>
            </a:r>
            <a:endParaRPr lang="en-US" sz="1300" dirty="0"/>
          </a:p>
        </p:txBody>
      </p:sp>
      <p:sp>
        <p:nvSpPr>
          <p:cNvPr id="29" name="C6_k5_b"/>
          <p:cNvSpPr txBox="1"/>
          <p:nvPr/>
        </p:nvSpPr>
        <p:spPr>
          <a:xfrm>
            <a:off x="8266176" y="4517136"/>
            <a:ext cx="3182112" cy="1609344"/>
          </a:xfrm>
          <a:prstGeom prst="rect">
            <a:avLst/>
          </a:prstGeom>
          <a:noFill/>
          <a:ln/>
        </p:spPr>
        <p:txBody>
          <a:bodyPr wrap="square" lIns="0" tIns="0" rIns="0" bIns="0" rtlCol="0" anchor="t"/>
          <a:lstStyle/>
          <a:p>
            <a:pPr indent="0" marL="0">
              <a:lnSpc>
                <a:spcPct val="105000"/>
              </a:lnSpc>
              <a:spcAft>
                <a:spcPts val="700"/>
              </a:spcAft>
              <a:buNone/>
            </a:pPr>
            <a:r>
              <a:rPr lang="en-US" sz="1650" dirty="0">
                <a:solidFill>
                  <a:srgbClr val="26221E"/>
                </a:solidFill>
                <a:latin typeface="Calibri" pitchFamily="34" charset="0"/>
                <a:ea typeface="Calibri" pitchFamily="34" charset="-122"/>
                <a:cs typeface="Calibri" pitchFamily="34" charset="-120"/>
              </a:rPr>
              <a:t>Save feature CSVs unscaled; fit StandardScaler strictly on training flights only.</a:t>
            </a:r>
            <a:endParaRPr lang="en-US" sz="1650" dirty="0"/>
          </a:p>
        </p:txBody>
      </p:sp>
    </p:spTree>
  </p:cSld>
  <p:clrMapOvr>
    <a:masterClrMapping/>
  </p:clrMapOvr>
  <mc:AlternateContent xmlns:mc="http://schemas.openxmlformats.org/markup-compatibility/2006">
    <mc:Choice xmlns:p14="http://schemas.microsoft.com/office/powerpoint/2010/main" Requires="p14">
      <p:transition spd="slow" p14:dur="900">
        <p14:pan dir="r"/>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10" fill="hold">
                            <p:stCondLst>
                              <p:cond delay="0"/>
                            </p:stCondLst>
                            <p:childTnLst>
                              <p:par>
                                <p:cTn id="6" presetID="10" presetClass="entr" presetSubtype="0" fill="hold" nodeType="withEffect">
                                  <p:stCondLst>
                                    <p:cond delay="8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10" presetID="10" presetClass="entr" presetSubtype="0" fill="hold" nodeType="withEffect">
                                  <p:stCondLst>
                                    <p:cond delay="12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anim calcmode="lin" valueType="num">
                                      <p:cBhvr additive="base">
                                        <p:cTn id="9" dur="450" fill="hold"/>
                                        <p:tgtEl>
                                          <p:spTgt spid="3"/>
                                        </p:tgtEl>
                                        <p:attrNameLst>
                                          <p:attrName>ppt_y</p:attrName>
                                        </p:attrNameLst>
                                      </p:cBhvr>
                                      <p:tavLst>
                                        <p:tav tm="0">
                                          <p:val>
                                            <p:strVal val="#ppt_y+0.05"/>
                                          </p:val>
                                        </p:tav>
                                        <p:tav tm="100000">
                                          <p:val>
                                            <p:strVal val="#ppt_y"/>
                                          </p:val>
                                        </p:tav>
                                      </p:tavLst>
                                    </p:anim>
                                  </p:childTnLst>
                                </p:cTn>
                              </p:par>
                              <p:par>
                                <p:cTn id="13" presetID="22" presetClass="entr" presetSubtype="8" fill="hold"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450"/>
                                        <p:tgtEl>
                                          <p:spTgt spid="5"/>
                                        </p:tgtEl>
                                      </p:cBhvr>
                                    </p:animEffect>
                                  </p:childTnLst>
                                </p:cTn>
                              </p:par>
                              <p:par>
                                <p:cTn id="17" presetID="10" presetClass="entr" presetSubtype="0" fill="hold" nodeType="withEffect">
                                  <p:stCondLst>
                                    <p:cond delay="3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anim calcmode="lin" valueType="num">
                                      <p:cBhvr additive="base">
                                        <p:cTn id="16" dur="450" fill="hold"/>
                                        <p:tgtEl>
                                          <p:spTgt spid="6"/>
                                        </p:tgtEl>
                                        <p:attrNameLst>
                                          <p:attrName>ppt_y</p:attrName>
                                        </p:attrNameLst>
                                      </p:cBhvr>
                                      <p:tavLst>
                                        <p:tav tm="0">
                                          <p:val>
                                            <p:strVal val="#ppt_y+0.05"/>
                                          </p:val>
                                        </p:tav>
                                        <p:tav tm="100000">
                                          <p:val>
                                            <p:strVal val="#ppt_y"/>
                                          </p:val>
                                        </p:tav>
                                      </p:tavLst>
                                    </p:anim>
                                  </p:childTnLst>
                                </p:cTn>
                              </p:par>
                              <p:par>
                                <p:cTn id="21" presetID="10" presetClass="entr" presetSubtype="0" fill="hold" nodeType="withEffect">
                                  <p:stCondLst>
                                    <p:cond delay="3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anim calcmode="lin" valueType="num">
                                      <p:cBhvr additive="base">
                                        <p:cTn id="20" dur="450" fill="hold"/>
                                        <p:tgtEl>
                                          <p:spTgt spid="7"/>
                                        </p:tgtEl>
                                        <p:attrNameLst>
                                          <p:attrName>ppt_y</p:attrName>
                                        </p:attrNameLst>
                                      </p:cBhvr>
                                      <p:tavLst>
                                        <p:tav tm="0">
                                          <p:val>
                                            <p:strVal val="#ppt_y+0.05"/>
                                          </p:val>
                                        </p:tav>
                                        <p:tav tm="100000">
                                          <p:val>
                                            <p:strVal val="#ppt_y"/>
                                          </p:val>
                                        </p:tav>
                                      </p:tavLst>
                                    </p:anim>
                                  </p:childTnLst>
                                </p:cTn>
                              </p:par>
                              <p:par>
                                <p:cTn id="25" presetID="10" presetClass="entr" presetSubtype="0" fill="hold" nodeType="withEffect">
                                  <p:stCondLst>
                                    <p:cond delay="30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50"/>
                                        <p:tgtEl>
                                          <p:spTgt spid="8"/>
                                        </p:tgtEl>
                                      </p:cBhvr>
                                    </p:animEffect>
                                    <p:anim calcmode="lin" valueType="num">
                                      <p:cBhvr additive="base">
                                        <p:cTn id="24" dur="450" fill="hold"/>
                                        <p:tgtEl>
                                          <p:spTgt spid="8"/>
                                        </p:tgtEl>
                                        <p:attrNameLst>
                                          <p:attrName>ppt_y</p:attrName>
                                        </p:attrNameLst>
                                      </p:cBhvr>
                                      <p:tavLst>
                                        <p:tav tm="0">
                                          <p:val>
                                            <p:strVal val="#ppt_y+0.05"/>
                                          </p:val>
                                        </p:tav>
                                        <p:tav tm="100000">
                                          <p:val>
                                            <p:strVal val="#ppt_y"/>
                                          </p:val>
                                        </p:tav>
                                      </p:tavLst>
                                    </p:anim>
                                  </p:childTnLst>
                                </p:cTn>
                              </p:par>
                              <p:par>
                                <p:cTn id="29" presetID="10" presetClass="entr" presetSubtype="0" fill="hold" nodeType="withEffect">
                                  <p:stCondLst>
                                    <p:cond delay="3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anim calcmode="lin" valueType="num">
                                      <p:cBhvr additive="base">
                                        <p:cTn id="28" dur="450" fill="hold"/>
                                        <p:tgtEl>
                                          <p:spTgt spid="9"/>
                                        </p:tgtEl>
                                        <p:attrNameLst>
                                          <p:attrName>ppt_y</p:attrName>
                                        </p:attrNameLst>
                                      </p:cBhvr>
                                      <p:tavLst>
                                        <p:tav tm="0">
                                          <p:val>
                                            <p:strVal val="#ppt_y+0.05"/>
                                          </p:val>
                                        </p:tav>
                                        <p:tav tm="100000">
                                          <p:val>
                                            <p:strVal val="#ppt_y"/>
                                          </p:val>
                                        </p:tav>
                                      </p:tavLst>
                                    </p:anim>
                                  </p:childTnLst>
                                </p:cTn>
                              </p:par>
                              <p:par>
                                <p:cTn id="33" presetID="10" presetClass="entr" presetSubtype="0" fill="hold" nodeType="withEffect">
                                  <p:stCondLst>
                                    <p:cond delay="43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anim calcmode="lin" valueType="num">
                                      <p:cBhvr additive="base">
                                        <p:cTn id="32" dur="450" fill="hold"/>
                                        <p:tgtEl>
                                          <p:spTgt spid="10"/>
                                        </p:tgtEl>
                                        <p:attrNameLst>
                                          <p:attrName>ppt_y</p:attrName>
                                        </p:attrNameLst>
                                      </p:cBhvr>
                                      <p:tavLst>
                                        <p:tav tm="0">
                                          <p:val>
                                            <p:strVal val="#ppt_y+0.05"/>
                                          </p:val>
                                        </p:tav>
                                        <p:tav tm="100000">
                                          <p:val>
                                            <p:strVal val="#ppt_y"/>
                                          </p:val>
                                        </p:tav>
                                      </p:tavLst>
                                    </p:anim>
                                  </p:childTnLst>
                                </p:cTn>
                              </p:par>
                              <p:par>
                                <p:cTn id="37" presetID="10" presetClass="entr" presetSubtype="0" fill="hold" nodeType="withEffect">
                                  <p:stCondLst>
                                    <p:cond delay="43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450"/>
                                        <p:tgtEl>
                                          <p:spTgt spid="11"/>
                                        </p:tgtEl>
                                      </p:cBhvr>
                                    </p:animEffect>
                                    <p:anim calcmode="lin" valueType="num">
                                      <p:cBhvr additive="base">
                                        <p:cTn id="36" dur="450" fill="hold"/>
                                        <p:tgtEl>
                                          <p:spTgt spid="11"/>
                                        </p:tgtEl>
                                        <p:attrNameLst>
                                          <p:attrName>ppt_y</p:attrName>
                                        </p:attrNameLst>
                                      </p:cBhvr>
                                      <p:tavLst>
                                        <p:tav tm="0">
                                          <p:val>
                                            <p:strVal val="#ppt_y+0.05"/>
                                          </p:val>
                                        </p:tav>
                                        <p:tav tm="100000">
                                          <p:val>
                                            <p:strVal val="#ppt_y"/>
                                          </p:val>
                                        </p:tav>
                                      </p:tavLst>
                                    </p:anim>
                                  </p:childTnLst>
                                </p:cTn>
                              </p:par>
                              <p:par>
                                <p:cTn id="41" presetID="10" presetClass="entr" presetSubtype="0" fill="hold" nodeType="withEffect">
                                  <p:stCondLst>
                                    <p:cond delay="43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450"/>
                                        <p:tgtEl>
                                          <p:spTgt spid="12"/>
                                        </p:tgtEl>
                                      </p:cBhvr>
                                    </p:animEffect>
                                    <p:anim calcmode="lin" valueType="num">
                                      <p:cBhvr additive="base">
                                        <p:cTn id="40" dur="450" fill="hold"/>
                                        <p:tgtEl>
                                          <p:spTgt spid="12"/>
                                        </p:tgtEl>
                                        <p:attrNameLst>
                                          <p:attrName>ppt_y</p:attrName>
                                        </p:attrNameLst>
                                      </p:cBhvr>
                                      <p:tavLst>
                                        <p:tav tm="0">
                                          <p:val>
                                            <p:strVal val="#ppt_y+0.05"/>
                                          </p:val>
                                        </p:tav>
                                        <p:tav tm="100000">
                                          <p:val>
                                            <p:strVal val="#ppt_y"/>
                                          </p:val>
                                        </p:tav>
                                      </p:tavLst>
                                    </p:anim>
                                  </p:childTnLst>
                                </p:cTn>
                              </p:par>
                              <p:par>
                                <p:cTn id="45" presetID="10" presetClass="entr" presetSubtype="0" fill="hold" nodeType="withEffect">
                                  <p:stCondLst>
                                    <p:cond delay="43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450"/>
                                        <p:tgtEl>
                                          <p:spTgt spid="13"/>
                                        </p:tgtEl>
                                      </p:cBhvr>
                                    </p:animEffect>
                                    <p:anim calcmode="lin" valueType="num">
                                      <p:cBhvr additive="base">
                                        <p:cTn id="44" dur="450" fill="hold"/>
                                        <p:tgtEl>
                                          <p:spTgt spid="13"/>
                                        </p:tgtEl>
                                        <p:attrNameLst>
                                          <p:attrName>ppt_y</p:attrName>
                                        </p:attrNameLst>
                                      </p:cBhvr>
                                      <p:tavLst>
                                        <p:tav tm="0">
                                          <p:val>
                                            <p:strVal val="#ppt_y+0.05"/>
                                          </p:val>
                                        </p:tav>
                                        <p:tav tm="100000">
                                          <p:val>
                                            <p:strVal val="#ppt_y"/>
                                          </p:val>
                                        </p:tav>
                                      </p:tavLst>
                                    </p:anim>
                                  </p:childTnLst>
                                </p:cTn>
                              </p:par>
                              <p:par>
                                <p:cTn id="49" presetID="10" presetClass="entr" presetSubtype="0" fill="hold" nodeType="withEffect">
                                  <p:stCondLst>
                                    <p:cond delay="56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450"/>
                                        <p:tgtEl>
                                          <p:spTgt spid="14"/>
                                        </p:tgtEl>
                                      </p:cBhvr>
                                    </p:animEffect>
                                    <p:anim calcmode="lin" valueType="num">
                                      <p:cBhvr additive="base">
                                        <p:cTn id="48" dur="450" fill="hold"/>
                                        <p:tgtEl>
                                          <p:spTgt spid="14"/>
                                        </p:tgtEl>
                                        <p:attrNameLst>
                                          <p:attrName>ppt_y</p:attrName>
                                        </p:attrNameLst>
                                      </p:cBhvr>
                                      <p:tavLst>
                                        <p:tav tm="0">
                                          <p:val>
                                            <p:strVal val="#ppt_y+0.05"/>
                                          </p:val>
                                        </p:tav>
                                        <p:tav tm="100000">
                                          <p:val>
                                            <p:strVal val="#ppt_y"/>
                                          </p:val>
                                        </p:tav>
                                      </p:tavLst>
                                    </p:anim>
                                  </p:childTnLst>
                                </p:cTn>
                              </p:par>
                              <p:par>
                                <p:cTn id="53" presetID="10" presetClass="entr" presetSubtype="0" fill="hold" nodeType="withEffect">
                                  <p:stCondLst>
                                    <p:cond delay="56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450"/>
                                        <p:tgtEl>
                                          <p:spTgt spid="15"/>
                                        </p:tgtEl>
                                      </p:cBhvr>
                                    </p:animEffect>
                                    <p:anim calcmode="lin" valueType="num">
                                      <p:cBhvr additive="base">
                                        <p:cTn id="52" dur="450" fill="hold"/>
                                        <p:tgtEl>
                                          <p:spTgt spid="15"/>
                                        </p:tgtEl>
                                        <p:attrNameLst>
                                          <p:attrName>ppt_y</p:attrName>
                                        </p:attrNameLst>
                                      </p:cBhvr>
                                      <p:tavLst>
                                        <p:tav tm="0">
                                          <p:val>
                                            <p:strVal val="#ppt_y+0.05"/>
                                          </p:val>
                                        </p:tav>
                                        <p:tav tm="100000">
                                          <p:val>
                                            <p:strVal val="#ppt_y"/>
                                          </p:val>
                                        </p:tav>
                                      </p:tavLst>
                                    </p:anim>
                                  </p:childTnLst>
                                </p:cTn>
                              </p:par>
                              <p:par>
                                <p:cTn id="57" presetID="10" presetClass="entr" presetSubtype="0" fill="hold" nodeType="withEffect">
                                  <p:stCondLst>
                                    <p:cond delay="56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450"/>
                                        <p:tgtEl>
                                          <p:spTgt spid="16"/>
                                        </p:tgtEl>
                                      </p:cBhvr>
                                    </p:animEffect>
                                    <p:anim calcmode="lin" valueType="num">
                                      <p:cBhvr additive="base">
                                        <p:cTn id="56" dur="450" fill="hold"/>
                                        <p:tgtEl>
                                          <p:spTgt spid="16"/>
                                        </p:tgtEl>
                                        <p:attrNameLst>
                                          <p:attrName>ppt_y</p:attrName>
                                        </p:attrNameLst>
                                      </p:cBhvr>
                                      <p:tavLst>
                                        <p:tav tm="0">
                                          <p:val>
                                            <p:strVal val="#ppt_y+0.05"/>
                                          </p:val>
                                        </p:tav>
                                        <p:tav tm="100000">
                                          <p:val>
                                            <p:strVal val="#ppt_y"/>
                                          </p:val>
                                        </p:tav>
                                      </p:tavLst>
                                    </p:anim>
                                  </p:childTnLst>
                                </p:cTn>
                              </p:par>
                              <p:par>
                                <p:cTn id="61" presetID="10" presetClass="entr" presetSubtype="0" fill="hold" nodeType="withEffect">
                                  <p:stCondLst>
                                    <p:cond delay="56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450"/>
                                        <p:tgtEl>
                                          <p:spTgt spid="17"/>
                                        </p:tgtEl>
                                      </p:cBhvr>
                                    </p:animEffect>
                                    <p:anim calcmode="lin" valueType="num">
                                      <p:cBhvr additive="base">
                                        <p:cTn id="60" dur="450" fill="hold"/>
                                        <p:tgtEl>
                                          <p:spTgt spid="17"/>
                                        </p:tgtEl>
                                        <p:attrNameLst>
                                          <p:attrName>ppt_y</p:attrName>
                                        </p:attrNameLst>
                                      </p:cBhvr>
                                      <p:tavLst>
                                        <p:tav tm="0">
                                          <p:val>
                                            <p:strVal val="#ppt_y+0.05"/>
                                          </p:val>
                                        </p:tav>
                                        <p:tav tm="100000">
                                          <p:val>
                                            <p:strVal val="#ppt_y"/>
                                          </p:val>
                                        </p:tav>
                                      </p:tavLst>
                                    </p:anim>
                                  </p:childTnLst>
                                </p:cTn>
                              </p:par>
                              <p:par>
                                <p:cTn id="65" presetID="10" presetClass="entr" presetSubtype="0" fill="hold" nodeType="withEffect">
                                  <p:stCondLst>
                                    <p:cond delay="69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450"/>
                                        <p:tgtEl>
                                          <p:spTgt spid="18"/>
                                        </p:tgtEl>
                                      </p:cBhvr>
                                    </p:animEffect>
                                    <p:anim calcmode="lin" valueType="num">
                                      <p:cBhvr additive="base">
                                        <p:cTn id="64" dur="450" fill="hold"/>
                                        <p:tgtEl>
                                          <p:spTgt spid="18"/>
                                        </p:tgtEl>
                                        <p:attrNameLst>
                                          <p:attrName>ppt_y</p:attrName>
                                        </p:attrNameLst>
                                      </p:cBhvr>
                                      <p:tavLst>
                                        <p:tav tm="0">
                                          <p:val>
                                            <p:strVal val="#ppt_y+0.05"/>
                                          </p:val>
                                        </p:tav>
                                        <p:tav tm="100000">
                                          <p:val>
                                            <p:strVal val="#ppt_y"/>
                                          </p:val>
                                        </p:tav>
                                      </p:tavLst>
                                    </p:anim>
                                  </p:childTnLst>
                                </p:cTn>
                              </p:par>
                              <p:par>
                                <p:cTn id="69" presetID="10" presetClass="entr" presetSubtype="0" fill="hold" nodeType="withEffect">
                                  <p:stCondLst>
                                    <p:cond delay="69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450"/>
                                        <p:tgtEl>
                                          <p:spTgt spid="19"/>
                                        </p:tgtEl>
                                      </p:cBhvr>
                                    </p:animEffect>
                                    <p:anim calcmode="lin" valueType="num">
                                      <p:cBhvr additive="base">
                                        <p:cTn id="68" dur="450" fill="hold"/>
                                        <p:tgtEl>
                                          <p:spTgt spid="19"/>
                                        </p:tgtEl>
                                        <p:attrNameLst>
                                          <p:attrName>ppt_y</p:attrName>
                                        </p:attrNameLst>
                                      </p:cBhvr>
                                      <p:tavLst>
                                        <p:tav tm="0">
                                          <p:val>
                                            <p:strVal val="#ppt_y+0.05"/>
                                          </p:val>
                                        </p:tav>
                                        <p:tav tm="100000">
                                          <p:val>
                                            <p:strVal val="#ppt_y"/>
                                          </p:val>
                                        </p:tav>
                                      </p:tavLst>
                                    </p:anim>
                                  </p:childTnLst>
                                </p:cTn>
                              </p:par>
                              <p:par>
                                <p:cTn id="73" presetID="10" presetClass="entr" presetSubtype="0" fill="hold" nodeType="withEffect">
                                  <p:stCondLst>
                                    <p:cond delay="69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450"/>
                                        <p:tgtEl>
                                          <p:spTgt spid="20"/>
                                        </p:tgtEl>
                                      </p:cBhvr>
                                    </p:animEffect>
                                    <p:anim calcmode="lin" valueType="num">
                                      <p:cBhvr additive="base">
                                        <p:cTn id="72" dur="450" fill="hold"/>
                                        <p:tgtEl>
                                          <p:spTgt spid="20"/>
                                        </p:tgtEl>
                                        <p:attrNameLst>
                                          <p:attrName>ppt_y</p:attrName>
                                        </p:attrNameLst>
                                      </p:cBhvr>
                                      <p:tavLst>
                                        <p:tav tm="0">
                                          <p:val>
                                            <p:strVal val="#ppt_y+0.05"/>
                                          </p:val>
                                        </p:tav>
                                        <p:tav tm="100000">
                                          <p:val>
                                            <p:strVal val="#ppt_y"/>
                                          </p:val>
                                        </p:tav>
                                      </p:tavLst>
                                    </p:anim>
                                  </p:childTnLst>
                                </p:cTn>
                              </p:par>
                              <p:par>
                                <p:cTn id="77" presetID="10" presetClass="entr" presetSubtype="0" fill="hold" nodeType="withEffect">
                                  <p:stCondLst>
                                    <p:cond delay="690"/>
                                  </p:stCondLst>
                                  <p:childTnLst>
                                    <p:set>
                                      <p:cBhvr>
                                        <p:cTn id="74" dur="1" fill="hold">
                                          <p:stCondLst>
                                            <p:cond delay="0"/>
                                          </p:stCondLst>
                                        </p:cTn>
                                        <p:tgtEl>
                                          <p:spTgt spid="21"/>
                                        </p:tgtEl>
                                        <p:attrNameLst>
                                          <p:attrName>style.visibility</p:attrName>
                                        </p:attrNameLst>
                                      </p:cBhvr>
                                      <p:to>
                                        <p:strVal val="visible"/>
                                      </p:to>
                                    </p:set>
                                    <p:animEffect transition="in" filter="fade">
                                      <p:cBhvr>
                                        <p:cTn id="75" dur="450"/>
                                        <p:tgtEl>
                                          <p:spTgt spid="21"/>
                                        </p:tgtEl>
                                      </p:cBhvr>
                                    </p:animEffect>
                                    <p:anim calcmode="lin" valueType="num">
                                      <p:cBhvr additive="base">
                                        <p:cTn id="76" dur="450" fill="hold"/>
                                        <p:tgtEl>
                                          <p:spTgt spid="21"/>
                                        </p:tgtEl>
                                        <p:attrNameLst>
                                          <p:attrName>ppt_y</p:attrName>
                                        </p:attrNameLst>
                                      </p:cBhvr>
                                      <p:tavLst>
                                        <p:tav tm="0">
                                          <p:val>
                                            <p:strVal val="#ppt_y+0.05"/>
                                          </p:val>
                                        </p:tav>
                                        <p:tav tm="100000">
                                          <p:val>
                                            <p:strVal val="#ppt_y"/>
                                          </p:val>
                                        </p:tav>
                                      </p:tavLst>
                                    </p:anim>
                                  </p:childTnLst>
                                </p:cTn>
                              </p:par>
                              <p:par>
                                <p:cTn id="81" presetID="10" presetClass="entr" presetSubtype="0" fill="hold" nodeType="withEffect">
                                  <p:stCondLst>
                                    <p:cond delay="820"/>
                                  </p:stCondLst>
                                  <p:childTnLst>
                                    <p:set>
                                      <p:cBhvr>
                                        <p:cTn id="78" dur="1" fill="hold">
                                          <p:stCondLst>
                                            <p:cond delay="0"/>
                                          </p:stCondLst>
                                        </p:cTn>
                                        <p:tgtEl>
                                          <p:spTgt spid="22"/>
                                        </p:tgtEl>
                                        <p:attrNameLst>
                                          <p:attrName>style.visibility</p:attrName>
                                        </p:attrNameLst>
                                      </p:cBhvr>
                                      <p:to>
                                        <p:strVal val="visible"/>
                                      </p:to>
                                    </p:set>
                                    <p:animEffect transition="in" filter="fade">
                                      <p:cBhvr>
                                        <p:cTn id="79" dur="450"/>
                                        <p:tgtEl>
                                          <p:spTgt spid="22"/>
                                        </p:tgtEl>
                                      </p:cBhvr>
                                    </p:animEffect>
                                    <p:anim calcmode="lin" valueType="num">
                                      <p:cBhvr additive="base">
                                        <p:cTn id="80" dur="450" fill="hold"/>
                                        <p:tgtEl>
                                          <p:spTgt spid="22"/>
                                        </p:tgtEl>
                                        <p:attrNameLst>
                                          <p:attrName>ppt_y</p:attrName>
                                        </p:attrNameLst>
                                      </p:cBhvr>
                                      <p:tavLst>
                                        <p:tav tm="0">
                                          <p:val>
                                            <p:strVal val="#ppt_y+0.05"/>
                                          </p:val>
                                        </p:tav>
                                        <p:tav tm="100000">
                                          <p:val>
                                            <p:strVal val="#ppt_y"/>
                                          </p:val>
                                        </p:tav>
                                      </p:tavLst>
                                    </p:anim>
                                  </p:childTnLst>
                                </p:cTn>
                              </p:par>
                              <p:par>
                                <p:cTn id="85" presetID="10" presetClass="entr" presetSubtype="0" fill="hold" nodeType="withEffect">
                                  <p:stCondLst>
                                    <p:cond delay="820"/>
                                  </p:stCondLst>
                                  <p:childTnLst>
                                    <p:set>
                                      <p:cBhvr>
                                        <p:cTn id="82" dur="1" fill="hold">
                                          <p:stCondLst>
                                            <p:cond delay="0"/>
                                          </p:stCondLst>
                                        </p:cTn>
                                        <p:tgtEl>
                                          <p:spTgt spid="23"/>
                                        </p:tgtEl>
                                        <p:attrNameLst>
                                          <p:attrName>style.visibility</p:attrName>
                                        </p:attrNameLst>
                                      </p:cBhvr>
                                      <p:to>
                                        <p:strVal val="visible"/>
                                      </p:to>
                                    </p:set>
                                    <p:animEffect transition="in" filter="fade">
                                      <p:cBhvr>
                                        <p:cTn id="83" dur="450"/>
                                        <p:tgtEl>
                                          <p:spTgt spid="23"/>
                                        </p:tgtEl>
                                      </p:cBhvr>
                                    </p:animEffect>
                                    <p:anim calcmode="lin" valueType="num">
                                      <p:cBhvr additive="base">
                                        <p:cTn id="84" dur="450" fill="hold"/>
                                        <p:tgtEl>
                                          <p:spTgt spid="23"/>
                                        </p:tgtEl>
                                        <p:attrNameLst>
                                          <p:attrName>ppt_y</p:attrName>
                                        </p:attrNameLst>
                                      </p:cBhvr>
                                      <p:tavLst>
                                        <p:tav tm="0">
                                          <p:val>
                                            <p:strVal val="#ppt_y+0.05"/>
                                          </p:val>
                                        </p:tav>
                                        <p:tav tm="100000">
                                          <p:val>
                                            <p:strVal val="#ppt_y"/>
                                          </p:val>
                                        </p:tav>
                                      </p:tavLst>
                                    </p:anim>
                                  </p:childTnLst>
                                </p:cTn>
                              </p:par>
                              <p:par>
                                <p:cTn id="89" presetID="10" presetClass="entr" presetSubtype="0" fill="hold" nodeType="withEffect">
                                  <p:stCondLst>
                                    <p:cond delay="820"/>
                                  </p:stCondLst>
                                  <p:childTnLst>
                                    <p:set>
                                      <p:cBhvr>
                                        <p:cTn id="86" dur="1" fill="hold">
                                          <p:stCondLst>
                                            <p:cond delay="0"/>
                                          </p:stCondLst>
                                        </p:cTn>
                                        <p:tgtEl>
                                          <p:spTgt spid="24"/>
                                        </p:tgtEl>
                                        <p:attrNameLst>
                                          <p:attrName>style.visibility</p:attrName>
                                        </p:attrNameLst>
                                      </p:cBhvr>
                                      <p:to>
                                        <p:strVal val="visible"/>
                                      </p:to>
                                    </p:set>
                                    <p:animEffect transition="in" filter="fade">
                                      <p:cBhvr>
                                        <p:cTn id="87" dur="450"/>
                                        <p:tgtEl>
                                          <p:spTgt spid="24"/>
                                        </p:tgtEl>
                                      </p:cBhvr>
                                    </p:animEffect>
                                    <p:anim calcmode="lin" valueType="num">
                                      <p:cBhvr additive="base">
                                        <p:cTn id="88" dur="450" fill="hold"/>
                                        <p:tgtEl>
                                          <p:spTgt spid="24"/>
                                        </p:tgtEl>
                                        <p:attrNameLst>
                                          <p:attrName>ppt_y</p:attrName>
                                        </p:attrNameLst>
                                      </p:cBhvr>
                                      <p:tavLst>
                                        <p:tav tm="0">
                                          <p:val>
                                            <p:strVal val="#ppt_y+0.05"/>
                                          </p:val>
                                        </p:tav>
                                        <p:tav tm="100000">
                                          <p:val>
                                            <p:strVal val="#ppt_y"/>
                                          </p:val>
                                        </p:tav>
                                      </p:tavLst>
                                    </p:anim>
                                  </p:childTnLst>
                                </p:cTn>
                              </p:par>
                              <p:par>
                                <p:cTn id="93" presetID="10" presetClass="entr" presetSubtype="0" fill="hold" nodeType="withEffect">
                                  <p:stCondLst>
                                    <p:cond delay="820"/>
                                  </p:stCondLst>
                                  <p:childTnLst>
                                    <p:set>
                                      <p:cBhvr>
                                        <p:cTn id="90" dur="1" fill="hold">
                                          <p:stCondLst>
                                            <p:cond delay="0"/>
                                          </p:stCondLst>
                                        </p:cTn>
                                        <p:tgtEl>
                                          <p:spTgt spid="25"/>
                                        </p:tgtEl>
                                        <p:attrNameLst>
                                          <p:attrName>style.visibility</p:attrName>
                                        </p:attrNameLst>
                                      </p:cBhvr>
                                      <p:to>
                                        <p:strVal val="visible"/>
                                      </p:to>
                                    </p:set>
                                    <p:animEffect transition="in" filter="fade">
                                      <p:cBhvr>
                                        <p:cTn id="91" dur="450"/>
                                        <p:tgtEl>
                                          <p:spTgt spid="25"/>
                                        </p:tgtEl>
                                      </p:cBhvr>
                                    </p:animEffect>
                                    <p:anim calcmode="lin" valueType="num">
                                      <p:cBhvr additive="base">
                                        <p:cTn id="92" dur="450" fill="hold"/>
                                        <p:tgtEl>
                                          <p:spTgt spid="25"/>
                                        </p:tgtEl>
                                        <p:attrNameLst>
                                          <p:attrName>ppt_y</p:attrName>
                                        </p:attrNameLst>
                                      </p:cBhvr>
                                      <p:tavLst>
                                        <p:tav tm="0">
                                          <p:val>
                                            <p:strVal val="#ppt_y+0.05"/>
                                          </p:val>
                                        </p:tav>
                                        <p:tav tm="100000">
                                          <p:val>
                                            <p:strVal val="#ppt_y"/>
                                          </p:val>
                                        </p:tav>
                                      </p:tavLst>
                                    </p:anim>
                                  </p:childTnLst>
                                </p:cTn>
                              </p:par>
                              <p:par>
                                <p:cTn id="97" presetID="10" presetClass="entr" presetSubtype="0" fill="hold" nodeType="withEffect">
                                  <p:stCondLst>
                                    <p:cond delay="950"/>
                                  </p:stCondLst>
                                  <p:childTnLst>
                                    <p:set>
                                      <p:cBhvr>
                                        <p:cTn id="94" dur="1" fill="hold">
                                          <p:stCondLst>
                                            <p:cond delay="0"/>
                                          </p:stCondLst>
                                        </p:cTn>
                                        <p:tgtEl>
                                          <p:spTgt spid="26"/>
                                        </p:tgtEl>
                                        <p:attrNameLst>
                                          <p:attrName>style.visibility</p:attrName>
                                        </p:attrNameLst>
                                      </p:cBhvr>
                                      <p:to>
                                        <p:strVal val="visible"/>
                                      </p:to>
                                    </p:set>
                                    <p:animEffect transition="in" filter="fade">
                                      <p:cBhvr>
                                        <p:cTn id="95" dur="450"/>
                                        <p:tgtEl>
                                          <p:spTgt spid="26"/>
                                        </p:tgtEl>
                                      </p:cBhvr>
                                    </p:animEffect>
                                    <p:anim calcmode="lin" valueType="num">
                                      <p:cBhvr additive="base">
                                        <p:cTn id="96" dur="450" fill="hold"/>
                                        <p:tgtEl>
                                          <p:spTgt spid="26"/>
                                        </p:tgtEl>
                                        <p:attrNameLst>
                                          <p:attrName>ppt_y</p:attrName>
                                        </p:attrNameLst>
                                      </p:cBhvr>
                                      <p:tavLst>
                                        <p:tav tm="0">
                                          <p:val>
                                            <p:strVal val="#ppt_y+0.05"/>
                                          </p:val>
                                        </p:tav>
                                        <p:tav tm="100000">
                                          <p:val>
                                            <p:strVal val="#ppt_y"/>
                                          </p:val>
                                        </p:tav>
                                      </p:tavLst>
                                    </p:anim>
                                  </p:childTnLst>
                                </p:cTn>
                              </p:par>
                              <p:par>
                                <p:cTn id="101" presetID="10" presetClass="entr" presetSubtype="0" fill="hold" nodeType="withEffect">
                                  <p:stCondLst>
                                    <p:cond delay="950"/>
                                  </p:stCondLst>
                                  <p:childTnLst>
                                    <p:set>
                                      <p:cBhvr>
                                        <p:cTn id="98" dur="1" fill="hold">
                                          <p:stCondLst>
                                            <p:cond delay="0"/>
                                          </p:stCondLst>
                                        </p:cTn>
                                        <p:tgtEl>
                                          <p:spTgt spid="27"/>
                                        </p:tgtEl>
                                        <p:attrNameLst>
                                          <p:attrName>style.visibility</p:attrName>
                                        </p:attrNameLst>
                                      </p:cBhvr>
                                      <p:to>
                                        <p:strVal val="visible"/>
                                      </p:to>
                                    </p:set>
                                    <p:animEffect transition="in" filter="fade">
                                      <p:cBhvr>
                                        <p:cTn id="99" dur="450"/>
                                        <p:tgtEl>
                                          <p:spTgt spid="27"/>
                                        </p:tgtEl>
                                      </p:cBhvr>
                                    </p:animEffect>
                                    <p:anim calcmode="lin" valueType="num">
                                      <p:cBhvr additive="base">
                                        <p:cTn id="100" dur="450" fill="hold"/>
                                        <p:tgtEl>
                                          <p:spTgt spid="27"/>
                                        </p:tgtEl>
                                        <p:attrNameLst>
                                          <p:attrName>ppt_y</p:attrName>
                                        </p:attrNameLst>
                                      </p:cBhvr>
                                      <p:tavLst>
                                        <p:tav tm="0">
                                          <p:val>
                                            <p:strVal val="#ppt_y+0.05"/>
                                          </p:val>
                                        </p:tav>
                                        <p:tav tm="100000">
                                          <p:val>
                                            <p:strVal val="#ppt_y"/>
                                          </p:val>
                                        </p:tav>
                                      </p:tavLst>
                                    </p:anim>
                                  </p:childTnLst>
                                </p:cTn>
                              </p:par>
                              <p:par>
                                <p:cTn id="105" presetID="10" presetClass="entr" presetSubtype="0" fill="hold" nodeType="withEffect">
                                  <p:stCondLst>
                                    <p:cond delay="950"/>
                                  </p:stCondLst>
                                  <p:childTnLst>
                                    <p:set>
                                      <p:cBhvr>
                                        <p:cTn id="102" dur="1" fill="hold">
                                          <p:stCondLst>
                                            <p:cond delay="0"/>
                                          </p:stCondLst>
                                        </p:cTn>
                                        <p:tgtEl>
                                          <p:spTgt spid="28"/>
                                        </p:tgtEl>
                                        <p:attrNameLst>
                                          <p:attrName>style.visibility</p:attrName>
                                        </p:attrNameLst>
                                      </p:cBhvr>
                                      <p:to>
                                        <p:strVal val="visible"/>
                                      </p:to>
                                    </p:set>
                                    <p:animEffect transition="in" filter="fade">
                                      <p:cBhvr>
                                        <p:cTn id="103" dur="450"/>
                                        <p:tgtEl>
                                          <p:spTgt spid="28"/>
                                        </p:tgtEl>
                                      </p:cBhvr>
                                    </p:animEffect>
                                    <p:anim calcmode="lin" valueType="num">
                                      <p:cBhvr additive="base">
                                        <p:cTn id="104" dur="450" fill="hold"/>
                                        <p:tgtEl>
                                          <p:spTgt spid="28"/>
                                        </p:tgtEl>
                                        <p:attrNameLst>
                                          <p:attrName>ppt_y</p:attrName>
                                        </p:attrNameLst>
                                      </p:cBhvr>
                                      <p:tavLst>
                                        <p:tav tm="0">
                                          <p:val>
                                            <p:strVal val="#ppt_y+0.05"/>
                                          </p:val>
                                        </p:tav>
                                        <p:tav tm="100000">
                                          <p:val>
                                            <p:strVal val="#ppt_y"/>
                                          </p:val>
                                        </p:tav>
                                      </p:tavLst>
                                    </p:anim>
                                  </p:childTnLst>
                                </p:cTn>
                              </p:par>
                              <p:par>
                                <p:cTn id="109" presetID="10" presetClass="entr" presetSubtype="0" fill="hold" nodeType="withEffect">
                                  <p:stCondLst>
                                    <p:cond delay="950"/>
                                  </p:stCondLst>
                                  <p:childTnLst>
                                    <p:set>
                                      <p:cBhvr>
                                        <p:cTn id="106" dur="1" fill="hold">
                                          <p:stCondLst>
                                            <p:cond delay="0"/>
                                          </p:stCondLst>
                                        </p:cTn>
                                        <p:tgtEl>
                                          <p:spTgt spid="29"/>
                                        </p:tgtEl>
                                        <p:attrNameLst>
                                          <p:attrName>style.visibility</p:attrName>
                                        </p:attrNameLst>
                                      </p:cBhvr>
                                      <p:to>
                                        <p:strVal val="visible"/>
                                      </p:to>
                                    </p:set>
                                    <p:animEffect transition="in" filter="fade">
                                      <p:cBhvr>
                                        <p:cTn id="107" dur="450"/>
                                        <p:tgtEl>
                                          <p:spTgt spid="29"/>
                                        </p:tgtEl>
                                      </p:cBhvr>
                                    </p:animEffect>
                                    <p:anim calcmode="lin" valueType="num">
                                      <p:cBhvr additive="base">
                                        <p:cTn id="108" dur="450" fill="hold"/>
                                        <p:tgtEl>
                                          <p:spTgt spid="29"/>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7"/>
          <p:cNvSpPr txBox="1"/>
          <p:nvPr/>
        </p:nvSpPr>
        <p:spPr>
          <a:xfrm>
            <a:off x="548640" y="310896"/>
            <a:ext cx="9144000" cy="256032"/>
          </a:xfrm>
          <a:prstGeom prst="rect">
            <a:avLst/>
          </a:prstGeom>
          <a:noFill/>
          <a:ln/>
        </p:spPr>
        <p:txBody>
          <a:bodyPr wrap="square" lIns="0" tIns="0" rIns="0" bIns="0" rtlCol="0" anchor="t"/>
          <a:lstStyle/>
          <a:p>
            <a:pPr indent="0" marL="0">
              <a:buNone/>
            </a:pPr>
            <a:r>
              <a:rPr lang="en-US" sz="1150" b="1" spc="250" kern="0" dirty="0">
                <a:solidFill>
                  <a:srgbClr val="B8512F"/>
                </a:solidFill>
                <a:latin typeface="Calibri" pitchFamily="34" charset="0"/>
                <a:ea typeface="Calibri" pitchFamily="34" charset="-122"/>
                <a:cs typeface="Calibri" pitchFamily="34" charset="-120"/>
              </a:rPr>
              <a:t>SECTION 02 • LABEL FORMULATION &amp; PROCESSED CSVS</a:t>
            </a:r>
            <a:endParaRPr lang="en-US" sz="1150" dirty="0"/>
          </a:p>
        </p:txBody>
      </p:sp>
      <p:sp>
        <p:nvSpPr>
          <p:cNvPr id="3" name="TTL7"/>
          <p:cNvSpPr txBox="1"/>
          <p:nvPr/>
        </p:nvSpPr>
        <p:spPr>
          <a:xfrm>
            <a:off x="548640" y="603504"/>
            <a:ext cx="11091672" cy="658368"/>
          </a:xfrm>
          <a:prstGeom prst="rect">
            <a:avLst/>
          </a:prstGeom>
          <a:noFill/>
          <a:ln/>
        </p:spPr>
        <p:txBody>
          <a:bodyPr wrap="square" lIns="0" tIns="0" rIns="0" bIns="0" rtlCol="0" anchor="ctr"/>
          <a:lstStyle/>
          <a:p>
            <a:pPr indent="0" marL="0">
              <a:buNone/>
            </a:pPr>
            <a:r>
              <a:rPr lang="en-US" sz="2700" b="1" dirty="0">
                <a:solidFill>
                  <a:srgbClr val="26221E"/>
                </a:solidFill>
                <a:latin typeface="Cambria" pitchFamily="34" charset="0"/>
                <a:ea typeface="Cambria" pitchFamily="34" charset="-122"/>
                <a:cs typeface="Cambria" pitchFamily="34" charset="-120"/>
              </a:rPr>
              <a:t>Physics Label Construction &amp; The 6 Processed Datasets</a:t>
            </a:r>
            <a:endParaRPr lang="en-US" sz="2700" dirty="0"/>
          </a:p>
        </p:txBody>
      </p:sp>
      <p:sp>
        <p:nvSpPr>
          <p:cNvPr id="4" name="PG7"/>
          <p:cNvSpPr txBox="1"/>
          <p:nvPr/>
        </p:nvSpPr>
        <p:spPr>
          <a:xfrm>
            <a:off x="10881360" y="6473952"/>
            <a:ext cx="758952" cy="228600"/>
          </a:xfrm>
          <a:prstGeom prst="rect">
            <a:avLst/>
          </a:prstGeom>
          <a:noFill/>
          <a:ln/>
        </p:spPr>
        <p:txBody>
          <a:bodyPr wrap="square" lIns="0" tIns="0" rIns="0" bIns="0" rtlCol="0" anchor="t"/>
          <a:lstStyle/>
          <a:p>
            <a:pPr algn="r" indent="0" marL="0">
              <a:buNone/>
            </a:pPr>
            <a:r>
              <a:rPr lang="en-US" sz="1100" b="1" dirty="0">
                <a:solidFill>
                  <a:srgbClr val="6F675C"/>
                </a:solidFill>
                <a:latin typeface="Calibri" pitchFamily="34" charset="0"/>
                <a:ea typeface="Calibri" pitchFamily="34" charset="-122"/>
                <a:cs typeface="Calibri" pitchFamily="34" charset="-120"/>
              </a:rPr>
              <a:t>08</a:t>
            </a:r>
            <a:endParaRPr lang="en-US" sz="1100" dirty="0"/>
          </a:p>
        </p:txBody>
      </p:sp>
      <p:sp>
        <p:nvSpPr>
          <p:cNvPr id="5" name="RULE7"/>
          <p:cNvSpPr/>
          <p:nvPr/>
        </p:nvSpPr>
        <p:spPr>
          <a:xfrm>
            <a:off x="548640" y="1280160"/>
            <a:ext cx="822960" cy="41148"/>
          </a:xfrm>
          <a:prstGeom prst="rect">
            <a:avLst/>
          </a:prstGeom>
          <a:solidFill>
            <a:srgbClr val="B8512F"/>
          </a:solidFill>
          <a:ln w="12700">
            <a:solidFill>
              <a:srgbClr val="B8512F"/>
            </a:solidFill>
            <a:prstDash val="solid"/>
          </a:ln>
        </p:spPr>
      </p:sp>
      <p:sp>
        <p:nvSpPr>
          <p:cNvPr id="6" name="C8a"/>
          <p:cNvSpPr/>
          <p:nvPr/>
        </p:nvSpPr>
        <p:spPr>
          <a:xfrm>
            <a:off x="548640" y="1554480"/>
            <a:ext cx="6309360" cy="2834640"/>
          </a:xfrm>
          <a:prstGeom prst="roundRect">
            <a:avLst>
              <a:gd name="adj" fmla="val 2258"/>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7" name="C8a_a"/>
          <p:cNvSpPr/>
          <p:nvPr/>
        </p:nvSpPr>
        <p:spPr>
          <a:xfrm>
            <a:off x="548640" y="1700784"/>
            <a:ext cx="64008" cy="2542032"/>
          </a:xfrm>
          <a:prstGeom prst="rect">
            <a:avLst/>
          </a:prstGeom>
          <a:solidFill>
            <a:srgbClr val="B8512F"/>
          </a:solidFill>
          <a:ln w="12700">
            <a:solidFill>
              <a:srgbClr val="B8512F"/>
            </a:solidFill>
            <a:prstDash val="solid"/>
          </a:ln>
        </p:spPr>
      </p:sp>
      <p:sp>
        <p:nvSpPr>
          <p:cNvPr id="8" name="C8a_h"/>
          <p:cNvSpPr txBox="1"/>
          <p:nvPr/>
        </p:nvSpPr>
        <p:spPr>
          <a:xfrm>
            <a:off x="822960" y="1737360"/>
            <a:ext cx="5852160" cy="292608"/>
          </a:xfrm>
          <a:prstGeom prst="rect">
            <a:avLst/>
          </a:prstGeom>
          <a:noFill/>
          <a:ln/>
        </p:spPr>
        <p:txBody>
          <a:bodyPr wrap="square" lIns="0" tIns="0" rIns="0" bIns="0" rtlCol="0" anchor="t"/>
          <a:lstStyle/>
          <a:p>
            <a:pPr indent="0" marL="0">
              <a:buNone/>
            </a:pPr>
            <a:r>
              <a:rPr lang="en-US" sz="1250" b="1" spc="150" kern="0" dirty="0">
                <a:solidFill>
                  <a:srgbClr val="B8512F"/>
                </a:solidFill>
                <a:latin typeface="Calibri" pitchFamily="34" charset="0"/>
                <a:ea typeface="Calibri" pitchFamily="34" charset="-122"/>
                <a:cs typeface="Calibri" pitchFamily="34" charset="-120"/>
              </a:rPr>
              <a:t>STRAPDOWN INERTIAL INTEGRATION</a:t>
            </a:r>
            <a:endParaRPr lang="en-US" sz="1250" dirty="0"/>
          </a:p>
        </p:txBody>
      </p:sp>
      <p:sp>
        <p:nvSpPr>
          <p:cNvPr id="9" name="C8a_b"/>
          <p:cNvSpPr txBox="1"/>
          <p:nvPr/>
        </p:nvSpPr>
        <p:spPr>
          <a:xfrm>
            <a:off x="822960" y="2103120"/>
            <a:ext cx="5897880" cy="2377440"/>
          </a:xfrm>
          <a:prstGeom prst="rect">
            <a:avLst/>
          </a:prstGeom>
          <a:noFill/>
          <a:ln/>
        </p:spPr>
        <p:txBody>
          <a:bodyPr wrap="square" lIns="0" tIns="0" rIns="0" bIns="0" rtlCol="0" anchor="t"/>
          <a:lstStyle/>
          <a:p>
            <a:pPr indent="0" marL="0">
              <a:spcAft>
                <a:spcPts val="800"/>
              </a:spcAft>
              <a:buNone/>
            </a:pPr>
            <a:r>
              <a:rPr lang="en-US" sz="1500" dirty="0">
                <a:solidFill>
                  <a:srgbClr val="26221E"/>
                </a:solidFill>
                <a:latin typeface="Calibri" pitchFamily="34" charset="0"/>
                <a:ea typeface="Calibri" pitchFamily="34" charset="-122"/>
                <a:cs typeface="Calibri" pitchFamily="34" charset="-120"/>
              </a:rPr>
              <a:t>Each 2.0 s window starts from true state (p₀, v₀, q₀) and integrates raw IMU across 400 samples using Newton–Euler mechanization.</a:t>
            </a:r>
            <a:endParaRPr lang="en-US" sz="1500" dirty="0"/>
          </a:p>
          <a:p>
            <a:pPr indent="0" marL="0">
              <a:spcAft>
                <a:spcPts val="800"/>
              </a:spcAft>
              <a:buNone/>
            </a:pPr>
            <a:r>
              <a:rPr lang="en-US" sz="1500" dirty="0">
                <a:solidFill>
                  <a:srgbClr val="26221E"/>
                </a:solidFill>
                <a:latin typeface="Calibri" pitchFamily="34" charset="0"/>
                <a:ea typeface="Calibri" pitchFamily="34" charset="-122"/>
                <a:cs typeface="Calibri" pitchFamily="34" charset="-120"/>
              </a:rPr>
              <a:t>Δqᵢ = quat(ωᵢ, Δt);  a_world,ᵢ = R(qᵢ)a_body,ᵢ + g</a:t>
            </a:r>
            <a:endParaRPr lang="en-US" sz="1500" dirty="0"/>
          </a:p>
          <a:p>
            <a:pPr indent="0" marL="0">
              <a:spcAft>
                <a:spcPts val="800"/>
              </a:spcAft>
              <a:buNone/>
            </a:pPr>
            <a:r>
              <a:rPr lang="en-US" sz="1500" dirty="0">
                <a:solidFill>
                  <a:srgbClr val="26221E"/>
                </a:solidFill>
                <a:latin typeface="Calibri" pitchFamily="34" charset="0"/>
                <a:ea typeface="Calibri" pitchFamily="34" charset="-122"/>
                <a:cs typeface="Calibri" pitchFamily="34" charset="-120"/>
              </a:rPr>
              <a:t>pᵢ₊₁ = pᵢ + vᵢΔt + ½a_world,ᵢΔt²</a:t>
            </a:r>
            <a:endParaRPr lang="en-US" sz="1500" dirty="0"/>
          </a:p>
          <a:p>
            <a:pPr indent="0" marL="0">
              <a:spcAft>
                <a:spcPts val="800"/>
              </a:spcAft>
              <a:buNone/>
            </a:pPr>
            <a:r>
              <a:rPr lang="en-US" sz="1500" dirty="0">
                <a:solidFill>
                  <a:srgbClr val="26221E"/>
                </a:solidFill>
                <a:latin typeface="Calibri" pitchFamily="34" charset="0"/>
                <a:ea typeface="Calibri" pitchFamily="34" charset="-122"/>
                <a:cs typeface="Calibri" pitchFamily="34" charset="-120"/>
              </a:rPr>
              <a:t>Target: err_mag_m = ||p̂_end − p_true,end||₂ = √(Δx² + Δy² + Δz²), approximately 1.21 m.</a:t>
            </a:r>
            <a:endParaRPr lang="en-US" sz="1500" dirty="0"/>
          </a:p>
        </p:txBody>
      </p:sp>
      <p:sp>
        <p:nvSpPr>
          <p:cNvPr id="10" name="C7_csv"/>
          <p:cNvSpPr/>
          <p:nvPr/>
        </p:nvSpPr>
        <p:spPr>
          <a:xfrm>
            <a:off x="548640" y="4526280"/>
            <a:ext cx="6309360" cy="1691640"/>
          </a:xfrm>
          <a:prstGeom prst="roundRect">
            <a:avLst>
              <a:gd name="adj" fmla="val 3784"/>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11" name="C7_csv_a"/>
          <p:cNvSpPr/>
          <p:nvPr/>
        </p:nvSpPr>
        <p:spPr>
          <a:xfrm>
            <a:off x="548640" y="4672584"/>
            <a:ext cx="64008" cy="1399032"/>
          </a:xfrm>
          <a:prstGeom prst="rect">
            <a:avLst/>
          </a:prstGeom>
          <a:solidFill>
            <a:srgbClr val="2E5A4C"/>
          </a:solidFill>
          <a:ln w="12700">
            <a:solidFill>
              <a:srgbClr val="2E5A4C"/>
            </a:solidFill>
            <a:prstDash val="solid"/>
          </a:ln>
        </p:spPr>
      </p:sp>
      <p:sp>
        <p:nvSpPr>
          <p:cNvPr id="12" name="C7_csv_h"/>
          <p:cNvSpPr txBox="1"/>
          <p:nvPr/>
        </p:nvSpPr>
        <p:spPr>
          <a:xfrm>
            <a:off x="822960" y="4709160"/>
            <a:ext cx="5852160" cy="292608"/>
          </a:xfrm>
          <a:prstGeom prst="rect">
            <a:avLst/>
          </a:prstGeom>
          <a:noFill/>
          <a:ln/>
        </p:spPr>
        <p:txBody>
          <a:bodyPr wrap="square" lIns="0" tIns="0" rIns="0" bIns="0" rtlCol="0" anchor="t"/>
          <a:lstStyle/>
          <a:p>
            <a:pPr indent="0" marL="0">
              <a:buNone/>
            </a:pPr>
            <a:r>
              <a:rPr lang="en-US" sz="1250" b="1" spc="150" kern="0" dirty="0">
                <a:solidFill>
                  <a:srgbClr val="2E5A4C"/>
                </a:solidFill>
                <a:latin typeface="Calibri" pitchFamily="34" charset="0"/>
                <a:ea typeface="Calibri" pitchFamily="34" charset="-122"/>
                <a:cs typeface="Calibri" pitchFamily="34" charset="-120"/>
              </a:rPr>
              <a:t>THE 6 PROCESSED CSV DATASETS</a:t>
            </a:r>
            <a:endParaRPr lang="en-US" sz="1250" dirty="0"/>
          </a:p>
        </p:txBody>
      </p:sp>
      <p:sp>
        <p:nvSpPr>
          <p:cNvPr id="13" name="C7_csv_b"/>
          <p:cNvSpPr txBox="1"/>
          <p:nvPr/>
        </p:nvSpPr>
        <p:spPr>
          <a:xfrm>
            <a:off x="822960" y="4983480"/>
            <a:ext cx="5852160" cy="1124712"/>
          </a:xfrm>
          <a:prstGeom prst="rect">
            <a:avLst/>
          </a:prstGeom>
          <a:noFill/>
          <a:ln/>
        </p:spPr>
        <p:txBody>
          <a:bodyPr wrap="square" lIns="0" tIns="0" rIns="0" bIns="0" rtlCol="0" anchor="t"/>
          <a:lstStyle/>
          <a:p>
            <a:pPr indent="0" marL="0">
              <a:lnSpc>
                <a:spcPct val="105000"/>
              </a:lnSpc>
              <a:spcAft>
                <a:spcPts val="100"/>
              </a:spcAft>
              <a:buNone/>
            </a:pPr>
            <a:r>
              <a:rPr lang="en-US" sz="1250" dirty="0">
                <a:solidFill>
                  <a:srgbClr val="26221E"/>
                </a:solidFill>
                <a:latin typeface="Calibri" pitchFamily="34" charset="0"/>
                <a:ea typeface="Calibri" pitchFamily="34" charset="-122"/>
                <a:cs typeface="Calibri" pitchFamily="34" charset="-120"/>
              </a:rPr>
              <a:t>features_MH_01_easy.csv — 720 rows, 107 cols</a:t>
            </a:r>
            <a:endParaRPr lang="en-US" sz="1250" dirty="0"/>
          </a:p>
          <a:p>
            <a:pPr indent="0" marL="0">
              <a:lnSpc>
                <a:spcPct val="105000"/>
              </a:lnSpc>
              <a:spcAft>
                <a:spcPts val="100"/>
              </a:spcAft>
              <a:buNone/>
            </a:pPr>
            <a:r>
              <a:rPr lang="en-US" sz="1250" dirty="0">
                <a:solidFill>
                  <a:srgbClr val="26221E"/>
                </a:solidFill>
                <a:latin typeface="Calibri" pitchFamily="34" charset="0"/>
                <a:ea typeface="Calibri" pitchFamily="34" charset="-122"/>
                <a:cs typeface="Calibri" pitchFamily="34" charset="-120"/>
              </a:rPr>
              <a:t>features_MH_02_easy.csv — 592 rows, 107 cols</a:t>
            </a:r>
            <a:endParaRPr lang="en-US" sz="1250" dirty="0"/>
          </a:p>
          <a:p>
            <a:pPr indent="0" marL="0">
              <a:lnSpc>
                <a:spcPct val="105000"/>
              </a:lnSpc>
              <a:spcAft>
                <a:spcPts val="100"/>
              </a:spcAft>
              <a:buNone/>
            </a:pPr>
            <a:r>
              <a:rPr lang="en-US" sz="1250" dirty="0">
                <a:solidFill>
                  <a:srgbClr val="26221E"/>
                </a:solidFill>
                <a:latin typeface="Calibri" pitchFamily="34" charset="0"/>
                <a:ea typeface="Calibri" pitchFamily="34" charset="-122"/>
                <a:cs typeface="Calibri" pitchFamily="34" charset="-120"/>
              </a:rPr>
              <a:t>windows_MH_01_easy.csv — 720 rows, 12 cols</a:t>
            </a:r>
            <a:endParaRPr lang="en-US" sz="1250" dirty="0"/>
          </a:p>
          <a:p>
            <a:pPr indent="0" marL="0">
              <a:lnSpc>
                <a:spcPct val="105000"/>
              </a:lnSpc>
              <a:spcAft>
                <a:spcPts val="100"/>
              </a:spcAft>
              <a:buNone/>
            </a:pPr>
            <a:r>
              <a:rPr lang="en-US" sz="1250" dirty="0">
                <a:solidFill>
                  <a:srgbClr val="26221E"/>
                </a:solidFill>
                <a:latin typeface="Calibri" pitchFamily="34" charset="0"/>
                <a:ea typeface="Calibri" pitchFamily="34" charset="-122"/>
                <a:cs typeface="Calibri" pitchFamily="34" charset="-120"/>
              </a:rPr>
              <a:t>windows_MH_02_easy.csv — 592 rows, 12 cols</a:t>
            </a:r>
            <a:endParaRPr lang="en-US" sz="1250" dirty="0"/>
          </a:p>
          <a:p>
            <a:pPr indent="0" marL="0">
              <a:lnSpc>
                <a:spcPct val="105000"/>
              </a:lnSpc>
              <a:spcAft>
                <a:spcPts val="100"/>
              </a:spcAft>
              <a:buNone/>
            </a:pPr>
            <a:r>
              <a:rPr lang="en-US" sz="1250" dirty="0">
                <a:solidFill>
                  <a:srgbClr val="26221E"/>
                </a:solidFill>
                <a:latin typeface="Calibri" pitchFamily="34" charset="0"/>
                <a:ea typeface="Calibri" pitchFamily="34" charset="-122"/>
                <a:cs typeface="Calibri" pitchFamily="34" charset="-120"/>
              </a:rPr>
              <a:t>physics_leave_MH_01/02.csv — 1,312 rows, 6 cols (analytical benchmark)</a:t>
            </a:r>
            <a:endParaRPr lang="en-US" sz="1250" dirty="0"/>
          </a:p>
        </p:txBody>
      </p:sp>
      <p:sp>
        <p:nvSpPr>
          <p:cNvPr id="14" name="IMG8"/>
          <p:cNvSpPr/>
          <p:nvPr/>
        </p:nvSpPr>
        <p:spPr>
          <a:xfrm>
            <a:off x="7040880" y="1554480"/>
            <a:ext cx="4599432" cy="2560320"/>
          </a:xfrm>
          <a:prstGeom prst="roundRect">
            <a:avLst>
              <a:gd name="adj" fmla="val 2500"/>
            </a:avLst>
          </a:prstGeom>
          <a:solidFill>
            <a:srgbClr val="FFFFFF"/>
          </a:solidFill>
          <a:ln w="9525">
            <a:solidFill>
              <a:srgbClr val="DED4C2"/>
            </a:solidFill>
            <a:prstDash val="solid"/>
          </a:ln>
          <a:effectLst>
            <a:outerShdw sx="100000" sy="100000" kx="0" ky="0" algn="bl" rotWithShape="0" blurRad="88900" dist="25400" dir="5400000">
              <a:srgbClr val="6B5A3C">
                <a:alpha val="14000"/>
              </a:srgbClr>
            </a:outerShdw>
          </a:effectLst>
        </p:spPr>
      </p:sp>
      <p:pic>
        <p:nvPicPr>
          <p:cNvPr id="15" name="IMG8_i" descr="Raw versus bias-corrected drift label over time for both flights">    </p:cNvPr>
          <p:cNvPicPr>
            <a:picLocks noChangeAspect="1"/>
          </p:cNvPicPr>
          <p:nvPr/>
        </p:nvPicPr>
        <p:blipFill>
          <a:blip r:embed="rId1"/>
          <a:stretch>
            <a:fillRect/>
          </a:stretch>
        </p:blipFill>
        <p:spPr>
          <a:xfrm>
            <a:off x="7283196" y="1682496"/>
            <a:ext cx="4114800" cy="2304288"/>
          </a:xfrm>
          <a:prstGeom prst="rect">
            <a:avLst/>
          </a:prstGeom>
        </p:spPr>
      </p:pic>
      <p:sp>
        <p:nvSpPr>
          <p:cNvPr id="16" name="C7_bias"/>
          <p:cNvSpPr/>
          <p:nvPr/>
        </p:nvSpPr>
        <p:spPr>
          <a:xfrm>
            <a:off x="7040880" y="4251960"/>
            <a:ext cx="4599432" cy="1965960"/>
          </a:xfrm>
          <a:prstGeom prst="roundRect">
            <a:avLst>
              <a:gd name="adj" fmla="val 3256"/>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17" name="C7_bias_a"/>
          <p:cNvSpPr/>
          <p:nvPr/>
        </p:nvSpPr>
        <p:spPr>
          <a:xfrm>
            <a:off x="7040880" y="4398264"/>
            <a:ext cx="64008" cy="1673352"/>
          </a:xfrm>
          <a:prstGeom prst="rect">
            <a:avLst/>
          </a:prstGeom>
          <a:solidFill>
            <a:srgbClr val="B07A12"/>
          </a:solidFill>
          <a:ln w="12700">
            <a:solidFill>
              <a:srgbClr val="B07A12"/>
            </a:solidFill>
            <a:prstDash val="solid"/>
          </a:ln>
        </p:spPr>
      </p:sp>
      <p:sp>
        <p:nvSpPr>
          <p:cNvPr id="18" name="C7_bias_h"/>
          <p:cNvSpPr txBox="1"/>
          <p:nvPr/>
        </p:nvSpPr>
        <p:spPr>
          <a:xfrm>
            <a:off x="7315200" y="4434840"/>
            <a:ext cx="4142232" cy="292608"/>
          </a:xfrm>
          <a:prstGeom prst="rect">
            <a:avLst/>
          </a:prstGeom>
          <a:noFill/>
          <a:ln/>
        </p:spPr>
        <p:txBody>
          <a:bodyPr wrap="square" lIns="0" tIns="0" rIns="0" bIns="0" rtlCol="0" anchor="t"/>
          <a:lstStyle/>
          <a:p>
            <a:pPr indent="0" marL="0">
              <a:buNone/>
            </a:pPr>
            <a:r>
              <a:rPr lang="en-US" sz="1250" b="1" spc="150" kern="0" dirty="0">
                <a:solidFill>
                  <a:srgbClr val="B07A12"/>
                </a:solidFill>
                <a:latin typeface="Calibri" pitchFamily="34" charset="0"/>
                <a:ea typeface="Calibri" pitchFamily="34" charset="-122"/>
                <a:cs typeface="Calibri" pitchFamily="34" charset="-120"/>
              </a:rPr>
              <a:t>95% SENSOR BIAS DISCOVERY</a:t>
            </a:r>
            <a:endParaRPr lang="en-US" sz="1250" dirty="0"/>
          </a:p>
        </p:txBody>
      </p:sp>
      <p:sp>
        <p:nvSpPr>
          <p:cNvPr id="19" name="C7_bias_b"/>
          <p:cNvSpPr txBox="1"/>
          <p:nvPr/>
        </p:nvSpPr>
        <p:spPr>
          <a:xfrm>
            <a:off x="7315200" y="4818888"/>
            <a:ext cx="4142232" cy="1289304"/>
          </a:xfrm>
          <a:prstGeom prst="rect">
            <a:avLst/>
          </a:prstGeom>
          <a:noFill/>
          <a:ln/>
        </p:spPr>
        <p:txBody>
          <a:bodyPr wrap="square" lIns="0" tIns="0" rIns="0" bIns="0" rtlCol="0" anchor="t"/>
          <a:lstStyle/>
          <a:p>
            <a:pPr indent="0" marL="0">
              <a:lnSpc>
                <a:spcPct val="105000"/>
              </a:lnSpc>
              <a:spcAft>
                <a:spcPts val="700"/>
              </a:spcAft>
              <a:buNone/>
            </a:pPr>
            <a:r>
              <a:rPr lang="en-US" sz="1450" dirty="0">
                <a:solidFill>
                  <a:srgbClr val="26221E"/>
                </a:solidFill>
                <a:latin typeface="Calibri" pitchFamily="34" charset="0"/>
                <a:ea typeface="Calibri" pitchFamily="34" charset="-122"/>
                <a:cs typeface="Calibri" pitchFamily="34" charset="-120"/>
              </a:rPr>
              <a:t>Raw IMU drift averages 1.21 m. Subtracting sensor bias (err_mag_m_bc) reduces error to 0.058 m (5.8 cm).</a:t>
            </a:r>
            <a:endParaRPr lang="en-US" sz="1450" dirty="0"/>
          </a:p>
          <a:p>
            <a:pPr indent="0" marL="0">
              <a:lnSpc>
                <a:spcPct val="105000"/>
              </a:lnSpc>
              <a:spcAft>
                <a:spcPts val="700"/>
              </a:spcAft>
              <a:buNone/>
            </a:pPr>
            <a:r>
              <a:rPr lang="en-US" sz="1450" dirty="0">
                <a:solidFill>
                  <a:srgbClr val="26221E"/>
                </a:solidFill>
                <a:latin typeface="Calibri" pitchFamily="34" charset="0"/>
                <a:ea typeface="Calibri" pitchFamily="34" charset="-122"/>
                <a:cs typeface="Calibri" pitchFamily="34" charset="-120"/>
              </a:rPr>
              <a:t>≈95% of raw dead-reckoning drift is caused by constant sensor bias, not random motion.</a:t>
            </a:r>
            <a:endParaRPr lang="en-US" sz="1450" dirty="0"/>
          </a:p>
        </p:txBody>
      </p:sp>
    </p:spTree>
  </p:cSld>
  <p:clrMapOvr>
    <a:masterClrMapping/>
  </p:clrMapOvr>
  <mc:AlternateContent xmlns:mc="http://schemas.openxmlformats.org/markup-compatibility/2006">
    <mc:Choice xmlns:p14="http://schemas.microsoft.com/office/powerpoint/2010/main" Requires="p14">
      <p:transition spd="slow" p14:dur="900">
        <p14:pan dir="r"/>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8" fill="hold">
                            <p:stCondLst>
                              <p:cond delay="0"/>
                            </p:stCondLst>
                            <p:childTnLst>
                              <p:par>
                                <p:cTn id="6" presetID="10" presetClass="entr" presetSubtype="0" fill="hold" nodeType="withEffect">
                                  <p:stCondLst>
                                    <p:cond delay="8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10" presetID="10" presetClass="entr" presetSubtype="0" fill="hold" nodeType="withEffect">
                                  <p:stCondLst>
                                    <p:cond delay="12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anim calcmode="lin" valueType="num">
                                      <p:cBhvr additive="base">
                                        <p:cTn id="9" dur="450" fill="hold"/>
                                        <p:tgtEl>
                                          <p:spTgt spid="3"/>
                                        </p:tgtEl>
                                        <p:attrNameLst>
                                          <p:attrName>ppt_y</p:attrName>
                                        </p:attrNameLst>
                                      </p:cBhvr>
                                      <p:tavLst>
                                        <p:tav tm="0">
                                          <p:val>
                                            <p:strVal val="#ppt_y+0.05"/>
                                          </p:val>
                                        </p:tav>
                                        <p:tav tm="100000">
                                          <p:val>
                                            <p:strVal val="#ppt_y"/>
                                          </p:val>
                                        </p:tav>
                                      </p:tavLst>
                                    </p:anim>
                                  </p:childTnLst>
                                </p:cTn>
                              </p:par>
                              <p:par>
                                <p:cTn id="13" presetID="22" presetClass="entr" presetSubtype="8" fill="hold"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450"/>
                                        <p:tgtEl>
                                          <p:spTgt spid="5"/>
                                        </p:tgtEl>
                                      </p:cBhvr>
                                    </p:animEffect>
                                  </p:childTnLst>
                                </p:cTn>
                              </p:par>
                              <p:par>
                                <p:cTn id="17" presetID="10" presetClass="entr" presetSubtype="0" fill="hold" nodeType="withEffect">
                                  <p:stCondLst>
                                    <p:cond delay="3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anim calcmode="lin" valueType="num">
                                      <p:cBhvr additive="base">
                                        <p:cTn id="16" dur="450" fill="hold"/>
                                        <p:tgtEl>
                                          <p:spTgt spid="6"/>
                                        </p:tgtEl>
                                        <p:attrNameLst>
                                          <p:attrName>ppt_y</p:attrName>
                                        </p:attrNameLst>
                                      </p:cBhvr>
                                      <p:tavLst>
                                        <p:tav tm="0">
                                          <p:val>
                                            <p:strVal val="#ppt_y+0.05"/>
                                          </p:val>
                                        </p:tav>
                                        <p:tav tm="100000">
                                          <p:val>
                                            <p:strVal val="#ppt_y"/>
                                          </p:val>
                                        </p:tav>
                                      </p:tavLst>
                                    </p:anim>
                                  </p:childTnLst>
                                </p:cTn>
                              </p:par>
                              <p:par>
                                <p:cTn id="21" presetID="10" presetClass="entr" presetSubtype="0" fill="hold" nodeType="withEffect">
                                  <p:stCondLst>
                                    <p:cond delay="3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anim calcmode="lin" valueType="num">
                                      <p:cBhvr additive="base">
                                        <p:cTn id="20" dur="450" fill="hold"/>
                                        <p:tgtEl>
                                          <p:spTgt spid="7"/>
                                        </p:tgtEl>
                                        <p:attrNameLst>
                                          <p:attrName>ppt_y</p:attrName>
                                        </p:attrNameLst>
                                      </p:cBhvr>
                                      <p:tavLst>
                                        <p:tav tm="0">
                                          <p:val>
                                            <p:strVal val="#ppt_y+0.05"/>
                                          </p:val>
                                        </p:tav>
                                        <p:tav tm="100000">
                                          <p:val>
                                            <p:strVal val="#ppt_y"/>
                                          </p:val>
                                        </p:tav>
                                      </p:tavLst>
                                    </p:anim>
                                  </p:childTnLst>
                                </p:cTn>
                              </p:par>
                              <p:par>
                                <p:cTn id="25" presetID="10" presetClass="entr" presetSubtype="0" fill="hold" nodeType="withEffect">
                                  <p:stCondLst>
                                    <p:cond delay="30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50"/>
                                        <p:tgtEl>
                                          <p:spTgt spid="8"/>
                                        </p:tgtEl>
                                      </p:cBhvr>
                                    </p:animEffect>
                                    <p:anim calcmode="lin" valueType="num">
                                      <p:cBhvr additive="base">
                                        <p:cTn id="24" dur="450" fill="hold"/>
                                        <p:tgtEl>
                                          <p:spTgt spid="8"/>
                                        </p:tgtEl>
                                        <p:attrNameLst>
                                          <p:attrName>ppt_y</p:attrName>
                                        </p:attrNameLst>
                                      </p:cBhvr>
                                      <p:tavLst>
                                        <p:tav tm="0">
                                          <p:val>
                                            <p:strVal val="#ppt_y+0.05"/>
                                          </p:val>
                                        </p:tav>
                                        <p:tav tm="100000">
                                          <p:val>
                                            <p:strVal val="#ppt_y"/>
                                          </p:val>
                                        </p:tav>
                                      </p:tavLst>
                                    </p:anim>
                                  </p:childTnLst>
                                </p:cTn>
                              </p:par>
                              <p:par>
                                <p:cTn id="29" presetID="10" presetClass="entr" presetSubtype="0" fill="hold" nodeType="withEffect">
                                  <p:stCondLst>
                                    <p:cond delay="3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anim calcmode="lin" valueType="num">
                                      <p:cBhvr additive="base">
                                        <p:cTn id="28" dur="450" fill="hold"/>
                                        <p:tgtEl>
                                          <p:spTgt spid="9"/>
                                        </p:tgtEl>
                                        <p:attrNameLst>
                                          <p:attrName>ppt_y</p:attrName>
                                        </p:attrNameLst>
                                      </p:cBhvr>
                                      <p:tavLst>
                                        <p:tav tm="0">
                                          <p:val>
                                            <p:strVal val="#ppt_y+0.05"/>
                                          </p:val>
                                        </p:tav>
                                        <p:tav tm="100000">
                                          <p:val>
                                            <p:strVal val="#ppt_y"/>
                                          </p:val>
                                        </p:tav>
                                      </p:tavLst>
                                    </p:anim>
                                  </p:childTnLst>
                                </p:cTn>
                              </p:par>
                              <p:par>
                                <p:cTn id="33" presetID="10" presetClass="entr" presetSubtype="0" fill="hold" nodeType="withEffect">
                                  <p:stCondLst>
                                    <p:cond delay="52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anim calcmode="lin" valueType="num">
                                      <p:cBhvr additive="base">
                                        <p:cTn id="32" dur="450" fill="hold"/>
                                        <p:tgtEl>
                                          <p:spTgt spid="10"/>
                                        </p:tgtEl>
                                        <p:attrNameLst>
                                          <p:attrName>ppt_y</p:attrName>
                                        </p:attrNameLst>
                                      </p:cBhvr>
                                      <p:tavLst>
                                        <p:tav tm="0">
                                          <p:val>
                                            <p:strVal val="#ppt_y+0.05"/>
                                          </p:val>
                                        </p:tav>
                                        <p:tav tm="100000">
                                          <p:val>
                                            <p:strVal val="#ppt_y"/>
                                          </p:val>
                                        </p:tav>
                                      </p:tavLst>
                                    </p:anim>
                                  </p:childTnLst>
                                </p:cTn>
                              </p:par>
                              <p:par>
                                <p:cTn id="37" presetID="10" presetClass="entr" presetSubtype="0" fill="hold" nodeType="withEffect">
                                  <p:stCondLst>
                                    <p:cond delay="52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450"/>
                                        <p:tgtEl>
                                          <p:spTgt spid="11"/>
                                        </p:tgtEl>
                                      </p:cBhvr>
                                    </p:animEffect>
                                    <p:anim calcmode="lin" valueType="num">
                                      <p:cBhvr additive="base">
                                        <p:cTn id="36" dur="450" fill="hold"/>
                                        <p:tgtEl>
                                          <p:spTgt spid="11"/>
                                        </p:tgtEl>
                                        <p:attrNameLst>
                                          <p:attrName>ppt_y</p:attrName>
                                        </p:attrNameLst>
                                      </p:cBhvr>
                                      <p:tavLst>
                                        <p:tav tm="0">
                                          <p:val>
                                            <p:strVal val="#ppt_y+0.05"/>
                                          </p:val>
                                        </p:tav>
                                        <p:tav tm="100000">
                                          <p:val>
                                            <p:strVal val="#ppt_y"/>
                                          </p:val>
                                        </p:tav>
                                      </p:tavLst>
                                    </p:anim>
                                  </p:childTnLst>
                                </p:cTn>
                              </p:par>
                              <p:par>
                                <p:cTn id="41" presetID="10" presetClass="entr" presetSubtype="0" fill="hold" nodeType="withEffect">
                                  <p:stCondLst>
                                    <p:cond delay="52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450"/>
                                        <p:tgtEl>
                                          <p:spTgt spid="12"/>
                                        </p:tgtEl>
                                      </p:cBhvr>
                                    </p:animEffect>
                                    <p:anim calcmode="lin" valueType="num">
                                      <p:cBhvr additive="base">
                                        <p:cTn id="40" dur="450" fill="hold"/>
                                        <p:tgtEl>
                                          <p:spTgt spid="12"/>
                                        </p:tgtEl>
                                        <p:attrNameLst>
                                          <p:attrName>ppt_y</p:attrName>
                                        </p:attrNameLst>
                                      </p:cBhvr>
                                      <p:tavLst>
                                        <p:tav tm="0">
                                          <p:val>
                                            <p:strVal val="#ppt_y+0.05"/>
                                          </p:val>
                                        </p:tav>
                                        <p:tav tm="100000">
                                          <p:val>
                                            <p:strVal val="#ppt_y"/>
                                          </p:val>
                                        </p:tav>
                                      </p:tavLst>
                                    </p:anim>
                                  </p:childTnLst>
                                </p:cTn>
                              </p:par>
                              <p:par>
                                <p:cTn id="45" presetID="10" presetClass="entr" presetSubtype="0" fill="hold" nodeType="withEffect">
                                  <p:stCondLst>
                                    <p:cond delay="52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450"/>
                                        <p:tgtEl>
                                          <p:spTgt spid="13"/>
                                        </p:tgtEl>
                                      </p:cBhvr>
                                    </p:animEffect>
                                    <p:anim calcmode="lin" valueType="num">
                                      <p:cBhvr additive="base">
                                        <p:cTn id="44" dur="450" fill="hold"/>
                                        <p:tgtEl>
                                          <p:spTgt spid="13"/>
                                        </p:tgtEl>
                                        <p:attrNameLst>
                                          <p:attrName>ppt_y</p:attrName>
                                        </p:attrNameLst>
                                      </p:cBhvr>
                                      <p:tavLst>
                                        <p:tav tm="0">
                                          <p:val>
                                            <p:strVal val="#ppt_y+0.05"/>
                                          </p:val>
                                        </p:tav>
                                        <p:tav tm="100000">
                                          <p:val>
                                            <p:strVal val="#ppt_y"/>
                                          </p:val>
                                        </p:tav>
                                      </p:tavLst>
                                    </p:anim>
                                  </p:childTnLst>
                                </p:cTn>
                              </p:par>
                              <p:par>
                                <p:cTn id="48" presetID="10" presetClass="entr" presetSubtype="0" fill="hold" nodeType="withEffect">
                                  <p:stCondLst>
                                    <p:cond delay="70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450"/>
                                        <p:tgtEl>
                                          <p:spTgt spid="14"/>
                                        </p:tgtEl>
                                      </p:cBhvr>
                                    </p:animEffect>
                                  </p:childTnLst>
                                </p:cTn>
                              </p:par>
                              <p:par>
                                <p:cTn id="51" presetID="10" presetClass="entr" presetSubtype="0" fill="hold" nodeType="withEffect">
                                  <p:stCondLst>
                                    <p:cond delay="70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450"/>
                                        <p:tgtEl>
                                          <p:spTgt spid="15"/>
                                        </p:tgtEl>
                                      </p:cBhvr>
                                    </p:animEffect>
                                  </p:childTnLst>
                                </p:cTn>
                              </p:par>
                              <p:par>
                                <p:cTn id="55" presetID="10" presetClass="entr" presetSubtype="0" fill="hold" nodeType="withEffect">
                                  <p:stCondLst>
                                    <p:cond delay="85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450"/>
                                        <p:tgtEl>
                                          <p:spTgt spid="16"/>
                                        </p:tgtEl>
                                      </p:cBhvr>
                                    </p:animEffect>
                                    <p:anim calcmode="lin" valueType="num">
                                      <p:cBhvr additive="base">
                                        <p:cTn id="54" dur="450" fill="hold"/>
                                        <p:tgtEl>
                                          <p:spTgt spid="16"/>
                                        </p:tgtEl>
                                        <p:attrNameLst>
                                          <p:attrName>ppt_y</p:attrName>
                                        </p:attrNameLst>
                                      </p:cBhvr>
                                      <p:tavLst>
                                        <p:tav tm="0">
                                          <p:val>
                                            <p:strVal val="#ppt_y+0.05"/>
                                          </p:val>
                                        </p:tav>
                                        <p:tav tm="100000">
                                          <p:val>
                                            <p:strVal val="#ppt_y"/>
                                          </p:val>
                                        </p:tav>
                                      </p:tavLst>
                                    </p:anim>
                                  </p:childTnLst>
                                </p:cTn>
                              </p:par>
                              <p:par>
                                <p:cTn id="59" presetID="10" presetClass="entr" presetSubtype="0" fill="hold" nodeType="withEffect">
                                  <p:stCondLst>
                                    <p:cond delay="85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450"/>
                                        <p:tgtEl>
                                          <p:spTgt spid="17"/>
                                        </p:tgtEl>
                                      </p:cBhvr>
                                    </p:animEffect>
                                    <p:anim calcmode="lin" valueType="num">
                                      <p:cBhvr additive="base">
                                        <p:cTn id="58" dur="450" fill="hold"/>
                                        <p:tgtEl>
                                          <p:spTgt spid="17"/>
                                        </p:tgtEl>
                                        <p:attrNameLst>
                                          <p:attrName>ppt_y</p:attrName>
                                        </p:attrNameLst>
                                      </p:cBhvr>
                                      <p:tavLst>
                                        <p:tav tm="0">
                                          <p:val>
                                            <p:strVal val="#ppt_y+0.05"/>
                                          </p:val>
                                        </p:tav>
                                        <p:tav tm="100000">
                                          <p:val>
                                            <p:strVal val="#ppt_y"/>
                                          </p:val>
                                        </p:tav>
                                      </p:tavLst>
                                    </p:anim>
                                  </p:childTnLst>
                                </p:cTn>
                              </p:par>
                              <p:par>
                                <p:cTn id="63" presetID="10" presetClass="entr" presetSubtype="0" fill="hold" nodeType="withEffect">
                                  <p:stCondLst>
                                    <p:cond delay="850"/>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450"/>
                                        <p:tgtEl>
                                          <p:spTgt spid="18"/>
                                        </p:tgtEl>
                                      </p:cBhvr>
                                    </p:animEffect>
                                    <p:anim calcmode="lin" valueType="num">
                                      <p:cBhvr additive="base">
                                        <p:cTn id="62" dur="450" fill="hold"/>
                                        <p:tgtEl>
                                          <p:spTgt spid="18"/>
                                        </p:tgtEl>
                                        <p:attrNameLst>
                                          <p:attrName>ppt_y</p:attrName>
                                        </p:attrNameLst>
                                      </p:cBhvr>
                                      <p:tavLst>
                                        <p:tav tm="0">
                                          <p:val>
                                            <p:strVal val="#ppt_y+0.05"/>
                                          </p:val>
                                        </p:tav>
                                        <p:tav tm="100000">
                                          <p:val>
                                            <p:strVal val="#ppt_y"/>
                                          </p:val>
                                        </p:tav>
                                      </p:tavLst>
                                    </p:anim>
                                  </p:childTnLst>
                                </p:cTn>
                              </p:par>
                              <p:par>
                                <p:cTn id="67" presetID="10" presetClass="entr" presetSubtype="0" fill="hold" nodeType="withEffect">
                                  <p:stCondLst>
                                    <p:cond delay="850"/>
                                  </p:stCondLst>
                                  <p:childTnLst>
                                    <p:set>
                                      <p:cBhvr>
                                        <p:cTn id="64" dur="1" fill="hold">
                                          <p:stCondLst>
                                            <p:cond delay="0"/>
                                          </p:stCondLst>
                                        </p:cTn>
                                        <p:tgtEl>
                                          <p:spTgt spid="19"/>
                                        </p:tgtEl>
                                        <p:attrNameLst>
                                          <p:attrName>style.visibility</p:attrName>
                                        </p:attrNameLst>
                                      </p:cBhvr>
                                      <p:to>
                                        <p:strVal val="visible"/>
                                      </p:to>
                                    </p:set>
                                    <p:animEffect transition="in" filter="fade">
                                      <p:cBhvr>
                                        <p:cTn id="65" dur="450"/>
                                        <p:tgtEl>
                                          <p:spTgt spid="19"/>
                                        </p:tgtEl>
                                      </p:cBhvr>
                                    </p:animEffect>
                                    <p:anim calcmode="lin" valueType="num">
                                      <p:cBhvr additive="base">
                                        <p:cTn id="66" dur="450" fill="hold"/>
                                        <p:tgtEl>
                                          <p:spTgt spid="19"/>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NUM"/>
          <p:cNvSpPr txBox="1"/>
          <p:nvPr/>
        </p:nvSpPr>
        <p:spPr>
          <a:xfrm>
            <a:off x="7498080" y="365760"/>
            <a:ext cx="4206240" cy="5669280"/>
          </a:xfrm>
          <a:prstGeom prst="rect">
            <a:avLst/>
          </a:prstGeom>
          <a:noFill/>
          <a:ln/>
        </p:spPr>
        <p:txBody>
          <a:bodyPr wrap="square" lIns="0" tIns="0" rIns="0" bIns="0" rtlCol="0" anchor="ctr"/>
          <a:lstStyle/>
          <a:p>
            <a:pPr algn="r" indent="0" marL="0">
              <a:buNone/>
            </a:pPr>
            <a:r>
              <a:rPr lang="en-US" sz="21000" b="1" dirty="0">
                <a:solidFill>
                  <a:srgbClr val="2F5B4D"/>
                </a:solidFill>
                <a:latin typeface="Cambria" pitchFamily="34" charset="0"/>
                <a:ea typeface="Cambria" pitchFamily="34" charset="-122"/>
                <a:cs typeface="Cambria" pitchFamily="34" charset="-120"/>
              </a:rPr>
              <a:t>03</a:t>
            </a:r>
            <a:endParaRPr lang="en-US" sz="21000" dirty="0"/>
          </a:p>
        </p:txBody>
      </p:sp>
      <p:sp>
        <p:nvSpPr>
          <p:cNvPr id="3" name="DK"/>
          <p:cNvSpPr txBox="1"/>
          <p:nvPr/>
        </p:nvSpPr>
        <p:spPr>
          <a:xfrm>
            <a:off x="822960" y="1874520"/>
            <a:ext cx="4572000" cy="365760"/>
          </a:xfrm>
          <a:prstGeom prst="rect">
            <a:avLst/>
          </a:prstGeom>
          <a:noFill/>
          <a:ln/>
        </p:spPr>
        <p:txBody>
          <a:bodyPr wrap="square" lIns="0" tIns="0" rIns="0" bIns="0" rtlCol="0" anchor="t"/>
          <a:lstStyle/>
          <a:p>
            <a:pPr indent="0" marL="0">
              <a:buNone/>
            </a:pPr>
            <a:r>
              <a:rPr lang="en-US" sz="1600" b="1" spc="500" kern="0" dirty="0">
                <a:solidFill>
                  <a:srgbClr val="E3A83A"/>
                </a:solidFill>
                <a:latin typeface="Calibri" pitchFamily="34" charset="0"/>
                <a:ea typeface="Calibri" pitchFamily="34" charset="-122"/>
                <a:cs typeface="Calibri" pitchFamily="34" charset="-120"/>
              </a:rPr>
              <a:t>SECTION 03</a:t>
            </a:r>
            <a:endParaRPr lang="en-US" sz="1600" dirty="0"/>
          </a:p>
        </p:txBody>
      </p:sp>
      <p:sp>
        <p:nvSpPr>
          <p:cNvPr id="4" name="DT"/>
          <p:cNvSpPr txBox="1"/>
          <p:nvPr/>
        </p:nvSpPr>
        <p:spPr>
          <a:xfrm>
            <a:off x="822960" y="2377440"/>
            <a:ext cx="6766560" cy="1737360"/>
          </a:xfrm>
          <a:prstGeom prst="rect">
            <a:avLst/>
          </a:prstGeom>
          <a:noFill/>
          <a:ln/>
        </p:spPr>
        <p:txBody>
          <a:bodyPr wrap="square" lIns="0" tIns="0" rIns="0" bIns="0" rtlCol="0" anchor="t"/>
          <a:lstStyle/>
          <a:p>
            <a:pPr indent="0" marL="0">
              <a:buNone/>
            </a:pPr>
            <a:r>
              <a:rPr lang="en-US" sz="4400" b="1" dirty="0">
                <a:solidFill>
                  <a:srgbClr val="F4EEE3"/>
                </a:solidFill>
                <a:latin typeface="Cambria" pitchFamily="34" charset="0"/>
                <a:ea typeface="Cambria" pitchFamily="34" charset="-122"/>
                <a:cs typeface="Cambria" pitchFamily="34" charset="-120"/>
              </a:rPr>
              <a:t>Exploratory Data Analysis &amp; Windowing Strategy</a:t>
            </a:r>
            <a:endParaRPr lang="en-US" sz="4400" dirty="0"/>
          </a:p>
        </p:txBody>
      </p:sp>
      <p:sp>
        <p:nvSpPr>
          <p:cNvPr id="5" name="DBAR"/>
          <p:cNvSpPr/>
          <p:nvPr/>
        </p:nvSpPr>
        <p:spPr>
          <a:xfrm>
            <a:off x="822960" y="4224528"/>
            <a:ext cx="1188720" cy="64008"/>
          </a:xfrm>
          <a:prstGeom prst="rect">
            <a:avLst/>
          </a:prstGeom>
          <a:solidFill>
            <a:srgbClr val="E3A83A"/>
          </a:solidFill>
          <a:ln w="12700">
            <a:solidFill>
              <a:srgbClr val="E3A83A"/>
            </a:solidFill>
            <a:prstDash val="solid"/>
          </a:ln>
        </p:spPr>
      </p:sp>
      <p:sp>
        <p:nvSpPr>
          <p:cNvPr id="6" name="DS"/>
          <p:cNvSpPr txBox="1"/>
          <p:nvPr/>
        </p:nvSpPr>
        <p:spPr>
          <a:xfrm>
            <a:off x="822960" y="4526280"/>
            <a:ext cx="7498080" cy="914400"/>
          </a:xfrm>
          <a:prstGeom prst="rect">
            <a:avLst/>
          </a:prstGeom>
          <a:noFill/>
          <a:ln/>
        </p:spPr>
        <p:txBody>
          <a:bodyPr wrap="square" lIns="0" tIns="0" rIns="0" bIns="0" rtlCol="0" anchor="t"/>
          <a:lstStyle/>
          <a:p>
            <a:pPr indent="0" marL="0">
              <a:buNone/>
            </a:pPr>
            <a:r>
              <a:rPr lang="en-US" sz="2100" dirty="0">
                <a:solidFill>
                  <a:srgbClr val="D9CDB8"/>
                </a:solidFill>
                <a:latin typeface="Calibri" pitchFamily="34" charset="0"/>
                <a:ea typeface="Calibri" pitchFamily="34" charset="-122"/>
                <a:cs typeface="Calibri" pitchFamily="34" charset="-120"/>
              </a:rPr>
              <a:t>Understanding Sensor Signals, Distributions, and Avoiding Data Leakage</a:t>
            </a:r>
            <a:endParaRPr lang="en-US" sz="2100" dirty="0"/>
          </a:p>
        </p:txBody>
      </p:sp>
      <p:sp>
        <p:nvSpPr>
          <p:cNvPr id="7" name="DF"/>
          <p:cNvSpPr txBox="1"/>
          <p:nvPr/>
        </p:nvSpPr>
        <p:spPr>
          <a:xfrm>
            <a:off x="822960" y="6400800"/>
            <a:ext cx="8229600" cy="256032"/>
          </a:xfrm>
          <a:prstGeom prst="rect">
            <a:avLst/>
          </a:prstGeom>
          <a:noFill/>
          <a:ln/>
        </p:spPr>
        <p:txBody>
          <a:bodyPr wrap="square" lIns="0" tIns="0" rIns="0" bIns="0" rtlCol="0" anchor="t"/>
          <a:lstStyle/>
          <a:p>
            <a:pPr indent="0" marL="0">
              <a:buNone/>
            </a:pPr>
            <a:r>
              <a:rPr lang="en-US" sz="1000" b="1" spc="200" kern="0" dirty="0">
                <a:solidFill>
                  <a:srgbClr val="9FB3A8"/>
                </a:solidFill>
                <a:latin typeface="Calibri" pitchFamily="34" charset="0"/>
                <a:ea typeface="Calibri" pitchFamily="34" charset="-122"/>
                <a:cs typeface="Calibri" pitchFamily="34" charset="-120"/>
              </a:rPr>
              <a:t>DRIFT-SENSE  •  AUTONOMOUS ROBOTICS &amp; FLIGHT TELEMETRY</a:t>
            </a:r>
            <a:endParaRPr lang="en-US" sz="1000" dirty="0"/>
          </a:p>
        </p:txBody>
      </p:sp>
      <p:sp>
        <p:nvSpPr>
          <p:cNvPr id="8" name="DP"/>
          <p:cNvSpPr txBox="1"/>
          <p:nvPr/>
        </p:nvSpPr>
        <p:spPr>
          <a:xfrm>
            <a:off x="10881360" y="6400800"/>
            <a:ext cx="758952" cy="256032"/>
          </a:xfrm>
          <a:prstGeom prst="rect">
            <a:avLst/>
          </a:prstGeom>
          <a:noFill/>
          <a:ln/>
        </p:spPr>
        <p:txBody>
          <a:bodyPr wrap="square" lIns="0" tIns="0" rIns="0" bIns="0" rtlCol="0" anchor="t"/>
          <a:lstStyle/>
          <a:p>
            <a:pPr algn="r" indent="0" marL="0">
              <a:buNone/>
            </a:pPr>
            <a:r>
              <a:rPr lang="en-US" sz="1100" b="1" dirty="0">
                <a:solidFill>
                  <a:srgbClr val="9FB3A8"/>
                </a:solidFill>
                <a:latin typeface="Calibri" pitchFamily="34" charset="0"/>
                <a:ea typeface="Calibri" pitchFamily="34" charset="-122"/>
                <a:cs typeface="Calibri" pitchFamily="34" charset="-120"/>
              </a:rPr>
              <a:t>09</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900">
        <p14:doors dir="ver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21" fill="hold">
                            <p:stCondLst>
                              <p:cond delay="0"/>
                            </p:stCondLst>
                            <p:childTnLst>
                              <p:par>
                                <p:cTn id="6" presetID="10" presetClass="entr" presetSubtype="0" fill="hold" nodeType="withEffect">
                                  <p:stCondLst>
                                    <p:cond delay="15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700"/>
                                        <p:tgtEl>
                                          <p:spTgt spid="2"/>
                                        </p:tgtEl>
                                      </p:cBhvr>
                                    </p:animEffect>
                                  </p:childTnLst>
                                </p:cTn>
                              </p:par>
                              <p:par>
                                <p:cTn id="9" presetID="10" presetClass="entr" presetSubtype="0" fill="hold" nodeType="withEffect">
                                  <p:stCondLst>
                                    <p:cond delay="30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13" presetID="10" presetClass="entr" presetSubtype="0" fill="hold" nodeType="withEffect">
                                  <p:stCondLst>
                                    <p:cond delay="42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anim calcmode="lin" valueType="num">
                                      <p:cBhvr additive="base">
                                        <p:cTn id="12" dur="450" fill="hold"/>
                                        <p:tgtEl>
                                          <p:spTgt spid="4"/>
                                        </p:tgtEl>
                                        <p:attrNameLst>
                                          <p:attrName>ppt_y</p:attrName>
                                        </p:attrNameLst>
                                      </p:cBhvr>
                                      <p:tavLst>
                                        <p:tav tm="0">
                                          <p:val>
                                            <p:strVal val="#ppt_y+0.05"/>
                                          </p:val>
                                        </p:tav>
                                        <p:tav tm="100000">
                                          <p:val>
                                            <p:strVal val="#ppt_y"/>
                                          </p:val>
                                        </p:tav>
                                      </p:tavLst>
                                    </p:anim>
                                  </p:childTnLst>
                                </p:cTn>
                              </p:par>
                              <p:par>
                                <p:cTn id="16" presetID="22" presetClass="entr" presetSubtype="8" fill="hold" nodeType="withEffect">
                                  <p:stCondLst>
                                    <p:cond delay="70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450"/>
                                        <p:tgtEl>
                                          <p:spTgt spid="5"/>
                                        </p:tgtEl>
                                      </p:cBhvr>
                                    </p:animEffect>
                                  </p:childTnLst>
                                </p:cTn>
                              </p:par>
                              <p:par>
                                <p:cTn id="20" presetID="10" presetClass="entr" presetSubtype="0" fill="hold" nodeType="withEffect">
                                  <p:stCondLst>
                                    <p:cond delay="85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50"/>
                                        <p:tgtEl>
                                          <p:spTgt spid="6"/>
                                        </p:tgtEl>
                                      </p:cBhvr>
                                    </p:animEffect>
                                    <p:anim calcmode="lin" valueType="num">
                                      <p:cBhvr additive="base">
                                        <p:cTn id="19" dur="450" fill="hold"/>
                                        <p:tgtEl>
                                          <p:spTgt spid="6"/>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9"/>
          <p:cNvSpPr txBox="1"/>
          <p:nvPr/>
        </p:nvSpPr>
        <p:spPr>
          <a:xfrm>
            <a:off x="548640" y="310896"/>
            <a:ext cx="9144000" cy="256032"/>
          </a:xfrm>
          <a:prstGeom prst="rect">
            <a:avLst/>
          </a:prstGeom>
          <a:noFill/>
          <a:ln/>
        </p:spPr>
        <p:txBody>
          <a:bodyPr wrap="square" lIns="0" tIns="0" rIns="0" bIns="0" rtlCol="0" anchor="t"/>
          <a:lstStyle/>
          <a:p>
            <a:pPr indent="0" marL="0">
              <a:buNone/>
            </a:pPr>
            <a:r>
              <a:rPr lang="en-US" sz="1150" b="1" spc="250" kern="0" dirty="0">
                <a:solidFill>
                  <a:srgbClr val="B8512F"/>
                </a:solidFill>
                <a:latin typeface="Calibri" pitchFamily="34" charset="0"/>
                <a:ea typeface="Calibri" pitchFamily="34" charset="-122"/>
                <a:cs typeface="Calibri" pitchFamily="34" charset="-120"/>
              </a:rPr>
              <a:t>SECTION 03 • EXPLORATORY DATA ANALYSIS</a:t>
            </a:r>
            <a:endParaRPr lang="en-US" sz="1150" dirty="0"/>
          </a:p>
        </p:txBody>
      </p:sp>
      <p:sp>
        <p:nvSpPr>
          <p:cNvPr id="3" name="TTL9"/>
          <p:cNvSpPr txBox="1"/>
          <p:nvPr/>
        </p:nvSpPr>
        <p:spPr>
          <a:xfrm>
            <a:off x="548640" y="603504"/>
            <a:ext cx="11091672" cy="658368"/>
          </a:xfrm>
          <a:prstGeom prst="rect">
            <a:avLst/>
          </a:prstGeom>
          <a:noFill/>
          <a:ln/>
        </p:spPr>
        <p:txBody>
          <a:bodyPr wrap="square" lIns="0" tIns="0" rIns="0" bIns="0" rtlCol="0" anchor="ctr"/>
          <a:lstStyle/>
          <a:p>
            <a:pPr indent="0" marL="0">
              <a:buNone/>
            </a:pPr>
            <a:r>
              <a:rPr lang="en-US" sz="2700" b="1" dirty="0">
                <a:solidFill>
                  <a:srgbClr val="26221E"/>
                </a:solidFill>
                <a:latin typeface="Cambria" pitchFamily="34" charset="0"/>
                <a:ea typeface="Cambria" pitchFamily="34" charset="-122"/>
                <a:cs typeface="Cambria" pitchFamily="34" charset="-120"/>
              </a:rPr>
              <a:t>Flight Path Comparison &amp; Drift Distribution</a:t>
            </a:r>
            <a:endParaRPr lang="en-US" sz="2700" dirty="0"/>
          </a:p>
        </p:txBody>
      </p:sp>
      <p:sp>
        <p:nvSpPr>
          <p:cNvPr id="4" name="PG9"/>
          <p:cNvSpPr txBox="1"/>
          <p:nvPr/>
        </p:nvSpPr>
        <p:spPr>
          <a:xfrm>
            <a:off x="10881360" y="6473952"/>
            <a:ext cx="758952" cy="228600"/>
          </a:xfrm>
          <a:prstGeom prst="rect">
            <a:avLst/>
          </a:prstGeom>
          <a:noFill/>
          <a:ln/>
        </p:spPr>
        <p:txBody>
          <a:bodyPr wrap="square" lIns="0" tIns="0" rIns="0" bIns="0" rtlCol="0" anchor="t"/>
          <a:lstStyle/>
          <a:p>
            <a:pPr algn="r" indent="0" marL="0">
              <a:buNone/>
            </a:pPr>
            <a:r>
              <a:rPr lang="en-US" sz="1100" b="1" dirty="0">
                <a:solidFill>
                  <a:srgbClr val="6F675C"/>
                </a:solidFill>
                <a:latin typeface="Calibri" pitchFamily="34" charset="0"/>
                <a:ea typeface="Calibri" pitchFamily="34" charset="-122"/>
                <a:cs typeface="Calibri" pitchFamily="34" charset="-120"/>
              </a:rPr>
              <a:t>10</a:t>
            </a:r>
            <a:endParaRPr lang="en-US" sz="1100" dirty="0"/>
          </a:p>
        </p:txBody>
      </p:sp>
      <p:sp>
        <p:nvSpPr>
          <p:cNvPr id="5" name="RULE9"/>
          <p:cNvSpPr/>
          <p:nvPr/>
        </p:nvSpPr>
        <p:spPr>
          <a:xfrm>
            <a:off x="548640" y="1280160"/>
            <a:ext cx="822960" cy="41148"/>
          </a:xfrm>
          <a:prstGeom prst="rect">
            <a:avLst/>
          </a:prstGeom>
          <a:solidFill>
            <a:srgbClr val="B8512F"/>
          </a:solidFill>
          <a:ln w="12700">
            <a:solidFill>
              <a:srgbClr val="B8512F"/>
            </a:solidFill>
            <a:prstDash val="solid"/>
          </a:ln>
        </p:spPr>
      </p:sp>
      <p:sp>
        <p:nvSpPr>
          <p:cNvPr id="6" name="IMG10"/>
          <p:cNvSpPr/>
          <p:nvPr/>
        </p:nvSpPr>
        <p:spPr>
          <a:xfrm>
            <a:off x="548640" y="1554480"/>
            <a:ext cx="5669280" cy="2926080"/>
          </a:xfrm>
          <a:prstGeom prst="roundRect">
            <a:avLst>
              <a:gd name="adj" fmla="val 2188"/>
            </a:avLst>
          </a:prstGeom>
          <a:solidFill>
            <a:srgbClr val="FFFFFF"/>
          </a:solidFill>
          <a:ln w="9525">
            <a:solidFill>
              <a:srgbClr val="DED4C2"/>
            </a:solidFill>
            <a:prstDash val="solid"/>
          </a:ln>
          <a:effectLst>
            <a:outerShdw sx="100000" sy="100000" kx="0" ky="0" algn="bl" rotWithShape="0" blurRad="88900" dist="25400" dir="5400000">
              <a:srgbClr val="6B5A3C">
                <a:alpha val="14000"/>
              </a:srgbClr>
            </a:outerShdw>
          </a:effectLst>
        </p:spPr>
      </p:sp>
      <p:pic>
        <p:nvPicPr>
          <p:cNvPr id="7" name="IMG10_i" descr="3-D ground-truth trajectories of both flights">    </p:cNvPr>
          <p:cNvPicPr>
            <a:picLocks noChangeAspect="1"/>
          </p:cNvPicPr>
          <p:nvPr/>
        </p:nvPicPr>
        <p:blipFill>
          <a:blip r:embed="rId1"/>
          <a:stretch>
            <a:fillRect/>
          </a:stretch>
        </p:blipFill>
        <p:spPr>
          <a:xfrm>
            <a:off x="713232" y="1682496"/>
            <a:ext cx="5340096" cy="2670048"/>
          </a:xfrm>
          <a:prstGeom prst="rect">
            <a:avLst/>
          </a:prstGeom>
        </p:spPr>
      </p:pic>
      <p:sp>
        <p:nvSpPr>
          <p:cNvPr id="8" name="C9_log"/>
          <p:cNvSpPr/>
          <p:nvPr/>
        </p:nvSpPr>
        <p:spPr>
          <a:xfrm>
            <a:off x="548640" y="4645152"/>
            <a:ext cx="5669280" cy="1572768"/>
          </a:xfrm>
          <a:prstGeom prst="roundRect">
            <a:avLst>
              <a:gd name="adj" fmla="val 4070"/>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9" name="C9_log_a"/>
          <p:cNvSpPr/>
          <p:nvPr/>
        </p:nvSpPr>
        <p:spPr>
          <a:xfrm>
            <a:off x="548640" y="4791456"/>
            <a:ext cx="64008" cy="1280160"/>
          </a:xfrm>
          <a:prstGeom prst="rect">
            <a:avLst/>
          </a:prstGeom>
          <a:solidFill>
            <a:srgbClr val="B07A12"/>
          </a:solidFill>
          <a:ln w="12700">
            <a:solidFill>
              <a:srgbClr val="B07A12"/>
            </a:solidFill>
            <a:prstDash val="solid"/>
          </a:ln>
        </p:spPr>
      </p:sp>
      <p:sp>
        <p:nvSpPr>
          <p:cNvPr id="10" name="C9_log_h"/>
          <p:cNvSpPr txBox="1"/>
          <p:nvPr/>
        </p:nvSpPr>
        <p:spPr>
          <a:xfrm>
            <a:off x="822960" y="4828032"/>
            <a:ext cx="5212080" cy="292608"/>
          </a:xfrm>
          <a:prstGeom prst="rect">
            <a:avLst/>
          </a:prstGeom>
          <a:noFill/>
          <a:ln/>
        </p:spPr>
        <p:txBody>
          <a:bodyPr wrap="square" lIns="0" tIns="0" rIns="0" bIns="0" rtlCol="0" anchor="t"/>
          <a:lstStyle/>
          <a:p>
            <a:pPr indent="0" marL="0">
              <a:buNone/>
            </a:pPr>
            <a:r>
              <a:rPr lang="en-US" sz="1250" b="1" spc="150" kern="0" dirty="0">
                <a:solidFill>
                  <a:srgbClr val="B07A12"/>
                </a:solidFill>
                <a:latin typeface="Calibri" pitchFamily="34" charset="0"/>
                <a:ea typeface="Calibri" pitchFamily="34" charset="-122"/>
                <a:cs typeface="Calibri" pitchFamily="34" charset="-120"/>
              </a:rPr>
              <a:t>WHY NO LOG TRANSFORM?</a:t>
            </a:r>
            <a:endParaRPr lang="en-US" sz="1250" dirty="0"/>
          </a:p>
        </p:txBody>
      </p:sp>
      <p:sp>
        <p:nvSpPr>
          <p:cNvPr id="11" name="C9_log_b"/>
          <p:cNvSpPr txBox="1"/>
          <p:nvPr/>
        </p:nvSpPr>
        <p:spPr>
          <a:xfrm>
            <a:off x="822960" y="5157216"/>
            <a:ext cx="5212080" cy="950976"/>
          </a:xfrm>
          <a:prstGeom prst="rect">
            <a:avLst/>
          </a:prstGeom>
          <a:noFill/>
          <a:ln/>
        </p:spPr>
        <p:txBody>
          <a:bodyPr wrap="square" lIns="0" tIns="0" rIns="0" bIns="0" rtlCol="0" anchor="t"/>
          <a:lstStyle/>
          <a:p>
            <a:pPr indent="0" marL="0">
              <a:lnSpc>
                <a:spcPct val="105000"/>
              </a:lnSpc>
              <a:spcAft>
                <a:spcPts val="400"/>
              </a:spcAft>
              <a:buNone/>
            </a:pPr>
            <a:r>
              <a:rPr lang="en-US" sz="1350" dirty="0">
                <a:solidFill>
                  <a:srgbClr val="26221E"/>
                </a:solidFill>
                <a:latin typeface="Calibri" pitchFamily="34" charset="0"/>
                <a:ea typeface="Calibri" pitchFamily="34" charset="-122"/>
                <a:cs typeface="Calibri" pitchFamily="34" charset="-120"/>
              </a:rPr>
              <a:t>Drift is tightly bounded (0.89–1.34 m). Applying log(y) would compress centimetre-level variation without mathematical benefit; log transforms suit data spanning orders of magnitude.</a:t>
            </a:r>
            <a:endParaRPr lang="en-US" sz="1350" dirty="0"/>
          </a:p>
        </p:txBody>
      </p:sp>
      <p:sp>
        <p:nvSpPr>
          <p:cNvPr id="12" name="C9_dyn"/>
          <p:cNvSpPr/>
          <p:nvPr/>
        </p:nvSpPr>
        <p:spPr>
          <a:xfrm>
            <a:off x="6400800" y="1554480"/>
            <a:ext cx="5239512" cy="2286000"/>
          </a:xfrm>
          <a:prstGeom prst="roundRect">
            <a:avLst>
              <a:gd name="adj" fmla="val 2800"/>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13" name="C9_dyn_a"/>
          <p:cNvSpPr/>
          <p:nvPr/>
        </p:nvSpPr>
        <p:spPr>
          <a:xfrm>
            <a:off x="6400800" y="1700784"/>
            <a:ext cx="64008" cy="1993392"/>
          </a:xfrm>
          <a:prstGeom prst="rect">
            <a:avLst/>
          </a:prstGeom>
          <a:solidFill>
            <a:srgbClr val="B8512F"/>
          </a:solidFill>
          <a:ln w="12700">
            <a:solidFill>
              <a:srgbClr val="B8512F"/>
            </a:solidFill>
            <a:prstDash val="solid"/>
          </a:ln>
        </p:spPr>
      </p:sp>
      <p:sp>
        <p:nvSpPr>
          <p:cNvPr id="14" name="C9_dyn_h"/>
          <p:cNvSpPr txBox="1"/>
          <p:nvPr/>
        </p:nvSpPr>
        <p:spPr>
          <a:xfrm>
            <a:off x="6675120" y="1737360"/>
            <a:ext cx="4782312" cy="292608"/>
          </a:xfrm>
          <a:prstGeom prst="rect">
            <a:avLst/>
          </a:prstGeom>
          <a:noFill/>
          <a:ln/>
        </p:spPr>
        <p:txBody>
          <a:bodyPr wrap="square" lIns="0" tIns="0" rIns="0" bIns="0" rtlCol="0" anchor="t"/>
          <a:lstStyle/>
          <a:p>
            <a:pPr indent="0" marL="0">
              <a:buNone/>
            </a:pPr>
            <a:r>
              <a:rPr lang="en-US" sz="1250" b="1" spc="150" kern="0" dirty="0">
                <a:solidFill>
                  <a:srgbClr val="B8512F"/>
                </a:solidFill>
                <a:latin typeface="Calibri" pitchFamily="34" charset="0"/>
                <a:ea typeface="Calibri" pitchFamily="34" charset="-122"/>
                <a:cs typeface="Calibri" pitchFamily="34" charset="-120"/>
              </a:rPr>
              <a:t>MACHINE HALL FLIGHT DYNAMICS</a:t>
            </a:r>
            <a:endParaRPr lang="en-US" sz="1250" dirty="0"/>
          </a:p>
        </p:txBody>
      </p:sp>
      <p:sp>
        <p:nvSpPr>
          <p:cNvPr id="15" name="C9_dyn_b"/>
          <p:cNvSpPr txBox="1"/>
          <p:nvPr/>
        </p:nvSpPr>
        <p:spPr>
          <a:xfrm>
            <a:off x="6675120" y="2121408"/>
            <a:ext cx="4782312" cy="1609344"/>
          </a:xfrm>
          <a:prstGeom prst="rect">
            <a:avLst/>
          </a:prstGeom>
          <a:noFill/>
          <a:ln/>
        </p:spPr>
        <p:txBody>
          <a:bodyPr wrap="square" lIns="0" tIns="0" rIns="0" bIns="0" rtlCol="0" anchor="t"/>
          <a:lstStyle/>
          <a:p>
            <a:pPr indent="0" marL="0">
              <a:lnSpc>
                <a:spcPct val="105000"/>
              </a:lnSpc>
              <a:spcAft>
                <a:spcPts val="800"/>
              </a:spcAft>
              <a:buNone/>
            </a:pPr>
            <a:r>
              <a:rPr lang="en-US" sz="1450" dirty="0">
                <a:solidFill>
                  <a:srgbClr val="26221E"/>
                </a:solidFill>
                <a:latin typeface="Calibri" pitchFamily="34" charset="0"/>
                <a:ea typeface="Calibri" pitchFamily="34" charset="-122"/>
                <a:cs typeface="Calibri" pitchFamily="34" charset="-120"/>
              </a:rPr>
              <a:t>Both flights occupy comparable industrial workspace volumes with similar hovering pitch attitudes.</a:t>
            </a:r>
            <a:endParaRPr lang="en-US" sz="1450" dirty="0"/>
          </a:p>
          <a:p>
            <a:pPr indent="0" marL="0">
              <a:lnSpc>
                <a:spcPct val="105000"/>
              </a:lnSpc>
              <a:spcAft>
                <a:spcPts val="800"/>
              </a:spcAft>
              <a:buNone/>
            </a:pPr>
            <a:r>
              <a:rPr lang="en-US" sz="1450" dirty="0">
                <a:solidFill>
                  <a:srgbClr val="26221E"/>
                </a:solidFill>
                <a:latin typeface="Calibri" pitchFamily="34" charset="0"/>
                <a:ea typeface="Calibri" pitchFamily="34" charset="-122"/>
                <a:cs typeface="Calibri" pitchFamily="34" charset="-120"/>
              </a:rPr>
              <a:t>Acceleration magnitude stays near 9.80 m/s² (gravity + flight thrust). Gyroscope signals show small-amplitude chatter (~0.2 rad/s), not extreme tumbling.</a:t>
            </a:r>
            <a:endParaRPr lang="en-US" sz="1450" dirty="0"/>
          </a:p>
        </p:txBody>
      </p:sp>
      <p:sp>
        <p:nvSpPr>
          <p:cNvPr id="16" name="C9_tgt"/>
          <p:cNvSpPr/>
          <p:nvPr/>
        </p:nvSpPr>
        <p:spPr>
          <a:xfrm>
            <a:off x="6400800" y="4023360"/>
            <a:ext cx="5239512" cy="2194560"/>
          </a:xfrm>
          <a:prstGeom prst="roundRect">
            <a:avLst>
              <a:gd name="adj" fmla="val 2917"/>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17" name="C9_tgt_a"/>
          <p:cNvSpPr/>
          <p:nvPr/>
        </p:nvSpPr>
        <p:spPr>
          <a:xfrm>
            <a:off x="6400800" y="4169664"/>
            <a:ext cx="64008" cy="1901952"/>
          </a:xfrm>
          <a:prstGeom prst="rect">
            <a:avLst/>
          </a:prstGeom>
          <a:solidFill>
            <a:srgbClr val="2E5A4C"/>
          </a:solidFill>
          <a:ln w="12700">
            <a:solidFill>
              <a:srgbClr val="2E5A4C"/>
            </a:solidFill>
            <a:prstDash val="solid"/>
          </a:ln>
        </p:spPr>
      </p:sp>
      <p:sp>
        <p:nvSpPr>
          <p:cNvPr id="18" name="C9_tgt_h"/>
          <p:cNvSpPr txBox="1"/>
          <p:nvPr/>
        </p:nvSpPr>
        <p:spPr>
          <a:xfrm>
            <a:off x="6675120" y="4206240"/>
            <a:ext cx="4782312" cy="292608"/>
          </a:xfrm>
          <a:prstGeom prst="rect">
            <a:avLst/>
          </a:prstGeom>
          <a:noFill/>
          <a:ln/>
        </p:spPr>
        <p:txBody>
          <a:bodyPr wrap="square" lIns="0" tIns="0" rIns="0" bIns="0" rtlCol="0" anchor="t"/>
          <a:lstStyle/>
          <a:p>
            <a:pPr indent="0" marL="0">
              <a:buNone/>
            </a:pPr>
            <a:r>
              <a:rPr lang="en-US" sz="1250" b="1" spc="150" kern="0" dirty="0">
                <a:solidFill>
                  <a:srgbClr val="2E5A4C"/>
                </a:solidFill>
                <a:latin typeface="Calibri" pitchFamily="34" charset="0"/>
                <a:ea typeface="Calibri" pitchFamily="34" charset="-122"/>
                <a:cs typeface="Calibri" pitchFamily="34" charset="-120"/>
              </a:rPr>
              <a:t>TARGET LABEL CHARACTERISTICS</a:t>
            </a:r>
            <a:endParaRPr lang="en-US" sz="1250" dirty="0"/>
          </a:p>
        </p:txBody>
      </p:sp>
      <p:sp>
        <p:nvSpPr>
          <p:cNvPr id="19" name="C9_tgt_b"/>
          <p:cNvSpPr txBox="1"/>
          <p:nvPr/>
        </p:nvSpPr>
        <p:spPr>
          <a:xfrm>
            <a:off x="6675120" y="4590288"/>
            <a:ext cx="4782312" cy="1517904"/>
          </a:xfrm>
          <a:prstGeom prst="rect">
            <a:avLst/>
          </a:prstGeom>
          <a:noFill/>
          <a:ln/>
        </p:spPr>
        <p:txBody>
          <a:bodyPr wrap="square" lIns="0" tIns="0" rIns="0" bIns="0" rtlCol="0" anchor="t"/>
          <a:lstStyle/>
          <a:p>
            <a:pPr indent="0" marL="0">
              <a:lnSpc>
                <a:spcPct val="105000"/>
              </a:lnSpc>
              <a:spcAft>
                <a:spcPts val="600"/>
              </a:spcAft>
              <a:buNone/>
            </a:pPr>
            <a:r>
              <a:rPr lang="en-US" sz="1350" dirty="0">
                <a:solidFill>
                  <a:srgbClr val="26221E"/>
                </a:solidFill>
                <a:latin typeface="Calibri" pitchFamily="34" charset="0"/>
                <a:ea typeface="Calibri" pitchFamily="34" charset="-122"/>
                <a:cs typeface="Calibri" pitchFamily="34" charset="-120"/>
              </a:rPr>
              <a:t>MH_01_easy: mean 1.215 m • std 0.058 m • range 1.00–1.34 m.</a:t>
            </a:r>
            <a:endParaRPr lang="en-US" sz="1350" dirty="0"/>
          </a:p>
          <a:p>
            <a:pPr indent="0" marL="0">
              <a:lnSpc>
                <a:spcPct val="105000"/>
              </a:lnSpc>
              <a:spcAft>
                <a:spcPts val="600"/>
              </a:spcAft>
              <a:buNone/>
            </a:pPr>
            <a:r>
              <a:rPr lang="en-US" sz="1350" dirty="0">
                <a:solidFill>
                  <a:srgbClr val="26221E"/>
                </a:solidFill>
                <a:latin typeface="Calibri" pitchFamily="34" charset="0"/>
                <a:ea typeface="Calibri" pitchFamily="34" charset="-122"/>
                <a:cs typeface="Calibri" pitchFamily="34" charset="-120"/>
              </a:rPr>
              <a:t>MH_02_easy: mean 1.203 m • std 0.079 m • range 0.89–1.32 m.</a:t>
            </a:r>
            <a:endParaRPr lang="en-US" sz="1350" dirty="0"/>
          </a:p>
          <a:p>
            <a:pPr indent="0" marL="0">
              <a:lnSpc>
                <a:spcPct val="105000"/>
              </a:lnSpc>
              <a:spcAft>
                <a:spcPts val="600"/>
              </a:spcAft>
              <a:buNone/>
            </a:pPr>
            <a:r>
              <a:rPr lang="en-US" sz="1350" dirty="0">
                <a:solidFill>
                  <a:srgbClr val="26221E"/>
                </a:solidFill>
                <a:latin typeface="Calibri" pitchFamily="34" charset="0"/>
                <a:ea typeface="Calibri" pitchFamily="34" charset="-122"/>
                <a:cs typeface="Calibri" pitchFamily="34" charset="-120"/>
              </a:rPr>
              <a:t>Slight negative skew (−1.66 to −2.11) is caused by take-off transition.</a:t>
            </a:r>
            <a:endParaRPr lang="en-US" sz="1350" dirty="0"/>
          </a:p>
        </p:txBody>
      </p:sp>
    </p:spTree>
  </p:cSld>
  <p:clrMapOvr>
    <a:masterClrMapping/>
  </p:clrMapOvr>
  <mc:AlternateContent xmlns:mc="http://schemas.openxmlformats.org/markup-compatibility/2006">
    <mc:Choice xmlns:p14="http://schemas.microsoft.com/office/powerpoint/2010/main" Requires="p14">
      <p:transition spd="slow" p14:dur="900">
        <p14:pan dir="r"/>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8" fill="hold">
                            <p:stCondLst>
                              <p:cond delay="0"/>
                            </p:stCondLst>
                            <p:childTnLst>
                              <p:par>
                                <p:cTn id="6" presetID="10" presetClass="entr" presetSubtype="0" fill="hold" nodeType="withEffect">
                                  <p:stCondLst>
                                    <p:cond delay="8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10" presetID="10" presetClass="entr" presetSubtype="0" fill="hold" nodeType="withEffect">
                                  <p:stCondLst>
                                    <p:cond delay="12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anim calcmode="lin" valueType="num">
                                      <p:cBhvr additive="base">
                                        <p:cTn id="9" dur="450" fill="hold"/>
                                        <p:tgtEl>
                                          <p:spTgt spid="3"/>
                                        </p:tgtEl>
                                        <p:attrNameLst>
                                          <p:attrName>ppt_y</p:attrName>
                                        </p:attrNameLst>
                                      </p:cBhvr>
                                      <p:tavLst>
                                        <p:tav tm="0">
                                          <p:val>
                                            <p:strVal val="#ppt_y+0.05"/>
                                          </p:val>
                                        </p:tav>
                                        <p:tav tm="100000">
                                          <p:val>
                                            <p:strVal val="#ppt_y"/>
                                          </p:val>
                                        </p:tav>
                                      </p:tavLst>
                                    </p:anim>
                                  </p:childTnLst>
                                </p:cTn>
                              </p:par>
                              <p:par>
                                <p:cTn id="13" presetID="22" presetClass="entr" presetSubtype="8" fill="hold"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450"/>
                                        <p:tgtEl>
                                          <p:spTgt spid="5"/>
                                        </p:tgtEl>
                                      </p:cBhvr>
                                    </p:animEffect>
                                  </p:childTnLst>
                                </p:cTn>
                              </p:par>
                              <p:par>
                                <p:cTn id="16" presetID="10" presetClass="entr" presetSubtype="0" fill="hold" nodeType="withEffect">
                                  <p:stCondLst>
                                    <p:cond delay="3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9" presetID="10" presetClass="entr" presetSubtype="0" fill="hold" nodeType="withEffect">
                                  <p:stCondLst>
                                    <p:cond delay="30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23" presetID="10" presetClass="entr" presetSubtype="0" fill="hold" nodeType="withEffect">
                                  <p:stCondLst>
                                    <p:cond delay="90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anim calcmode="lin" valueType="num">
                                      <p:cBhvr additive="base">
                                        <p:cTn id="22" dur="450" fill="hold"/>
                                        <p:tgtEl>
                                          <p:spTgt spid="8"/>
                                        </p:tgtEl>
                                        <p:attrNameLst>
                                          <p:attrName>ppt_y</p:attrName>
                                        </p:attrNameLst>
                                      </p:cBhvr>
                                      <p:tavLst>
                                        <p:tav tm="0">
                                          <p:val>
                                            <p:strVal val="#ppt_y+0.05"/>
                                          </p:val>
                                        </p:tav>
                                        <p:tav tm="100000">
                                          <p:val>
                                            <p:strVal val="#ppt_y"/>
                                          </p:val>
                                        </p:tav>
                                      </p:tavLst>
                                    </p:anim>
                                  </p:childTnLst>
                                </p:cTn>
                              </p:par>
                              <p:par>
                                <p:cTn id="27" presetID="10" presetClass="entr" presetSubtype="0" fill="hold" nodeType="withEffect">
                                  <p:stCondLst>
                                    <p:cond delay="9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anim calcmode="lin" valueType="num">
                                      <p:cBhvr additive="base">
                                        <p:cTn id="26" dur="450" fill="hold"/>
                                        <p:tgtEl>
                                          <p:spTgt spid="9"/>
                                        </p:tgtEl>
                                        <p:attrNameLst>
                                          <p:attrName>ppt_y</p:attrName>
                                        </p:attrNameLst>
                                      </p:cBhvr>
                                      <p:tavLst>
                                        <p:tav tm="0">
                                          <p:val>
                                            <p:strVal val="#ppt_y+0.05"/>
                                          </p:val>
                                        </p:tav>
                                        <p:tav tm="100000">
                                          <p:val>
                                            <p:strVal val="#ppt_y"/>
                                          </p:val>
                                        </p:tav>
                                      </p:tavLst>
                                    </p:anim>
                                  </p:childTnLst>
                                </p:cTn>
                              </p:par>
                              <p:par>
                                <p:cTn id="31" presetID="10" presetClass="entr" presetSubtype="0" fill="hold" nodeType="withEffect">
                                  <p:stCondLst>
                                    <p:cond delay="90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anim calcmode="lin" valueType="num">
                                      <p:cBhvr additive="base">
                                        <p:cTn id="30" dur="450" fill="hold"/>
                                        <p:tgtEl>
                                          <p:spTgt spid="10"/>
                                        </p:tgtEl>
                                        <p:attrNameLst>
                                          <p:attrName>ppt_y</p:attrName>
                                        </p:attrNameLst>
                                      </p:cBhvr>
                                      <p:tavLst>
                                        <p:tav tm="0">
                                          <p:val>
                                            <p:strVal val="#ppt_y+0.05"/>
                                          </p:val>
                                        </p:tav>
                                        <p:tav tm="100000">
                                          <p:val>
                                            <p:strVal val="#ppt_y"/>
                                          </p:val>
                                        </p:tav>
                                      </p:tavLst>
                                    </p:anim>
                                  </p:childTnLst>
                                </p:cTn>
                              </p:par>
                              <p:par>
                                <p:cTn id="35" presetID="10" presetClass="entr" presetSubtype="0" fill="hold" nodeType="withEffect">
                                  <p:stCondLst>
                                    <p:cond delay="90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50"/>
                                        <p:tgtEl>
                                          <p:spTgt spid="11"/>
                                        </p:tgtEl>
                                      </p:cBhvr>
                                    </p:animEffect>
                                    <p:anim calcmode="lin" valueType="num">
                                      <p:cBhvr additive="base">
                                        <p:cTn id="34" dur="450" fill="hold"/>
                                        <p:tgtEl>
                                          <p:spTgt spid="11"/>
                                        </p:tgtEl>
                                        <p:attrNameLst>
                                          <p:attrName>ppt_y</p:attrName>
                                        </p:attrNameLst>
                                      </p:cBhvr>
                                      <p:tavLst>
                                        <p:tav tm="0">
                                          <p:val>
                                            <p:strVal val="#ppt_y+0.05"/>
                                          </p:val>
                                        </p:tav>
                                        <p:tav tm="100000">
                                          <p:val>
                                            <p:strVal val="#ppt_y"/>
                                          </p:val>
                                        </p:tav>
                                      </p:tavLst>
                                    </p:anim>
                                  </p:childTnLst>
                                </p:cTn>
                              </p:par>
                              <p:par>
                                <p:cTn id="39" presetID="10" presetClass="entr" presetSubtype="0" fill="hold" nodeType="withEffect">
                                  <p:stCondLst>
                                    <p:cond delay="50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50"/>
                                        <p:tgtEl>
                                          <p:spTgt spid="12"/>
                                        </p:tgtEl>
                                      </p:cBhvr>
                                    </p:animEffect>
                                    <p:anim calcmode="lin" valueType="num">
                                      <p:cBhvr additive="base">
                                        <p:cTn id="38" dur="450" fill="hold"/>
                                        <p:tgtEl>
                                          <p:spTgt spid="12"/>
                                        </p:tgtEl>
                                        <p:attrNameLst>
                                          <p:attrName>ppt_y</p:attrName>
                                        </p:attrNameLst>
                                      </p:cBhvr>
                                      <p:tavLst>
                                        <p:tav tm="0">
                                          <p:val>
                                            <p:strVal val="#ppt_y+0.05"/>
                                          </p:val>
                                        </p:tav>
                                        <p:tav tm="100000">
                                          <p:val>
                                            <p:strVal val="#ppt_y"/>
                                          </p:val>
                                        </p:tav>
                                      </p:tavLst>
                                    </p:anim>
                                  </p:childTnLst>
                                </p:cTn>
                              </p:par>
                              <p:par>
                                <p:cTn id="43" presetID="10" presetClass="entr" presetSubtype="0" fill="hold" nodeType="withEffect">
                                  <p:stCondLst>
                                    <p:cond delay="50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450"/>
                                        <p:tgtEl>
                                          <p:spTgt spid="13"/>
                                        </p:tgtEl>
                                      </p:cBhvr>
                                    </p:animEffect>
                                    <p:anim calcmode="lin" valueType="num">
                                      <p:cBhvr additive="base">
                                        <p:cTn id="42" dur="450" fill="hold"/>
                                        <p:tgtEl>
                                          <p:spTgt spid="13"/>
                                        </p:tgtEl>
                                        <p:attrNameLst>
                                          <p:attrName>ppt_y</p:attrName>
                                        </p:attrNameLst>
                                      </p:cBhvr>
                                      <p:tavLst>
                                        <p:tav tm="0">
                                          <p:val>
                                            <p:strVal val="#ppt_y+0.05"/>
                                          </p:val>
                                        </p:tav>
                                        <p:tav tm="100000">
                                          <p:val>
                                            <p:strVal val="#ppt_y"/>
                                          </p:val>
                                        </p:tav>
                                      </p:tavLst>
                                    </p:anim>
                                  </p:childTnLst>
                                </p:cTn>
                              </p:par>
                              <p:par>
                                <p:cTn id="47" presetID="10" presetClass="entr" presetSubtype="0" fill="hold" nodeType="withEffect">
                                  <p:stCondLst>
                                    <p:cond delay="50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450"/>
                                        <p:tgtEl>
                                          <p:spTgt spid="14"/>
                                        </p:tgtEl>
                                      </p:cBhvr>
                                    </p:animEffect>
                                    <p:anim calcmode="lin" valueType="num">
                                      <p:cBhvr additive="base">
                                        <p:cTn id="46" dur="450" fill="hold"/>
                                        <p:tgtEl>
                                          <p:spTgt spid="14"/>
                                        </p:tgtEl>
                                        <p:attrNameLst>
                                          <p:attrName>ppt_y</p:attrName>
                                        </p:attrNameLst>
                                      </p:cBhvr>
                                      <p:tavLst>
                                        <p:tav tm="0">
                                          <p:val>
                                            <p:strVal val="#ppt_y+0.05"/>
                                          </p:val>
                                        </p:tav>
                                        <p:tav tm="100000">
                                          <p:val>
                                            <p:strVal val="#ppt_y"/>
                                          </p:val>
                                        </p:tav>
                                      </p:tavLst>
                                    </p:anim>
                                  </p:childTnLst>
                                </p:cTn>
                              </p:par>
                              <p:par>
                                <p:cTn id="51" presetID="10" presetClass="entr" presetSubtype="0" fill="hold" nodeType="withEffect">
                                  <p:stCondLst>
                                    <p:cond delay="50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450"/>
                                        <p:tgtEl>
                                          <p:spTgt spid="15"/>
                                        </p:tgtEl>
                                      </p:cBhvr>
                                    </p:animEffect>
                                    <p:anim calcmode="lin" valueType="num">
                                      <p:cBhvr additive="base">
                                        <p:cTn id="50" dur="450" fill="hold"/>
                                        <p:tgtEl>
                                          <p:spTgt spid="15"/>
                                        </p:tgtEl>
                                        <p:attrNameLst>
                                          <p:attrName>ppt_y</p:attrName>
                                        </p:attrNameLst>
                                      </p:cBhvr>
                                      <p:tavLst>
                                        <p:tav tm="0">
                                          <p:val>
                                            <p:strVal val="#ppt_y+0.05"/>
                                          </p:val>
                                        </p:tav>
                                        <p:tav tm="100000">
                                          <p:val>
                                            <p:strVal val="#ppt_y"/>
                                          </p:val>
                                        </p:tav>
                                      </p:tavLst>
                                    </p:anim>
                                  </p:childTnLst>
                                </p:cTn>
                              </p:par>
                              <p:par>
                                <p:cTn id="55" presetID="10" presetClass="entr" presetSubtype="0" fill="hold" nodeType="withEffect">
                                  <p:stCondLst>
                                    <p:cond delay="70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450"/>
                                        <p:tgtEl>
                                          <p:spTgt spid="16"/>
                                        </p:tgtEl>
                                      </p:cBhvr>
                                    </p:animEffect>
                                    <p:anim calcmode="lin" valueType="num">
                                      <p:cBhvr additive="base">
                                        <p:cTn id="54" dur="450" fill="hold"/>
                                        <p:tgtEl>
                                          <p:spTgt spid="16"/>
                                        </p:tgtEl>
                                        <p:attrNameLst>
                                          <p:attrName>ppt_y</p:attrName>
                                        </p:attrNameLst>
                                      </p:cBhvr>
                                      <p:tavLst>
                                        <p:tav tm="0">
                                          <p:val>
                                            <p:strVal val="#ppt_y+0.05"/>
                                          </p:val>
                                        </p:tav>
                                        <p:tav tm="100000">
                                          <p:val>
                                            <p:strVal val="#ppt_y"/>
                                          </p:val>
                                        </p:tav>
                                      </p:tavLst>
                                    </p:anim>
                                  </p:childTnLst>
                                </p:cTn>
                              </p:par>
                              <p:par>
                                <p:cTn id="59" presetID="10" presetClass="entr" presetSubtype="0" fill="hold" nodeType="withEffect">
                                  <p:stCondLst>
                                    <p:cond delay="70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450"/>
                                        <p:tgtEl>
                                          <p:spTgt spid="17"/>
                                        </p:tgtEl>
                                      </p:cBhvr>
                                    </p:animEffect>
                                    <p:anim calcmode="lin" valueType="num">
                                      <p:cBhvr additive="base">
                                        <p:cTn id="58" dur="450" fill="hold"/>
                                        <p:tgtEl>
                                          <p:spTgt spid="17"/>
                                        </p:tgtEl>
                                        <p:attrNameLst>
                                          <p:attrName>ppt_y</p:attrName>
                                        </p:attrNameLst>
                                      </p:cBhvr>
                                      <p:tavLst>
                                        <p:tav tm="0">
                                          <p:val>
                                            <p:strVal val="#ppt_y+0.05"/>
                                          </p:val>
                                        </p:tav>
                                        <p:tav tm="100000">
                                          <p:val>
                                            <p:strVal val="#ppt_y"/>
                                          </p:val>
                                        </p:tav>
                                      </p:tavLst>
                                    </p:anim>
                                  </p:childTnLst>
                                </p:cTn>
                              </p:par>
                              <p:par>
                                <p:cTn id="63" presetID="10" presetClass="entr" presetSubtype="0" fill="hold" nodeType="withEffect">
                                  <p:stCondLst>
                                    <p:cond delay="700"/>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450"/>
                                        <p:tgtEl>
                                          <p:spTgt spid="18"/>
                                        </p:tgtEl>
                                      </p:cBhvr>
                                    </p:animEffect>
                                    <p:anim calcmode="lin" valueType="num">
                                      <p:cBhvr additive="base">
                                        <p:cTn id="62" dur="450" fill="hold"/>
                                        <p:tgtEl>
                                          <p:spTgt spid="18"/>
                                        </p:tgtEl>
                                        <p:attrNameLst>
                                          <p:attrName>ppt_y</p:attrName>
                                        </p:attrNameLst>
                                      </p:cBhvr>
                                      <p:tavLst>
                                        <p:tav tm="0">
                                          <p:val>
                                            <p:strVal val="#ppt_y+0.05"/>
                                          </p:val>
                                        </p:tav>
                                        <p:tav tm="100000">
                                          <p:val>
                                            <p:strVal val="#ppt_y"/>
                                          </p:val>
                                        </p:tav>
                                      </p:tavLst>
                                    </p:anim>
                                  </p:childTnLst>
                                </p:cTn>
                              </p:par>
                              <p:par>
                                <p:cTn id="67" presetID="10" presetClass="entr" presetSubtype="0" fill="hold" nodeType="withEffect">
                                  <p:stCondLst>
                                    <p:cond delay="700"/>
                                  </p:stCondLst>
                                  <p:childTnLst>
                                    <p:set>
                                      <p:cBhvr>
                                        <p:cTn id="64" dur="1" fill="hold">
                                          <p:stCondLst>
                                            <p:cond delay="0"/>
                                          </p:stCondLst>
                                        </p:cTn>
                                        <p:tgtEl>
                                          <p:spTgt spid="19"/>
                                        </p:tgtEl>
                                        <p:attrNameLst>
                                          <p:attrName>style.visibility</p:attrName>
                                        </p:attrNameLst>
                                      </p:cBhvr>
                                      <p:to>
                                        <p:strVal val="visible"/>
                                      </p:to>
                                    </p:set>
                                    <p:animEffect transition="in" filter="fade">
                                      <p:cBhvr>
                                        <p:cTn id="65" dur="450"/>
                                        <p:tgtEl>
                                          <p:spTgt spid="19"/>
                                        </p:tgtEl>
                                      </p:cBhvr>
                                    </p:animEffect>
                                    <p:anim calcmode="lin" valueType="num">
                                      <p:cBhvr additive="base">
                                        <p:cTn id="66" dur="450" fill="hold"/>
                                        <p:tgtEl>
                                          <p:spTgt spid="19"/>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10"/>
          <p:cNvSpPr txBox="1"/>
          <p:nvPr/>
        </p:nvSpPr>
        <p:spPr>
          <a:xfrm>
            <a:off x="548640" y="310896"/>
            <a:ext cx="9144000" cy="256032"/>
          </a:xfrm>
          <a:prstGeom prst="rect">
            <a:avLst/>
          </a:prstGeom>
          <a:noFill/>
          <a:ln/>
        </p:spPr>
        <p:txBody>
          <a:bodyPr wrap="square" lIns="0" tIns="0" rIns="0" bIns="0" rtlCol="0" anchor="t"/>
          <a:lstStyle/>
          <a:p>
            <a:pPr indent="0" marL="0">
              <a:buNone/>
            </a:pPr>
            <a:r>
              <a:rPr lang="en-US" sz="1150" b="1" spc="250" kern="0" dirty="0">
                <a:solidFill>
                  <a:srgbClr val="B8512F"/>
                </a:solidFill>
                <a:latin typeface="Calibri" pitchFamily="34" charset="0"/>
                <a:ea typeface="Calibri" pitchFamily="34" charset="-122"/>
                <a:cs typeface="Calibri" pitchFamily="34" charset="-120"/>
              </a:rPr>
              <a:t>SECTION 03 • VALIDATION PROTOCOL</a:t>
            </a:r>
            <a:endParaRPr lang="en-US" sz="1150" dirty="0"/>
          </a:p>
        </p:txBody>
      </p:sp>
      <p:sp>
        <p:nvSpPr>
          <p:cNvPr id="3" name="TTL10"/>
          <p:cNvSpPr txBox="1"/>
          <p:nvPr/>
        </p:nvSpPr>
        <p:spPr>
          <a:xfrm>
            <a:off x="548640" y="603504"/>
            <a:ext cx="11091672" cy="658368"/>
          </a:xfrm>
          <a:prstGeom prst="rect">
            <a:avLst/>
          </a:prstGeom>
          <a:noFill/>
          <a:ln/>
        </p:spPr>
        <p:txBody>
          <a:bodyPr wrap="square" lIns="0" tIns="0" rIns="0" bIns="0" rtlCol="0" anchor="ctr"/>
          <a:lstStyle/>
          <a:p>
            <a:pPr indent="0" marL="0">
              <a:buNone/>
            </a:pPr>
            <a:r>
              <a:rPr lang="en-US" sz="2700" b="1" dirty="0">
                <a:solidFill>
                  <a:srgbClr val="26221E"/>
                </a:solidFill>
                <a:latin typeface="Cambria" pitchFamily="34" charset="0"/>
                <a:ea typeface="Cambria" pitchFamily="34" charset="-122"/>
                <a:cs typeface="Cambria" pitchFamily="34" charset="-120"/>
              </a:rPr>
              <a:t>Why 2.0s Windows and Leave-One-Flight-Out Splitting?</a:t>
            </a:r>
            <a:endParaRPr lang="en-US" sz="2700" dirty="0"/>
          </a:p>
        </p:txBody>
      </p:sp>
      <p:sp>
        <p:nvSpPr>
          <p:cNvPr id="4" name="PG10"/>
          <p:cNvSpPr txBox="1"/>
          <p:nvPr/>
        </p:nvSpPr>
        <p:spPr>
          <a:xfrm>
            <a:off x="10881360" y="6473952"/>
            <a:ext cx="758952" cy="228600"/>
          </a:xfrm>
          <a:prstGeom prst="rect">
            <a:avLst/>
          </a:prstGeom>
          <a:noFill/>
          <a:ln/>
        </p:spPr>
        <p:txBody>
          <a:bodyPr wrap="square" lIns="0" tIns="0" rIns="0" bIns="0" rtlCol="0" anchor="t"/>
          <a:lstStyle/>
          <a:p>
            <a:pPr algn="r" indent="0" marL="0">
              <a:buNone/>
            </a:pPr>
            <a:r>
              <a:rPr lang="en-US" sz="1100" b="1" dirty="0">
                <a:solidFill>
                  <a:srgbClr val="6F675C"/>
                </a:solidFill>
                <a:latin typeface="Calibri" pitchFamily="34" charset="0"/>
                <a:ea typeface="Calibri" pitchFamily="34" charset="-122"/>
                <a:cs typeface="Calibri" pitchFamily="34" charset="-120"/>
              </a:rPr>
              <a:t>11</a:t>
            </a:r>
            <a:endParaRPr lang="en-US" sz="1100" dirty="0"/>
          </a:p>
        </p:txBody>
      </p:sp>
      <p:sp>
        <p:nvSpPr>
          <p:cNvPr id="5" name="RULE10"/>
          <p:cNvSpPr/>
          <p:nvPr/>
        </p:nvSpPr>
        <p:spPr>
          <a:xfrm>
            <a:off x="548640" y="1280160"/>
            <a:ext cx="822960" cy="41148"/>
          </a:xfrm>
          <a:prstGeom prst="rect">
            <a:avLst/>
          </a:prstGeom>
          <a:solidFill>
            <a:srgbClr val="B8512F"/>
          </a:solidFill>
          <a:ln w="12700">
            <a:solidFill>
              <a:srgbClr val="B8512F"/>
            </a:solidFill>
            <a:prstDash val="solid"/>
          </a:ln>
        </p:spPr>
      </p:sp>
      <p:sp>
        <p:nvSpPr>
          <p:cNvPr id="6" name="IMG11"/>
          <p:cNvSpPr/>
          <p:nvPr/>
        </p:nvSpPr>
        <p:spPr>
          <a:xfrm>
            <a:off x="548640" y="1554480"/>
            <a:ext cx="5760720" cy="2606040"/>
          </a:xfrm>
          <a:prstGeom prst="roundRect">
            <a:avLst>
              <a:gd name="adj" fmla="val 2456"/>
            </a:avLst>
          </a:prstGeom>
          <a:solidFill>
            <a:srgbClr val="FFFFFF"/>
          </a:solidFill>
          <a:ln w="9525">
            <a:solidFill>
              <a:srgbClr val="DED4C2"/>
            </a:solidFill>
            <a:prstDash val="solid"/>
          </a:ln>
          <a:effectLst>
            <a:outerShdw sx="100000" sy="100000" kx="0" ky="0" algn="bl" rotWithShape="0" blurRad="88900" dist="25400" dir="5400000">
              <a:srgbClr val="6B5A3C">
                <a:alpha val="14000"/>
              </a:srgbClr>
            </a:outerShdw>
          </a:effectLst>
        </p:spPr>
      </p:sp>
      <p:pic>
        <p:nvPicPr>
          <p:cNvPr id="7" name="IMG11_i" descr="Prediction error versus window length">    </p:cNvPr>
          <p:cNvPicPr>
            <a:picLocks noChangeAspect="1"/>
          </p:cNvPicPr>
          <p:nvPr/>
        </p:nvPicPr>
        <p:blipFill>
          <a:blip r:embed="rId1"/>
          <a:stretch>
            <a:fillRect/>
          </a:stretch>
        </p:blipFill>
        <p:spPr>
          <a:xfrm>
            <a:off x="676656" y="1856648"/>
            <a:ext cx="5504688" cy="2001705"/>
          </a:xfrm>
          <a:prstGeom prst="rect">
            <a:avLst/>
          </a:prstGeom>
        </p:spPr>
      </p:pic>
      <p:sp>
        <p:nvSpPr>
          <p:cNvPr id="8" name="C10_why"/>
          <p:cNvSpPr/>
          <p:nvPr/>
        </p:nvSpPr>
        <p:spPr>
          <a:xfrm>
            <a:off x="6492240" y="1554480"/>
            <a:ext cx="5148072" cy="2606040"/>
          </a:xfrm>
          <a:prstGeom prst="roundRect">
            <a:avLst>
              <a:gd name="adj" fmla="val 2456"/>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9" name="C10_why_a"/>
          <p:cNvSpPr/>
          <p:nvPr/>
        </p:nvSpPr>
        <p:spPr>
          <a:xfrm>
            <a:off x="6492240" y="1700784"/>
            <a:ext cx="64008" cy="2313432"/>
          </a:xfrm>
          <a:prstGeom prst="rect">
            <a:avLst/>
          </a:prstGeom>
          <a:solidFill>
            <a:srgbClr val="B8512F"/>
          </a:solidFill>
          <a:ln w="12700">
            <a:solidFill>
              <a:srgbClr val="B8512F"/>
            </a:solidFill>
            <a:prstDash val="solid"/>
          </a:ln>
        </p:spPr>
      </p:sp>
      <p:sp>
        <p:nvSpPr>
          <p:cNvPr id="10" name="C10_why_h"/>
          <p:cNvSpPr txBox="1"/>
          <p:nvPr/>
        </p:nvSpPr>
        <p:spPr>
          <a:xfrm>
            <a:off x="6766560" y="1737360"/>
            <a:ext cx="4690872" cy="292608"/>
          </a:xfrm>
          <a:prstGeom prst="rect">
            <a:avLst/>
          </a:prstGeom>
          <a:noFill/>
          <a:ln/>
        </p:spPr>
        <p:txBody>
          <a:bodyPr wrap="square" lIns="0" tIns="0" rIns="0" bIns="0" rtlCol="0" anchor="t"/>
          <a:lstStyle/>
          <a:p>
            <a:pPr indent="0" marL="0">
              <a:buNone/>
            </a:pPr>
            <a:r>
              <a:rPr lang="en-US" sz="1250" b="1" spc="150" kern="0" dirty="0">
                <a:solidFill>
                  <a:srgbClr val="B8512F"/>
                </a:solidFill>
                <a:latin typeface="Calibri" pitchFamily="34" charset="0"/>
                <a:ea typeface="Calibri" pitchFamily="34" charset="-122"/>
                <a:cs typeface="Calibri" pitchFamily="34" charset="-120"/>
              </a:rPr>
              <a:t>WHY 2.0 s INSTEAD OF 1.0 s?</a:t>
            </a:r>
            <a:endParaRPr lang="en-US" sz="1250" dirty="0"/>
          </a:p>
        </p:txBody>
      </p:sp>
      <p:sp>
        <p:nvSpPr>
          <p:cNvPr id="11" name="C10_why_b"/>
          <p:cNvSpPr txBox="1"/>
          <p:nvPr/>
        </p:nvSpPr>
        <p:spPr>
          <a:xfrm>
            <a:off x="6766560" y="2121408"/>
            <a:ext cx="4690872" cy="1929384"/>
          </a:xfrm>
          <a:prstGeom prst="rect">
            <a:avLst/>
          </a:prstGeom>
          <a:noFill/>
          <a:ln/>
        </p:spPr>
        <p:txBody>
          <a:bodyPr wrap="square" lIns="0" tIns="0" rIns="0" bIns="0" rtlCol="0" anchor="t"/>
          <a:lstStyle/>
          <a:p>
            <a:pPr indent="0" marL="0">
              <a:lnSpc>
                <a:spcPct val="105000"/>
              </a:lnSpc>
              <a:spcAft>
                <a:spcPts val="900"/>
              </a:spcAft>
              <a:buNone/>
            </a:pPr>
            <a:r>
              <a:rPr lang="en-US" sz="1500" dirty="0">
                <a:solidFill>
                  <a:srgbClr val="26221E"/>
                </a:solidFill>
                <a:latin typeface="Calibri" pitchFamily="34" charset="0"/>
                <a:ea typeface="Calibri" pitchFamily="34" charset="-122"/>
                <a:cs typeface="Calibri" pitchFamily="34" charset="-120"/>
              </a:rPr>
              <a:t>At 1.0 s, drift is ≈18 cm; bias has not grown sufficiently above sensor noise. Theoretical R² ceiling ≈0.50.</a:t>
            </a:r>
            <a:endParaRPr lang="en-US" sz="1500" dirty="0"/>
          </a:p>
          <a:p>
            <a:pPr indent="0" marL="0">
              <a:lnSpc>
                <a:spcPct val="105000"/>
              </a:lnSpc>
              <a:spcAft>
                <a:spcPts val="900"/>
              </a:spcAft>
              <a:buNone/>
            </a:pPr>
            <a:r>
              <a:rPr lang="en-US" sz="1500" dirty="0">
                <a:solidFill>
                  <a:srgbClr val="26221E"/>
                </a:solidFill>
                <a:latin typeface="Calibri" pitchFamily="34" charset="0"/>
                <a:ea typeface="Calibri" pitchFamily="34" charset="-122"/>
                <a:cs typeface="Calibri" pitchFamily="34" charset="-120"/>
              </a:rPr>
              <a:t>At 2.0 s, double integration lets bias drift reach 1.21 m, above random vibration noise. Predictability ceiling rises from 0.50 to 0.83.</a:t>
            </a:r>
            <a:endParaRPr lang="en-US" sz="1500" dirty="0"/>
          </a:p>
        </p:txBody>
      </p:sp>
      <p:sp>
        <p:nvSpPr>
          <p:cNvPr id="12" name="C10_loso"/>
          <p:cNvSpPr/>
          <p:nvPr/>
        </p:nvSpPr>
        <p:spPr>
          <a:xfrm>
            <a:off x="548640" y="4343400"/>
            <a:ext cx="11091672" cy="1874520"/>
          </a:xfrm>
          <a:prstGeom prst="roundRect">
            <a:avLst>
              <a:gd name="adj" fmla="val 3415"/>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13" name="C10_loso_a"/>
          <p:cNvSpPr/>
          <p:nvPr/>
        </p:nvSpPr>
        <p:spPr>
          <a:xfrm>
            <a:off x="548640" y="4489704"/>
            <a:ext cx="64008" cy="1581912"/>
          </a:xfrm>
          <a:prstGeom prst="rect">
            <a:avLst/>
          </a:prstGeom>
          <a:solidFill>
            <a:srgbClr val="2E5A4C"/>
          </a:solidFill>
          <a:ln w="12700">
            <a:solidFill>
              <a:srgbClr val="2E5A4C"/>
            </a:solidFill>
            <a:prstDash val="solid"/>
          </a:ln>
        </p:spPr>
      </p:sp>
      <p:sp>
        <p:nvSpPr>
          <p:cNvPr id="14" name="C10_loso_h"/>
          <p:cNvSpPr txBox="1"/>
          <p:nvPr/>
        </p:nvSpPr>
        <p:spPr>
          <a:xfrm>
            <a:off x="822960" y="4526280"/>
            <a:ext cx="10634472" cy="292608"/>
          </a:xfrm>
          <a:prstGeom prst="rect">
            <a:avLst/>
          </a:prstGeom>
          <a:noFill/>
          <a:ln/>
        </p:spPr>
        <p:txBody>
          <a:bodyPr wrap="square" lIns="0" tIns="0" rIns="0" bIns="0" rtlCol="0" anchor="t"/>
          <a:lstStyle/>
          <a:p>
            <a:pPr indent="0" marL="0">
              <a:buNone/>
            </a:pPr>
            <a:r>
              <a:rPr lang="en-US" sz="1250" b="1" spc="150" kern="0" dirty="0">
                <a:solidFill>
                  <a:srgbClr val="2E5A4C"/>
                </a:solidFill>
                <a:latin typeface="Calibri" pitchFamily="34" charset="0"/>
                <a:ea typeface="Calibri" pitchFamily="34" charset="-122"/>
                <a:cs typeface="Calibri" pitchFamily="34" charset="-120"/>
              </a:rPr>
              <a:t>THE 87.5% OVERLAP &amp; LOSO</a:t>
            </a:r>
            <a:endParaRPr lang="en-US" sz="1250" dirty="0"/>
          </a:p>
        </p:txBody>
      </p:sp>
      <p:sp>
        <p:nvSpPr>
          <p:cNvPr id="15" name="C10_loso_b"/>
          <p:cNvSpPr txBox="1"/>
          <p:nvPr/>
        </p:nvSpPr>
        <p:spPr>
          <a:xfrm>
            <a:off x="822960" y="4910328"/>
            <a:ext cx="10634472" cy="1197864"/>
          </a:xfrm>
          <a:prstGeom prst="rect">
            <a:avLst/>
          </a:prstGeom>
          <a:noFill/>
          <a:ln/>
        </p:spPr>
        <p:txBody>
          <a:bodyPr wrap="square" lIns="0" tIns="0" rIns="0" bIns="0" rtlCol="0" anchor="t"/>
          <a:lstStyle/>
          <a:p>
            <a:pPr indent="0" marL="0">
              <a:lnSpc>
                <a:spcPct val="105000"/>
              </a:lnSpc>
              <a:spcAft>
                <a:spcPts val="700"/>
              </a:spcAft>
              <a:buNone/>
            </a:pPr>
            <a:r>
              <a:rPr lang="en-US" sz="1500" dirty="0">
                <a:solidFill>
                  <a:srgbClr val="26221E"/>
                </a:solidFill>
                <a:latin typeface="Calibri" pitchFamily="34" charset="0"/>
                <a:ea typeface="Calibri" pitchFamily="34" charset="-122"/>
                <a:cs typeface="Calibri" pitchFamily="34" charset="-120"/>
              </a:rPr>
              <a:t>Windows advance 0.25 s every 2.0 s, sharing 87.5% of sensor samples. Random splitting leaks near-duplicates across train/test.</a:t>
            </a:r>
            <a:endParaRPr lang="en-US" sz="1500" dirty="0"/>
          </a:p>
          <a:p>
            <a:pPr indent="0" marL="0">
              <a:lnSpc>
                <a:spcPct val="105000"/>
              </a:lnSpc>
              <a:spcAft>
                <a:spcPts val="700"/>
              </a:spcAft>
              <a:buNone/>
            </a:pPr>
            <a:r>
              <a:rPr lang="en-US" sz="1500" dirty="0">
                <a:solidFill>
                  <a:srgbClr val="26221E"/>
                </a:solidFill>
                <a:latin typeface="Calibri" pitchFamily="34" charset="0"/>
                <a:ea typeface="Calibri" pitchFamily="34" charset="-122"/>
                <a:cs typeface="Calibri" pitchFamily="34" charset="-120"/>
              </a:rPr>
              <a:t>Fold 1: train MH_02 (592 windows) → test unseen MH_01 (720).</a:t>
            </a:r>
            <a:endParaRPr lang="en-US" sz="1500" dirty="0"/>
          </a:p>
          <a:p>
            <a:pPr indent="0" marL="0">
              <a:lnSpc>
                <a:spcPct val="105000"/>
              </a:lnSpc>
              <a:spcAft>
                <a:spcPts val="700"/>
              </a:spcAft>
              <a:buNone/>
            </a:pPr>
            <a:r>
              <a:rPr lang="en-US" sz="1500" dirty="0">
                <a:solidFill>
                  <a:srgbClr val="26221E"/>
                </a:solidFill>
                <a:latin typeface="Calibri" pitchFamily="34" charset="0"/>
                <a:ea typeface="Calibri" pitchFamily="34" charset="-122"/>
                <a:cs typeface="Calibri" pitchFamily="34" charset="-120"/>
              </a:rPr>
              <a:t>Fold 2: train MH_01 (720) → test unseen MH_02 (592).</a:t>
            </a:r>
            <a:endParaRPr lang="en-US" sz="1500" dirty="0"/>
          </a:p>
        </p:txBody>
      </p:sp>
    </p:spTree>
  </p:cSld>
  <p:clrMapOvr>
    <a:masterClrMapping/>
  </p:clrMapOvr>
  <mc:AlternateContent xmlns:mc="http://schemas.openxmlformats.org/markup-compatibility/2006">
    <mc:Choice xmlns:p14="http://schemas.microsoft.com/office/powerpoint/2010/main" Requires="p14">
      <p:transition spd="slow" p14:dur="900">
        <p14:pan dir="r"/>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52" fill="hold">
                            <p:stCondLst>
                              <p:cond delay="0"/>
                            </p:stCondLst>
                            <p:childTnLst>
                              <p:par>
                                <p:cTn id="6" presetID="10" presetClass="entr" presetSubtype="0" fill="hold" nodeType="withEffect">
                                  <p:stCondLst>
                                    <p:cond delay="8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10" presetID="10" presetClass="entr" presetSubtype="0" fill="hold" nodeType="withEffect">
                                  <p:stCondLst>
                                    <p:cond delay="12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anim calcmode="lin" valueType="num">
                                      <p:cBhvr additive="base">
                                        <p:cTn id="9" dur="450" fill="hold"/>
                                        <p:tgtEl>
                                          <p:spTgt spid="3"/>
                                        </p:tgtEl>
                                        <p:attrNameLst>
                                          <p:attrName>ppt_y</p:attrName>
                                        </p:attrNameLst>
                                      </p:cBhvr>
                                      <p:tavLst>
                                        <p:tav tm="0">
                                          <p:val>
                                            <p:strVal val="#ppt_y+0.05"/>
                                          </p:val>
                                        </p:tav>
                                        <p:tav tm="100000">
                                          <p:val>
                                            <p:strVal val="#ppt_y"/>
                                          </p:val>
                                        </p:tav>
                                      </p:tavLst>
                                    </p:anim>
                                  </p:childTnLst>
                                </p:cTn>
                              </p:par>
                              <p:par>
                                <p:cTn id="13" presetID="22" presetClass="entr" presetSubtype="8" fill="hold"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450"/>
                                        <p:tgtEl>
                                          <p:spTgt spid="5"/>
                                        </p:tgtEl>
                                      </p:cBhvr>
                                    </p:animEffect>
                                  </p:childTnLst>
                                </p:cTn>
                              </p:par>
                              <p:par>
                                <p:cTn id="16" presetID="10" presetClass="entr" presetSubtype="0" fill="hold" nodeType="withEffect">
                                  <p:stCondLst>
                                    <p:cond delay="3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9" presetID="10" presetClass="entr" presetSubtype="0" fill="hold" nodeType="withEffect">
                                  <p:stCondLst>
                                    <p:cond delay="30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23" presetID="10" presetClass="entr" presetSubtype="0" fill="hold" nodeType="withEffect">
                                  <p:stCondLst>
                                    <p:cond delay="50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anim calcmode="lin" valueType="num">
                                      <p:cBhvr additive="base">
                                        <p:cTn id="22" dur="450" fill="hold"/>
                                        <p:tgtEl>
                                          <p:spTgt spid="8"/>
                                        </p:tgtEl>
                                        <p:attrNameLst>
                                          <p:attrName>ppt_y</p:attrName>
                                        </p:attrNameLst>
                                      </p:cBhvr>
                                      <p:tavLst>
                                        <p:tav tm="0">
                                          <p:val>
                                            <p:strVal val="#ppt_y+0.05"/>
                                          </p:val>
                                        </p:tav>
                                        <p:tav tm="100000">
                                          <p:val>
                                            <p:strVal val="#ppt_y"/>
                                          </p:val>
                                        </p:tav>
                                      </p:tavLst>
                                    </p:anim>
                                  </p:childTnLst>
                                </p:cTn>
                              </p:par>
                              <p:par>
                                <p:cTn id="27" presetID="10" presetClass="entr" presetSubtype="0" fill="hold" nodeType="withEffect">
                                  <p:stCondLst>
                                    <p:cond delay="5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anim calcmode="lin" valueType="num">
                                      <p:cBhvr additive="base">
                                        <p:cTn id="26" dur="450" fill="hold"/>
                                        <p:tgtEl>
                                          <p:spTgt spid="9"/>
                                        </p:tgtEl>
                                        <p:attrNameLst>
                                          <p:attrName>ppt_y</p:attrName>
                                        </p:attrNameLst>
                                      </p:cBhvr>
                                      <p:tavLst>
                                        <p:tav tm="0">
                                          <p:val>
                                            <p:strVal val="#ppt_y+0.05"/>
                                          </p:val>
                                        </p:tav>
                                        <p:tav tm="100000">
                                          <p:val>
                                            <p:strVal val="#ppt_y"/>
                                          </p:val>
                                        </p:tav>
                                      </p:tavLst>
                                    </p:anim>
                                  </p:childTnLst>
                                </p:cTn>
                              </p:par>
                              <p:par>
                                <p:cTn id="31" presetID="10" presetClass="entr" presetSubtype="0" fill="hold" nodeType="withEffect">
                                  <p:stCondLst>
                                    <p:cond delay="50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anim calcmode="lin" valueType="num">
                                      <p:cBhvr additive="base">
                                        <p:cTn id="30" dur="450" fill="hold"/>
                                        <p:tgtEl>
                                          <p:spTgt spid="10"/>
                                        </p:tgtEl>
                                        <p:attrNameLst>
                                          <p:attrName>ppt_y</p:attrName>
                                        </p:attrNameLst>
                                      </p:cBhvr>
                                      <p:tavLst>
                                        <p:tav tm="0">
                                          <p:val>
                                            <p:strVal val="#ppt_y+0.05"/>
                                          </p:val>
                                        </p:tav>
                                        <p:tav tm="100000">
                                          <p:val>
                                            <p:strVal val="#ppt_y"/>
                                          </p:val>
                                        </p:tav>
                                      </p:tavLst>
                                    </p:anim>
                                  </p:childTnLst>
                                </p:cTn>
                              </p:par>
                              <p:par>
                                <p:cTn id="35" presetID="10" presetClass="entr" presetSubtype="0" fill="hold" nodeType="withEffect">
                                  <p:stCondLst>
                                    <p:cond delay="50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50"/>
                                        <p:tgtEl>
                                          <p:spTgt spid="11"/>
                                        </p:tgtEl>
                                      </p:cBhvr>
                                    </p:animEffect>
                                    <p:anim calcmode="lin" valueType="num">
                                      <p:cBhvr additive="base">
                                        <p:cTn id="34" dur="450" fill="hold"/>
                                        <p:tgtEl>
                                          <p:spTgt spid="11"/>
                                        </p:tgtEl>
                                        <p:attrNameLst>
                                          <p:attrName>ppt_y</p:attrName>
                                        </p:attrNameLst>
                                      </p:cBhvr>
                                      <p:tavLst>
                                        <p:tav tm="0">
                                          <p:val>
                                            <p:strVal val="#ppt_y+0.05"/>
                                          </p:val>
                                        </p:tav>
                                        <p:tav tm="100000">
                                          <p:val>
                                            <p:strVal val="#ppt_y"/>
                                          </p:val>
                                        </p:tav>
                                      </p:tavLst>
                                    </p:anim>
                                  </p:childTnLst>
                                </p:cTn>
                              </p:par>
                              <p:par>
                                <p:cTn id="39" presetID="10" presetClass="entr" presetSubtype="0" fill="hold" nodeType="withEffect">
                                  <p:stCondLst>
                                    <p:cond delay="70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50"/>
                                        <p:tgtEl>
                                          <p:spTgt spid="12"/>
                                        </p:tgtEl>
                                      </p:cBhvr>
                                    </p:animEffect>
                                    <p:anim calcmode="lin" valueType="num">
                                      <p:cBhvr additive="base">
                                        <p:cTn id="38" dur="450" fill="hold"/>
                                        <p:tgtEl>
                                          <p:spTgt spid="12"/>
                                        </p:tgtEl>
                                        <p:attrNameLst>
                                          <p:attrName>ppt_y</p:attrName>
                                        </p:attrNameLst>
                                      </p:cBhvr>
                                      <p:tavLst>
                                        <p:tav tm="0">
                                          <p:val>
                                            <p:strVal val="#ppt_y+0.05"/>
                                          </p:val>
                                        </p:tav>
                                        <p:tav tm="100000">
                                          <p:val>
                                            <p:strVal val="#ppt_y"/>
                                          </p:val>
                                        </p:tav>
                                      </p:tavLst>
                                    </p:anim>
                                  </p:childTnLst>
                                </p:cTn>
                              </p:par>
                              <p:par>
                                <p:cTn id="43" presetID="10" presetClass="entr" presetSubtype="0" fill="hold" nodeType="withEffect">
                                  <p:stCondLst>
                                    <p:cond delay="70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450"/>
                                        <p:tgtEl>
                                          <p:spTgt spid="13"/>
                                        </p:tgtEl>
                                      </p:cBhvr>
                                    </p:animEffect>
                                    <p:anim calcmode="lin" valueType="num">
                                      <p:cBhvr additive="base">
                                        <p:cTn id="42" dur="450" fill="hold"/>
                                        <p:tgtEl>
                                          <p:spTgt spid="13"/>
                                        </p:tgtEl>
                                        <p:attrNameLst>
                                          <p:attrName>ppt_y</p:attrName>
                                        </p:attrNameLst>
                                      </p:cBhvr>
                                      <p:tavLst>
                                        <p:tav tm="0">
                                          <p:val>
                                            <p:strVal val="#ppt_y+0.05"/>
                                          </p:val>
                                        </p:tav>
                                        <p:tav tm="100000">
                                          <p:val>
                                            <p:strVal val="#ppt_y"/>
                                          </p:val>
                                        </p:tav>
                                      </p:tavLst>
                                    </p:anim>
                                  </p:childTnLst>
                                </p:cTn>
                              </p:par>
                              <p:par>
                                <p:cTn id="47" presetID="10" presetClass="entr" presetSubtype="0" fill="hold" nodeType="withEffect">
                                  <p:stCondLst>
                                    <p:cond delay="70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450"/>
                                        <p:tgtEl>
                                          <p:spTgt spid="14"/>
                                        </p:tgtEl>
                                      </p:cBhvr>
                                    </p:animEffect>
                                    <p:anim calcmode="lin" valueType="num">
                                      <p:cBhvr additive="base">
                                        <p:cTn id="46" dur="450" fill="hold"/>
                                        <p:tgtEl>
                                          <p:spTgt spid="14"/>
                                        </p:tgtEl>
                                        <p:attrNameLst>
                                          <p:attrName>ppt_y</p:attrName>
                                        </p:attrNameLst>
                                      </p:cBhvr>
                                      <p:tavLst>
                                        <p:tav tm="0">
                                          <p:val>
                                            <p:strVal val="#ppt_y+0.05"/>
                                          </p:val>
                                        </p:tav>
                                        <p:tav tm="100000">
                                          <p:val>
                                            <p:strVal val="#ppt_y"/>
                                          </p:val>
                                        </p:tav>
                                      </p:tavLst>
                                    </p:anim>
                                  </p:childTnLst>
                                </p:cTn>
                              </p:par>
                              <p:par>
                                <p:cTn id="51" presetID="10" presetClass="entr" presetSubtype="0" fill="hold" nodeType="withEffect">
                                  <p:stCondLst>
                                    <p:cond delay="70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450"/>
                                        <p:tgtEl>
                                          <p:spTgt spid="15"/>
                                        </p:tgtEl>
                                      </p:cBhvr>
                                    </p:animEffect>
                                    <p:anim calcmode="lin" valueType="num">
                                      <p:cBhvr additive="base">
                                        <p:cTn id="50" dur="450" fill="hold"/>
                                        <p:tgtEl>
                                          <p:spTgt spid="15"/>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NUM"/>
          <p:cNvSpPr txBox="1"/>
          <p:nvPr/>
        </p:nvSpPr>
        <p:spPr>
          <a:xfrm>
            <a:off x="7498080" y="365760"/>
            <a:ext cx="4206240" cy="5669280"/>
          </a:xfrm>
          <a:prstGeom prst="rect">
            <a:avLst/>
          </a:prstGeom>
          <a:noFill/>
          <a:ln/>
        </p:spPr>
        <p:txBody>
          <a:bodyPr wrap="square" lIns="0" tIns="0" rIns="0" bIns="0" rtlCol="0" anchor="ctr"/>
          <a:lstStyle/>
          <a:p>
            <a:pPr algn="r" indent="0" marL="0">
              <a:buNone/>
            </a:pPr>
            <a:r>
              <a:rPr lang="en-US" sz="21000" b="1" dirty="0">
                <a:solidFill>
                  <a:srgbClr val="2F5B4D"/>
                </a:solidFill>
                <a:latin typeface="Cambria" pitchFamily="34" charset="0"/>
                <a:ea typeface="Cambria" pitchFamily="34" charset="-122"/>
                <a:cs typeface="Cambria" pitchFamily="34" charset="-120"/>
              </a:rPr>
              <a:t>04</a:t>
            </a:r>
            <a:endParaRPr lang="en-US" sz="21000" dirty="0"/>
          </a:p>
        </p:txBody>
      </p:sp>
      <p:sp>
        <p:nvSpPr>
          <p:cNvPr id="3" name="DK"/>
          <p:cNvSpPr txBox="1"/>
          <p:nvPr/>
        </p:nvSpPr>
        <p:spPr>
          <a:xfrm>
            <a:off x="822960" y="1874520"/>
            <a:ext cx="4572000" cy="365760"/>
          </a:xfrm>
          <a:prstGeom prst="rect">
            <a:avLst/>
          </a:prstGeom>
          <a:noFill/>
          <a:ln/>
        </p:spPr>
        <p:txBody>
          <a:bodyPr wrap="square" lIns="0" tIns="0" rIns="0" bIns="0" rtlCol="0" anchor="t"/>
          <a:lstStyle/>
          <a:p>
            <a:pPr indent="0" marL="0">
              <a:buNone/>
            </a:pPr>
            <a:r>
              <a:rPr lang="en-US" sz="1600" b="1" spc="500" kern="0" dirty="0">
                <a:solidFill>
                  <a:srgbClr val="E3A83A"/>
                </a:solidFill>
                <a:latin typeface="Calibri" pitchFamily="34" charset="0"/>
                <a:ea typeface="Calibri" pitchFamily="34" charset="-122"/>
                <a:cs typeface="Calibri" pitchFamily="34" charset="-120"/>
              </a:rPr>
              <a:t>SECTION 04</a:t>
            </a:r>
            <a:endParaRPr lang="en-US" sz="1600" dirty="0"/>
          </a:p>
        </p:txBody>
      </p:sp>
      <p:sp>
        <p:nvSpPr>
          <p:cNvPr id="4" name="DT"/>
          <p:cNvSpPr txBox="1"/>
          <p:nvPr/>
        </p:nvSpPr>
        <p:spPr>
          <a:xfrm>
            <a:off x="822960" y="2377440"/>
            <a:ext cx="6766560" cy="1737360"/>
          </a:xfrm>
          <a:prstGeom prst="rect">
            <a:avLst/>
          </a:prstGeom>
          <a:noFill/>
          <a:ln/>
        </p:spPr>
        <p:txBody>
          <a:bodyPr wrap="square" lIns="0" tIns="0" rIns="0" bIns="0" rtlCol="0" anchor="t"/>
          <a:lstStyle/>
          <a:p>
            <a:pPr indent="0" marL="0">
              <a:buNone/>
            </a:pPr>
            <a:r>
              <a:rPr lang="en-US" sz="4400" b="1" dirty="0">
                <a:solidFill>
                  <a:srgbClr val="F4EEE3"/>
                </a:solidFill>
                <a:latin typeface="Cambria" pitchFamily="34" charset="0"/>
                <a:ea typeface="Cambria" pitchFamily="34" charset="-122"/>
                <a:cs typeface="Cambria" pitchFamily="34" charset="-120"/>
              </a:rPr>
              <a:t>Domain Feature Engineering</a:t>
            </a:r>
            <a:endParaRPr lang="en-US" sz="4400" dirty="0"/>
          </a:p>
        </p:txBody>
      </p:sp>
      <p:sp>
        <p:nvSpPr>
          <p:cNvPr id="5" name="DBAR"/>
          <p:cNvSpPr/>
          <p:nvPr/>
        </p:nvSpPr>
        <p:spPr>
          <a:xfrm>
            <a:off x="822960" y="4224528"/>
            <a:ext cx="1188720" cy="64008"/>
          </a:xfrm>
          <a:prstGeom prst="rect">
            <a:avLst/>
          </a:prstGeom>
          <a:solidFill>
            <a:srgbClr val="E3A83A"/>
          </a:solidFill>
          <a:ln w="12700">
            <a:solidFill>
              <a:srgbClr val="E3A83A"/>
            </a:solidFill>
            <a:prstDash val="solid"/>
          </a:ln>
        </p:spPr>
      </p:sp>
      <p:sp>
        <p:nvSpPr>
          <p:cNvPr id="6" name="DS"/>
          <p:cNvSpPr txBox="1"/>
          <p:nvPr/>
        </p:nvSpPr>
        <p:spPr>
          <a:xfrm>
            <a:off x="822960" y="4526280"/>
            <a:ext cx="7498080" cy="914400"/>
          </a:xfrm>
          <a:prstGeom prst="rect">
            <a:avLst/>
          </a:prstGeom>
          <a:noFill/>
          <a:ln/>
        </p:spPr>
        <p:txBody>
          <a:bodyPr wrap="square" lIns="0" tIns="0" rIns="0" bIns="0" rtlCol="0" anchor="t"/>
          <a:lstStyle/>
          <a:p>
            <a:pPr indent="0" marL="0">
              <a:buNone/>
            </a:pPr>
            <a:r>
              <a:rPr lang="en-US" sz="2100" dirty="0">
                <a:solidFill>
                  <a:srgbClr val="D9CDB8"/>
                </a:solidFill>
                <a:latin typeface="Calibri" pitchFamily="34" charset="0"/>
                <a:ea typeface="Calibri" pitchFamily="34" charset="-122"/>
                <a:cs typeface="Calibri" pitchFamily="34" charset="-120"/>
              </a:rPr>
              <a:t>Extracting 104 Motion Descriptors and the Physics of Tilt</a:t>
            </a:r>
            <a:endParaRPr lang="en-US" sz="2100" dirty="0"/>
          </a:p>
        </p:txBody>
      </p:sp>
      <p:sp>
        <p:nvSpPr>
          <p:cNvPr id="7" name="DF"/>
          <p:cNvSpPr txBox="1"/>
          <p:nvPr/>
        </p:nvSpPr>
        <p:spPr>
          <a:xfrm>
            <a:off x="822960" y="6400800"/>
            <a:ext cx="8229600" cy="256032"/>
          </a:xfrm>
          <a:prstGeom prst="rect">
            <a:avLst/>
          </a:prstGeom>
          <a:noFill/>
          <a:ln/>
        </p:spPr>
        <p:txBody>
          <a:bodyPr wrap="square" lIns="0" tIns="0" rIns="0" bIns="0" rtlCol="0" anchor="t"/>
          <a:lstStyle/>
          <a:p>
            <a:pPr indent="0" marL="0">
              <a:buNone/>
            </a:pPr>
            <a:r>
              <a:rPr lang="en-US" sz="1000" b="1" spc="200" kern="0" dirty="0">
                <a:solidFill>
                  <a:srgbClr val="9FB3A8"/>
                </a:solidFill>
                <a:latin typeface="Calibri" pitchFamily="34" charset="0"/>
                <a:ea typeface="Calibri" pitchFamily="34" charset="-122"/>
                <a:cs typeface="Calibri" pitchFamily="34" charset="-120"/>
              </a:rPr>
              <a:t>DRIFT-SENSE  •  AUTONOMOUS ROBOTICS &amp; FLIGHT TELEMETRY</a:t>
            </a:r>
            <a:endParaRPr lang="en-US" sz="1000" dirty="0"/>
          </a:p>
        </p:txBody>
      </p:sp>
      <p:sp>
        <p:nvSpPr>
          <p:cNvPr id="8" name="DP"/>
          <p:cNvSpPr txBox="1"/>
          <p:nvPr/>
        </p:nvSpPr>
        <p:spPr>
          <a:xfrm>
            <a:off x="10881360" y="6400800"/>
            <a:ext cx="758952" cy="256032"/>
          </a:xfrm>
          <a:prstGeom prst="rect">
            <a:avLst/>
          </a:prstGeom>
          <a:noFill/>
          <a:ln/>
        </p:spPr>
        <p:txBody>
          <a:bodyPr wrap="square" lIns="0" tIns="0" rIns="0" bIns="0" rtlCol="0" anchor="t"/>
          <a:lstStyle/>
          <a:p>
            <a:pPr algn="r" indent="0" marL="0">
              <a:buNone/>
            </a:pPr>
            <a:r>
              <a:rPr lang="en-US" sz="1100" b="1" dirty="0">
                <a:solidFill>
                  <a:srgbClr val="9FB3A8"/>
                </a:solidFill>
                <a:latin typeface="Calibri" pitchFamily="34" charset="0"/>
                <a:ea typeface="Calibri" pitchFamily="34" charset="-122"/>
                <a:cs typeface="Calibri" pitchFamily="34" charset="-120"/>
              </a:rPr>
              <a:t>12</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900">
        <p14:doors dir="ver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21" fill="hold">
                            <p:stCondLst>
                              <p:cond delay="0"/>
                            </p:stCondLst>
                            <p:childTnLst>
                              <p:par>
                                <p:cTn id="6" presetID="10" presetClass="entr" presetSubtype="0" fill="hold" nodeType="withEffect">
                                  <p:stCondLst>
                                    <p:cond delay="15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700"/>
                                        <p:tgtEl>
                                          <p:spTgt spid="2"/>
                                        </p:tgtEl>
                                      </p:cBhvr>
                                    </p:animEffect>
                                  </p:childTnLst>
                                </p:cTn>
                              </p:par>
                              <p:par>
                                <p:cTn id="9" presetID="10" presetClass="entr" presetSubtype="0" fill="hold" nodeType="withEffect">
                                  <p:stCondLst>
                                    <p:cond delay="30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13" presetID="10" presetClass="entr" presetSubtype="0" fill="hold" nodeType="withEffect">
                                  <p:stCondLst>
                                    <p:cond delay="42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anim calcmode="lin" valueType="num">
                                      <p:cBhvr additive="base">
                                        <p:cTn id="12" dur="450" fill="hold"/>
                                        <p:tgtEl>
                                          <p:spTgt spid="4"/>
                                        </p:tgtEl>
                                        <p:attrNameLst>
                                          <p:attrName>ppt_y</p:attrName>
                                        </p:attrNameLst>
                                      </p:cBhvr>
                                      <p:tavLst>
                                        <p:tav tm="0">
                                          <p:val>
                                            <p:strVal val="#ppt_y+0.05"/>
                                          </p:val>
                                        </p:tav>
                                        <p:tav tm="100000">
                                          <p:val>
                                            <p:strVal val="#ppt_y"/>
                                          </p:val>
                                        </p:tav>
                                      </p:tavLst>
                                    </p:anim>
                                  </p:childTnLst>
                                </p:cTn>
                              </p:par>
                              <p:par>
                                <p:cTn id="16" presetID="22" presetClass="entr" presetSubtype="8" fill="hold" nodeType="withEffect">
                                  <p:stCondLst>
                                    <p:cond delay="70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450"/>
                                        <p:tgtEl>
                                          <p:spTgt spid="5"/>
                                        </p:tgtEl>
                                      </p:cBhvr>
                                    </p:animEffect>
                                  </p:childTnLst>
                                </p:cTn>
                              </p:par>
                              <p:par>
                                <p:cTn id="20" presetID="10" presetClass="entr" presetSubtype="0" fill="hold" nodeType="withEffect">
                                  <p:stCondLst>
                                    <p:cond delay="85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50"/>
                                        <p:tgtEl>
                                          <p:spTgt spid="6"/>
                                        </p:tgtEl>
                                      </p:cBhvr>
                                    </p:animEffect>
                                    <p:anim calcmode="lin" valueType="num">
                                      <p:cBhvr additive="base">
                                        <p:cTn id="19" dur="450" fill="hold"/>
                                        <p:tgtEl>
                                          <p:spTgt spid="6"/>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12"/>
          <p:cNvSpPr txBox="1"/>
          <p:nvPr/>
        </p:nvSpPr>
        <p:spPr>
          <a:xfrm>
            <a:off x="548640" y="310896"/>
            <a:ext cx="9144000" cy="256032"/>
          </a:xfrm>
          <a:prstGeom prst="rect">
            <a:avLst/>
          </a:prstGeom>
          <a:noFill/>
          <a:ln/>
        </p:spPr>
        <p:txBody>
          <a:bodyPr wrap="square" lIns="0" tIns="0" rIns="0" bIns="0" rtlCol="0" anchor="t"/>
          <a:lstStyle/>
          <a:p>
            <a:pPr indent="0" marL="0">
              <a:buNone/>
            </a:pPr>
            <a:r>
              <a:rPr lang="en-US" sz="1150" b="1" spc="250" kern="0" dirty="0">
                <a:solidFill>
                  <a:srgbClr val="B8512F"/>
                </a:solidFill>
                <a:latin typeface="Calibri" pitchFamily="34" charset="0"/>
                <a:ea typeface="Calibri" pitchFamily="34" charset="-122"/>
                <a:cs typeface="Calibri" pitchFamily="34" charset="-120"/>
              </a:rPr>
              <a:t>SECTION 04 • FEATURE EXTRACTION</a:t>
            </a:r>
            <a:endParaRPr lang="en-US" sz="1150" dirty="0"/>
          </a:p>
        </p:txBody>
      </p:sp>
      <p:sp>
        <p:nvSpPr>
          <p:cNvPr id="3" name="TTL12"/>
          <p:cNvSpPr txBox="1"/>
          <p:nvPr/>
        </p:nvSpPr>
        <p:spPr>
          <a:xfrm>
            <a:off x="548640" y="603504"/>
            <a:ext cx="11091672" cy="658368"/>
          </a:xfrm>
          <a:prstGeom prst="rect">
            <a:avLst/>
          </a:prstGeom>
          <a:noFill/>
          <a:ln/>
        </p:spPr>
        <p:txBody>
          <a:bodyPr wrap="square" lIns="0" tIns="0" rIns="0" bIns="0" rtlCol="0" anchor="ctr"/>
          <a:lstStyle/>
          <a:p>
            <a:pPr indent="0" marL="0">
              <a:buNone/>
            </a:pPr>
            <a:r>
              <a:rPr lang="en-US" sz="2700" b="1" dirty="0">
                <a:solidFill>
                  <a:srgbClr val="26221E"/>
                </a:solidFill>
                <a:latin typeface="Cambria" pitchFamily="34" charset="0"/>
                <a:ea typeface="Cambria" pitchFamily="34" charset="-122"/>
                <a:cs typeface="Cambria" pitchFamily="34" charset="-120"/>
              </a:rPr>
              <a:t>From 400×6 Raw Signals to 104 Informative Features</a:t>
            </a:r>
            <a:endParaRPr lang="en-US" sz="2700" dirty="0"/>
          </a:p>
        </p:txBody>
      </p:sp>
      <p:sp>
        <p:nvSpPr>
          <p:cNvPr id="4" name="PG12"/>
          <p:cNvSpPr txBox="1"/>
          <p:nvPr/>
        </p:nvSpPr>
        <p:spPr>
          <a:xfrm>
            <a:off x="10881360" y="6473952"/>
            <a:ext cx="758952" cy="228600"/>
          </a:xfrm>
          <a:prstGeom prst="rect">
            <a:avLst/>
          </a:prstGeom>
          <a:noFill/>
          <a:ln/>
        </p:spPr>
        <p:txBody>
          <a:bodyPr wrap="square" lIns="0" tIns="0" rIns="0" bIns="0" rtlCol="0" anchor="t"/>
          <a:lstStyle/>
          <a:p>
            <a:pPr algn="r" indent="0" marL="0">
              <a:buNone/>
            </a:pPr>
            <a:r>
              <a:rPr lang="en-US" sz="1100" b="1" dirty="0">
                <a:solidFill>
                  <a:srgbClr val="6F675C"/>
                </a:solidFill>
                <a:latin typeface="Calibri" pitchFamily="34" charset="0"/>
                <a:ea typeface="Calibri" pitchFamily="34" charset="-122"/>
                <a:cs typeface="Calibri" pitchFamily="34" charset="-120"/>
              </a:rPr>
              <a:t>13</a:t>
            </a:r>
            <a:endParaRPr lang="en-US" sz="1100" dirty="0"/>
          </a:p>
        </p:txBody>
      </p:sp>
      <p:sp>
        <p:nvSpPr>
          <p:cNvPr id="5" name="RULE12"/>
          <p:cNvSpPr/>
          <p:nvPr/>
        </p:nvSpPr>
        <p:spPr>
          <a:xfrm>
            <a:off x="548640" y="1280160"/>
            <a:ext cx="822960" cy="41148"/>
          </a:xfrm>
          <a:prstGeom prst="rect">
            <a:avLst/>
          </a:prstGeom>
          <a:solidFill>
            <a:srgbClr val="B8512F"/>
          </a:solidFill>
          <a:ln w="12700">
            <a:solidFill>
              <a:srgbClr val="B8512F"/>
            </a:solidFill>
            <a:prstDash val="solid"/>
          </a:ln>
        </p:spPr>
      </p:sp>
      <p:sp>
        <p:nvSpPr>
          <p:cNvPr id="6" name="IMG13"/>
          <p:cNvSpPr/>
          <p:nvPr/>
        </p:nvSpPr>
        <p:spPr>
          <a:xfrm>
            <a:off x="548640" y="1554480"/>
            <a:ext cx="4480560" cy="2834640"/>
          </a:xfrm>
          <a:prstGeom prst="roundRect">
            <a:avLst>
              <a:gd name="adj" fmla="val 2258"/>
            </a:avLst>
          </a:prstGeom>
          <a:solidFill>
            <a:srgbClr val="FFFFFF"/>
          </a:solidFill>
          <a:ln w="9525">
            <a:solidFill>
              <a:srgbClr val="DED4C2"/>
            </a:solidFill>
            <a:prstDash val="solid"/>
          </a:ln>
          <a:effectLst>
            <a:outerShdw sx="100000" sy="100000" kx="0" ky="0" algn="bl" rotWithShape="0" blurRad="88900" dist="25400" dir="5400000">
              <a:srgbClr val="6B5A3C">
                <a:alpha val="14000"/>
              </a:srgbClr>
            </a:outerShdw>
          </a:effectLst>
        </p:spPr>
      </p:sp>
      <p:pic>
        <p:nvPicPr>
          <p:cNvPr id="7" name="IMG13_i" descr="Feature count per family">    </p:cNvPr>
          <p:cNvPicPr>
            <a:picLocks noChangeAspect="1"/>
          </p:cNvPicPr>
          <p:nvPr/>
        </p:nvPicPr>
        <p:blipFill>
          <a:blip r:embed="rId1"/>
          <a:stretch>
            <a:fillRect/>
          </a:stretch>
        </p:blipFill>
        <p:spPr>
          <a:xfrm>
            <a:off x="676656" y="1704442"/>
            <a:ext cx="4224528" cy="2534717"/>
          </a:xfrm>
          <a:prstGeom prst="rect">
            <a:avLst/>
          </a:prstGeom>
        </p:spPr>
      </p:pic>
      <p:sp>
        <p:nvSpPr>
          <p:cNvPr id="8" name="C13x"/>
          <p:cNvSpPr/>
          <p:nvPr/>
        </p:nvSpPr>
        <p:spPr>
          <a:xfrm>
            <a:off x="548640" y="4572000"/>
            <a:ext cx="4480560" cy="1645920"/>
          </a:xfrm>
          <a:prstGeom prst="roundRect">
            <a:avLst>
              <a:gd name="adj" fmla="val 3889"/>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9" name="C13x_a"/>
          <p:cNvSpPr/>
          <p:nvPr/>
        </p:nvSpPr>
        <p:spPr>
          <a:xfrm>
            <a:off x="548640" y="4718304"/>
            <a:ext cx="64008" cy="1353312"/>
          </a:xfrm>
          <a:prstGeom prst="rect">
            <a:avLst/>
          </a:prstGeom>
          <a:solidFill>
            <a:srgbClr val="B07A12"/>
          </a:solidFill>
          <a:ln w="12700">
            <a:solidFill>
              <a:srgbClr val="B07A12"/>
            </a:solidFill>
            <a:prstDash val="solid"/>
          </a:ln>
        </p:spPr>
      </p:sp>
      <p:sp>
        <p:nvSpPr>
          <p:cNvPr id="10" name="C13x_b"/>
          <p:cNvSpPr txBox="1"/>
          <p:nvPr/>
        </p:nvSpPr>
        <p:spPr>
          <a:xfrm>
            <a:off x="822960" y="4736592"/>
            <a:ext cx="4069080" cy="1371600"/>
          </a:xfrm>
          <a:prstGeom prst="rect">
            <a:avLst/>
          </a:prstGeom>
          <a:noFill/>
          <a:ln/>
        </p:spPr>
        <p:txBody>
          <a:bodyPr wrap="square" lIns="0" tIns="0" rIns="0" bIns="0" rtlCol="0" anchor="t"/>
          <a:lstStyle/>
          <a:p>
            <a:pPr indent="0" marL="0">
              <a:buNone/>
            </a:pPr>
            <a:r>
              <a:rPr lang="en-US" sz="1500" b="1" dirty="0">
                <a:solidFill>
                  <a:srgbClr val="26221E"/>
                </a:solidFill>
                <a:latin typeface="Calibri" pitchFamily="34" charset="0"/>
                <a:ea typeface="Calibri" pitchFamily="34" charset="-122"/>
                <a:cs typeface="Calibri" pitchFamily="34" charset="-120"/>
              </a:rPr>
              <a:t>CROSS-AXIS &amp; MOTION COUPLING • 26:</a:t>
            </a:r>
            <a:pPr indent="0" marL="0">
              <a:buNone/>
            </a:pPr>
            <a:r>
              <a:rPr lang="en-US" sz="1500" dirty="0">
                <a:solidFill>
                  <a:srgbClr val="26221E"/>
                </a:solidFill>
                <a:latin typeface="Calibri" pitchFamily="34" charset="0"/>
                <a:ea typeface="Calibri" pitchFamily="34" charset="-122"/>
                <a:cs typeface="Calibri" pitchFamily="34" charset="-120"/>
              </a:rPr>
              <a:t> vector magnitudes (6), jerk statistics (5), and Pearson correlations across 15 axis pairs.</a:t>
            </a:r>
            <a:endParaRPr lang="en-US" sz="1500" dirty="0"/>
          </a:p>
        </p:txBody>
      </p:sp>
      <p:sp>
        <p:nvSpPr>
          <p:cNvPr id="11" name="C12_td"/>
          <p:cNvSpPr/>
          <p:nvPr/>
        </p:nvSpPr>
        <p:spPr>
          <a:xfrm>
            <a:off x="5212080" y="1554480"/>
            <a:ext cx="6428232" cy="2240280"/>
          </a:xfrm>
          <a:prstGeom prst="roundRect">
            <a:avLst>
              <a:gd name="adj" fmla="val 2857"/>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12" name="C12_td_a"/>
          <p:cNvSpPr/>
          <p:nvPr/>
        </p:nvSpPr>
        <p:spPr>
          <a:xfrm>
            <a:off x="5212080" y="1700784"/>
            <a:ext cx="64008" cy="1947672"/>
          </a:xfrm>
          <a:prstGeom prst="rect">
            <a:avLst/>
          </a:prstGeom>
          <a:solidFill>
            <a:srgbClr val="B8512F"/>
          </a:solidFill>
          <a:ln w="12700">
            <a:solidFill>
              <a:srgbClr val="B8512F"/>
            </a:solidFill>
            <a:prstDash val="solid"/>
          </a:ln>
        </p:spPr>
      </p:sp>
      <p:sp>
        <p:nvSpPr>
          <p:cNvPr id="13" name="C12_td_h"/>
          <p:cNvSpPr txBox="1"/>
          <p:nvPr/>
        </p:nvSpPr>
        <p:spPr>
          <a:xfrm>
            <a:off x="5486400" y="1737360"/>
            <a:ext cx="5971032" cy="292608"/>
          </a:xfrm>
          <a:prstGeom prst="rect">
            <a:avLst/>
          </a:prstGeom>
          <a:noFill/>
          <a:ln/>
        </p:spPr>
        <p:txBody>
          <a:bodyPr wrap="square" lIns="0" tIns="0" rIns="0" bIns="0" rtlCol="0" anchor="t"/>
          <a:lstStyle/>
          <a:p>
            <a:pPr indent="0" marL="0">
              <a:buNone/>
            </a:pPr>
            <a:r>
              <a:rPr lang="en-US" sz="1250" b="1" spc="150" kern="0" dirty="0">
                <a:solidFill>
                  <a:srgbClr val="B8512F"/>
                </a:solidFill>
                <a:latin typeface="Calibri" pitchFamily="34" charset="0"/>
                <a:ea typeface="Calibri" pitchFamily="34" charset="-122"/>
                <a:cs typeface="Calibri" pitchFamily="34" charset="-120"/>
              </a:rPr>
              <a:t>TIME-DOMAIN STATISTICS • 60</a:t>
            </a:r>
            <a:endParaRPr lang="en-US" sz="1250" dirty="0"/>
          </a:p>
        </p:txBody>
      </p:sp>
      <p:sp>
        <p:nvSpPr>
          <p:cNvPr id="14" name="C12_td_b"/>
          <p:cNvSpPr txBox="1"/>
          <p:nvPr/>
        </p:nvSpPr>
        <p:spPr>
          <a:xfrm>
            <a:off x="5486400" y="2121408"/>
            <a:ext cx="5971032" cy="1563624"/>
          </a:xfrm>
          <a:prstGeom prst="rect">
            <a:avLst/>
          </a:prstGeom>
          <a:noFill/>
          <a:ln/>
        </p:spPr>
        <p:txBody>
          <a:bodyPr wrap="square" lIns="0" tIns="0" rIns="0" bIns="0" rtlCol="0" anchor="t"/>
          <a:lstStyle/>
          <a:p>
            <a:pPr indent="0" marL="0">
              <a:lnSpc>
                <a:spcPct val="105000"/>
              </a:lnSpc>
              <a:spcAft>
                <a:spcPts val="900"/>
              </a:spcAft>
              <a:buNone/>
            </a:pPr>
            <a:r>
              <a:rPr lang="en-US" sz="1550" dirty="0">
                <a:solidFill>
                  <a:srgbClr val="26221E"/>
                </a:solidFill>
                <a:latin typeface="Calibri" pitchFamily="34" charset="0"/>
                <a:ea typeface="Calibri" pitchFamily="34" charset="-122"/>
                <a:cs typeface="Calibri" pitchFamily="34" charset="-120"/>
              </a:rPr>
              <a:t>10 statistics across six IMU axes (gx, gy, gz, ax, ay, az): mean, standard deviation, variance, RMS, min, max, peak-to-peak range, skewness, kurtosis, and ZCR.</a:t>
            </a:r>
            <a:endParaRPr lang="en-US" sz="1550" dirty="0"/>
          </a:p>
          <a:p>
            <a:pPr indent="0" marL="0">
              <a:lnSpc>
                <a:spcPct val="105000"/>
              </a:lnSpc>
              <a:spcAft>
                <a:spcPts val="900"/>
              </a:spcAft>
              <a:buNone/>
            </a:pPr>
            <a:r>
              <a:rPr lang="en-US" sz="1550" dirty="0">
                <a:solidFill>
                  <a:srgbClr val="26221E"/>
                </a:solidFill>
                <a:latin typeface="Calibri" pitchFamily="34" charset="0"/>
                <a:ea typeface="Calibri" pitchFamily="34" charset="-122"/>
                <a:cs typeface="Calibri" pitchFamily="34" charset="-120"/>
              </a:rPr>
              <a:t>Captures motion energy, physical limits, and transient thrust spikes.</a:t>
            </a:r>
            <a:endParaRPr lang="en-US" sz="1550" dirty="0"/>
          </a:p>
        </p:txBody>
      </p:sp>
      <p:sp>
        <p:nvSpPr>
          <p:cNvPr id="15" name="C12_fd"/>
          <p:cNvSpPr/>
          <p:nvPr/>
        </p:nvSpPr>
        <p:spPr>
          <a:xfrm>
            <a:off x="5212080" y="3931920"/>
            <a:ext cx="6428232" cy="2286000"/>
          </a:xfrm>
          <a:prstGeom prst="roundRect">
            <a:avLst>
              <a:gd name="adj" fmla="val 2800"/>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16" name="C12_fd_a"/>
          <p:cNvSpPr/>
          <p:nvPr/>
        </p:nvSpPr>
        <p:spPr>
          <a:xfrm>
            <a:off x="5212080" y="4078224"/>
            <a:ext cx="64008" cy="1993392"/>
          </a:xfrm>
          <a:prstGeom prst="rect">
            <a:avLst/>
          </a:prstGeom>
          <a:solidFill>
            <a:srgbClr val="2E5A4C"/>
          </a:solidFill>
          <a:ln w="12700">
            <a:solidFill>
              <a:srgbClr val="2E5A4C"/>
            </a:solidFill>
            <a:prstDash val="solid"/>
          </a:ln>
        </p:spPr>
      </p:sp>
      <p:sp>
        <p:nvSpPr>
          <p:cNvPr id="17" name="C12_fd_h"/>
          <p:cNvSpPr txBox="1"/>
          <p:nvPr/>
        </p:nvSpPr>
        <p:spPr>
          <a:xfrm>
            <a:off x="5486400" y="4114800"/>
            <a:ext cx="5971032" cy="292608"/>
          </a:xfrm>
          <a:prstGeom prst="rect">
            <a:avLst/>
          </a:prstGeom>
          <a:noFill/>
          <a:ln/>
        </p:spPr>
        <p:txBody>
          <a:bodyPr wrap="square" lIns="0" tIns="0" rIns="0" bIns="0" rtlCol="0" anchor="t"/>
          <a:lstStyle/>
          <a:p>
            <a:pPr indent="0" marL="0">
              <a:buNone/>
            </a:pPr>
            <a:r>
              <a:rPr lang="en-US" sz="1250" b="1" spc="150" kern="0" dirty="0">
                <a:solidFill>
                  <a:srgbClr val="2E5A4C"/>
                </a:solidFill>
                <a:latin typeface="Calibri" pitchFamily="34" charset="0"/>
                <a:ea typeface="Calibri" pitchFamily="34" charset="-122"/>
                <a:cs typeface="Calibri" pitchFamily="34" charset="-120"/>
              </a:rPr>
              <a:t>FREQUENCY-DOMAIN FFT • 18</a:t>
            </a:r>
            <a:endParaRPr lang="en-US" sz="1250" dirty="0"/>
          </a:p>
        </p:txBody>
      </p:sp>
      <p:sp>
        <p:nvSpPr>
          <p:cNvPr id="18" name="C12_fd_b"/>
          <p:cNvSpPr txBox="1"/>
          <p:nvPr/>
        </p:nvSpPr>
        <p:spPr>
          <a:xfrm>
            <a:off x="5486400" y="4498848"/>
            <a:ext cx="5971032" cy="1609344"/>
          </a:xfrm>
          <a:prstGeom prst="rect">
            <a:avLst/>
          </a:prstGeom>
          <a:noFill/>
          <a:ln/>
        </p:spPr>
        <p:txBody>
          <a:bodyPr wrap="square" lIns="0" tIns="0" rIns="0" bIns="0" rtlCol="0" anchor="t"/>
          <a:lstStyle/>
          <a:p>
            <a:pPr indent="0" marL="0">
              <a:lnSpc>
                <a:spcPct val="105000"/>
              </a:lnSpc>
              <a:spcAft>
                <a:spcPts val="700"/>
              </a:spcAft>
              <a:buNone/>
            </a:pPr>
            <a:r>
              <a:rPr lang="en-US" sz="1550" dirty="0">
                <a:solidFill>
                  <a:srgbClr val="26221E"/>
                </a:solidFill>
                <a:latin typeface="Calibri" pitchFamily="34" charset="0"/>
                <a:ea typeface="Calibri" pitchFamily="34" charset="-122"/>
                <a:cs typeface="Calibri" pitchFamily="34" charset="-120"/>
              </a:rPr>
              <a:t>Dominant frequency, spectral energy, and spectral entropy across six axes.</a:t>
            </a:r>
            <a:endParaRPr lang="en-US" sz="1550" dirty="0"/>
          </a:p>
          <a:p>
            <a:pPr indent="0" marL="0">
              <a:lnSpc>
                <a:spcPct val="105000"/>
              </a:lnSpc>
              <a:spcAft>
                <a:spcPts val="700"/>
              </a:spcAft>
              <a:buNone/>
            </a:pPr>
            <a:r>
              <a:rPr lang="en-US" sz="1550" dirty="0">
                <a:solidFill>
                  <a:srgbClr val="26221E"/>
                </a:solidFill>
                <a:latin typeface="Calibri" pitchFamily="34" charset="0"/>
                <a:ea typeface="Calibri" pitchFamily="34" charset="-122"/>
                <a:cs typeface="Calibri" pitchFamily="34" charset="-120"/>
              </a:rPr>
              <a:t>Subtract window mean before FFT to remove constant 9.81 m/s² gravity DC bias.</a:t>
            </a:r>
            <a:endParaRPr lang="en-US" sz="1550" dirty="0"/>
          </a:p>
          <a:p>
            <a:pPr indent="0" marL="0">
              <a:lnSpc>
                <a:spcPct val="105000"/>
              </a:lnSpc>
              <a:spcAft>
                <a:spcPts val="700"/>
              </a:spcAft>
              <a:buNone/>
            </a:pPr>
            <a:r>
              <a:rPr lang="en-US" sz="1550" dirty="0">
                <a:solidFill>
                  <a:srgbClr val="26221E"/>
                </a:solidFill>
                <a:latin typeface="Calibri" pitchFamily="34" charset="0"/>
                <a:ea typeface="Calibri" pitchFamily="34" charset="-122"/>
                <a:cs typeface="Calibri" pitchFamily="34" charset="-120"/>
              </a:rPr>
              <a:t>Entropy: 0 = pure-tone hover; 1 = turbulent broadband chatter.</a:t>
            </a:r>
            <a:endParaRPr lang="en-US" sz="1550" dirty="0"/>
          </a:p>
        </p:txBody>
      </p:sp>
    </p:spTree>
  </p:cSld>
  <p:clrMapOvr>
    <a:masterClrMapping/>
  </p:clrMapOvr>
  <mc:AlternateContent xmlns:mc="http://schemas.openxmlformats.org/markup-compatibility/2006">
    <mc:Choice xmlns:p14="http://schemas.microsoft.com/office/powerpoint/2010/main" Requires="p14">
      <p:transition spd="slow" p14:dur="900">
        <p14:pan dir="r"/>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4" fill="hold">
                            <p:stCondLst>
                              <p:cond delay="0"/>
                            </p:stCondLst>
                            <p:childTnLst>
                              <p:par>
                                <p:cTn id="6" presetID="10" presetClass="entr" presetSubtype="0" fill="hold" nodeType="withEffect">
                                  <p:stCondLst>
                                    <p:cond delay="8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10" presetID="10" presetClass="entr" presetSubtype="0" fill="hold" nodeType="withEffect">
                                  <p:stCondLst>
                                    <p:cond delay="12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anim calcmode="lin" valueType="num">
                                      <p:cBhvr additive="base">
                                        <p:cTn id="9" dur="450" fill="hold"/>
                                        <p:tgtEl>
                                          <p:spTgt spid="3"/>
                                        </p:tgtEl>
                                        <p:attrNameLst>
                                          <p:attrName>ppt_y</p:attrName>
                                        </p:attrNameLst>
                                      </p:cBhvr>
                                      <p:tavLst>
                                        <p:tav tm="0">
                                          <p:val>
                                            <p:strVal val="#ppt_y+0.05"/>
                                          </p:val>
                                        </p:tav>
                                        <p:tav tm="100000">
                                          <p:val>
                                            <p:strVal val="#ppt_y"/>
                                          </p:val>
                                        </p:tav>
                                      </p:tavLst>
                                    </p:anim>
                                  </p:childTnLst>
                                </p:cTn>
                              </p:par>
                              <p:par>
                                <p:cTn id="13" presetID="22" presetClass="entr" presetSubtype="8" fill="hold"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450"/>
                                        <p:tgtEl>
                                          <p:spTgt spid="5"/>
                                        </p:tgtEl>
                                      </p:cBhvr>
                                    </p:animEffect>
                                  </p:childTnLst>
                                </p:cTn>
                              </p:par>
                              <p:par>
                                <p:cTn id="16" presetID="10" presetClass="entr" presetSubtype="0" fill="hold" nodeType="withEffect">
                                  <p:stCondLst>
                                    <p:cond delay="3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9" presetID="10" presetClass="entr" presetSubtype="0" fill="hold" nodeType="withEffect">
                                  <p:stCondLst>
                                    <p:cond delay="30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23" presetID="10" presetClass="entr" presetSubtype="0" fill="hold" nodeType="withEffect">
                                  <p:stCondLst>
                                    <p:cond delay="90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anim calcmode="lin" valueType="num">
                                      <p:cBhvr additive="base">
                                        <p:cTn id="22" dur="450" fill="hold"/>
                                        <p:tgtEl>
                                          <p:spTgt spid="8"/>
                                        </p:tgtEl>
                                        <p:attrNameLst>
                                          <p:attrName>ppt_y</p:attrName>
                                        </p:attrNameLst>
                                      </p:cBhvr>
                                      <p:tavLst>
                                        <p:tav tm="0">
                                          <p:val>
                                            <p:strVal val="#ppt_y+0.05"/>
                                          </p:val>
                                        </p:tav>
                                        <p:tav tm="100000">
                                          <p:val>
                                            <p:strVal val="#ppt_y"/>
                                          </p:val>
                                        </p:tav>
                                      </p:tavLst>
                                    </p:anim>
                                  </p:childTnLst>
                                </p:cTn>
                              </p:par>
                              <p:par>
                                <p:cTn id="27" presetID="10" presetClass="entr" presetSubtype="0" fill="hold" nodeType="withEffect">
                                  <p:stCondLst>
                                    <p:cond delay="9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anim calcmode="lin" valueType="num">
                                      <p:cBhvr additive="base">
                                        <p:cTn id="26" dur="450" fill="hold"/>
                                        <p:tgtEl>
                                          <p:spTgt spid="9"/>
                                        </p:tgtEl>
                                        <p:attrNameLst>
                                          <p:attrName>ppt_y</p:attrName>
                                        </p:attrNameLst>
                                      </p:cBhvr>
                                      <p:tavLst>
                                        <p:tav tm="0">
                                          <p:val>
                                            <p:strVal val="#ppt_y+0.05"/>
                                          </p:val>
                                        </p:tav>
                                        <p:tav tm="100000">
                                          <p:val>
                                            <p:strVal val="#ppt_y"/>
                                          </p:val>
                                        </p:tav>
                                      </p:tavLst>
                                    </p:anim>
                                  </p:childTnLst>
                                </p:cTn>
                              </p:par>
                              <p:par>
                                <p:cTn id="31" presetID="10" presetClass="entr" presetSubtype="0" fill="hold" nodeType="withEffect">
                                  <p:stCondLst>
                                    <p:cond delay="90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anim calcmode="lin" valueType="num">
                                      <p:cBhvr additive="base">
                                        <p:cTn id="30" dur="450" fill="hold"/>
                                        <p:tgtEl>
                                          <p:spTgt spid="10"/>
                                        </p:tgtEl>
                                        <p:attrNameLst>
                                          <p:attrName>ppt_y</p:attrName>
                                        </p:attrNameLst>
                                      </p:cBhvr>
                                      <p:tavLst>
                                        <p:tav tm="0">
                                          <p:val>
                                            <p:strVal val="#ppt_y+0.05"/>
                                          </p:val>
                                        </p:tav>
                                        <p:tav tm="100000">
                                          <p:val>
                                            <p:strVal val="#ppt_y"/>
                                          </p:val>
                                        </p:tav>
                                      </p:tavLst>
                                    </p:anim>
                                  </p:childTnLst>
                                </p:cTn>
                              </p:par>
                              <p:par>
                                <p:cTn id="35" presetID="10" presetClass="entr" presetSubtype="0" fill="hold" nodeType="withEffect">
                                  <p:stCondLst>
                                    <p:cond delay="50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50"/>
                                        <p:tgtEl>
                                          <p:spTgt spid="11"/>
                                        </p:tgtEl>
                                      </p:cBhvr>
                                    </p:animEffect>
                                    <p:anim calcmode="lin" valueType="num">
                                      <p:cBhvr additive="base">
                                        <p:cTn id="34" dur="450" fill="hold"/>
                                        <p:tgtEl>
                                          <p:spTgt spid="11"/>
                                        </p:tgtEl>
                                        <p:attrNameLst>
                                          <p:attrName>ppt_y</p:attrName>
                                        </p:attrNameLst>
                                      </p:cBhvr>
                                      <p:tavLst>
                                        <p:tav tm="0">
                                          <p:val>
                                            <p:strVal val="#ppt_y+0.05"/>
                                          </p:val>
                                        </p:tav>
                                        <p:tav tm="100000">
                                          <p:val>
                                            <p:strVal val="#ppt_y"/>
                                          </p:val>
                                        </p:tav>
                                      </p:tavLst>
                                    </p:anim>
                                  </p:childTnLst>
                                </p:cTn>
                              </p:par>
                              <p:par>
                                <p:cTn id="39" presetID="10" presetClass="entr" presetSubtype="0" fill="hold" nodeType="withEffect">
                                  <p:stCondLst>
                                    <p:cond delay="50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50"/>
                                        <p:tgtEl>
                                          <p:spTgt spid="12"/>
                                        </p:tgtEl>
                                      </p:cBhvr>
                                    </p:animEffect>
                                    <p:anim calcmode="lin" valueType="num">
                                      <p:cBhvr additive="base">
                                        <p:cTn id="38" dur="450" fill="hold"/>
                                        <p:tgtEl>
                                          <p:spTgt spid="12"/>
                                        </p:tgtEl>
                                        <p:attrNameLst>
                                          <p:attrName>ppt_y</p:attrName>
                                        </p:attrNameLst>
                                      </p:cBhvr>
                                      <p:tavLst>
                                        <p:tav tm="0">
                                          <p:val>
                                            <p:strVal val="#ppt_y+0.05"/>
                                          </p:val>
                                        </p:tav>
                                        <p:tav tm="100000">
                                          <p:val>
                                            <p:strVal val="#ppt_y"/>
                                          </p:val>
                                        </p:tav>
                                      </p:tavLst>
                                    </p:anim>
                                  </p:childTnLst>
                                </p:cTn>
                              </p:par>
                              <p:par>
                                <p:cTn id="43" presetID="10" presetClass="entr" presetSubtype="0" fill="hold" nodeType="withEffect">
                                  <p:stCondLst>
                                    <p:cond delay="50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450"/>
                                        <p:tgtEl>
                                          <p:spTgt spid="13"/>
                                        </p:tgtEl>
                                      </p:cBhvr>
                                    </p:animEffect>
                                    <p:anim calcmode="lin" valueType="num">
                                      <p:cBhvr additive="base">
                                        <p:cTn id="42" dur="450" fill="hold"/>
                                        <p:tgtEl>
                                          <p:spTgt spid="13"/>
                                        </p:tgtEl>
                                        <p:attrNameLst>
                                          <p:attrName>ppt_y</p:attrName>
                                        </p:attrNameLst>
                                      </p:cBhvr>
                                      <p:tavLst>
                                        <p:tav tm="0">
                                          <p:val>
                                            <p:strVal val="#ppt_y+0.05"/>
                                          </p:val>
                                        </p:tav>
                                        <p:tav tm="100000">
                                          <p:val>
                                            <p:strVal val="#ppt_y"/>
                                          </p:val>
                                        </p:tav>
                                      </p:tavLst>
                                    </p:anim>
                                  </p:childTnLst>
                                </p:cTn>
                              </p:par>
                              <p:par>
                                <p:cTn id="47" presetID="10" presetClass="entr" presetSubtype="0" fill="hold" nodeType="withEffect">
                                  <p:stCondLst>
                                    <p:cond delay="50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450"/>
                                        <p:tgtEl>
                                          <p:spTgt spid="14"/>
                                        </p:tgtEl>
                                      </p:cBhvr>
                                    </p:animEffect>
                                    <p:anim calcmode="lin" valueType="num">
                                      <p:cBhvr additive="base">
                                        <p:cTn id="46" dur="450" fill="hold"/>
                                        <p:tgtEl>
                                          <p:spTgt spid="14"/>
                                        </p:tgtEl>
                                        <p:attrNameLst>
                                          <p:attrName>ppt_y</p:attrName>
                                        </p:attrNameLst>
                                      </p:cBhvr>
                                      <p:tavLst>
                                        <p:tav tm="0">
                                          <p:val>
                                            <p:strVal val="#ppt_y+0.05"/>
                                          </p:val>
                                        </p:tav>
                                        <p:tav tm="100000">
                                          <p:val>
                                            <p:strVal val="#ppt_y"/>
                                          </p:val>
                                        </p:tav>
                                      </p:tavLst>
                                    </p:anim>
                                  </p:childTnLst>
                                </p:cTn>
                              </p:par>
                              <p:par>
                                <p:cTn id="51" presetID="10" presetClass="entr" presetSubtype="0" fill="hold" nodeType="withEffect">
                                  <p:stCondLst>
                                    <p:cond delay="70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450"/>
                                        <p:tgtEl>
                                          <p:spTgt spid="15"/>
                                        </p:tgtEl>
                                      </p:cBhvr>
                                    </p:animEffect>
                                    <p:anim calcmode="lin" valueType="num">
                                      <p:cBhvr additive="base">
                                        <p:cTn id="50" dur="450" fill="hold"/>
                                        <p:tgtEl>
                                          <p:spTgt spid="15"/>
                                        </p:tgtEl>
                                        <p:attrNameLst>
                                          <p:attrName>ppt_y</p:attrName>
                                        </p:attrNameLst>
                                      </p:cBhvr>
                                      <p:tavLst>
                                        <p:tav tm="0">
                                          <p:val>
                                            <p:strVal val="#ppt_y+0.05"/>
                                          </p:val>
                                        </p:tav>
                                        <p:tav tm="100000">
                                          <p:val>
                                            <p:strVal val="#ppt_y"/>
                                          </p:val>
                                        </p:tav>
                                      </p:tavLst>
                                    </p:anim>
                                  </p:childTnLst>
                                </p:cTn>
                              </p:par>
                              <p:par>
                                <p:cTn id="55" presetID="10" presetClass="entr" presetSubtype="0" fill="hold" nodeType="withEffect">
                                  <p:stCondLst>
                                    <p:cond delay="70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450"/>
                                        <p:tgtEl>
                                          <p:spTgt spid="16"/>
                                        </p:tgtEl>
                                      </p:cBhvr>
                                    </p:animEffect>
                                    <p:anim calcmode="lin" valueType="num">
                                      <p:cBhvr additive="base">
                                        <p:cTn id="54" dur="450" fill="hold"/>
                                        <p:tgtEl>
                                          <p:spTgt spid="16"/>
                                        </p:tgtEl>
                                        <p:attrNameLst>
                                          <p:attrName>ppt_y</p:attrName>
                                        </p:attrNameLst>
                                      </p:cBhvr>
                                      <p:tavLst>
                                        <p:tav tm="0">
                                          <p:val>
                                            <p:strVal val="#ppt_y+0.05"/>
                                          </p:val>
                                        </p:tav>
                                        <p:tav tm="100000">
                                          <p:val>
                                            <p:strVal val="#ppt_y"/>
                                          </p:val>
                                        </p:tav>
                                      </p:tavLst>
                                    </p:anim>
                                  </p:childTnLst>
                                </p:cTn>
                              </p:par>
                              <p:par>
                                <p:cTn id="59" presetID="10" presetClass="entr" presetSubtype="0" fill="hold" nodeType="withEffect">
                                  <p:stCondLst>
                                    <p:cond delay="70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450"/>
                                        <p:tgtEl>
                                          <p:spTgt spid="17"/>
                                        </p:tgtEl>
                                      </p:cBhvr>
                                    </p:animEffect>
                                    <p:anim calcmode="lin" valueType="num">
                                      <p:cBhvr additive="base">
                                        <p:cTn id="58" dur="450" fill="hold"/>
                                        <p:tgtEl>
                                          <p:spTgt spid="17"/>
                                        </p:tgtEl>
                                        <p:attrNameLst>
                                          <p:attrName>ppt_y</p:attrName>
                                        </p:attrNameLst>
                                      </p:cBhvr>
                                      <p:tavLst>
                                        <p:tav tm="0">
                                          <p:val>
                                            <p:strVal val="#ppt_y+0.05"/>
                                          </p:val>
                                        </p:tav>
                                        <p:tav tm="100000">
                                          <p:val>
                                            <p:strVal val="#ppt_y"/>
                                          </p:val>
                                        </p:tav>
                                      </p:tavLst>
                                    </p:anim>
                                  </p:childTnLst>
                                </p:cTn>
                              </p:par>
                              <p:par>
                                <p:cTn id="63" presetID="10" presetClass="entr" presetSubtype="0" fill="hold" nodeType="withEffect">
                                  <p:stCondLst>
                                    <p:cond delay="700"/>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450"/>
                                        <p:tgtEl>
                                          <p:spTgt spid="18"/>
                                        </p:tgtEl>
                                      </p:cBhvr>
                                    </p:animEffect>
                                    <p:anim calcmode="lin" valueType="num">
                                      <p:cBhvr additive="base">
                                        <p:cTn id="62" dur="450" fill="hold"/>
                                        <p:tgtEl>
                                          <p:spTgt spid="18"/>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13"/>
          <p:cNvSpPr txBox="1"/>
          <p:nvPr/>
        </p:nvSpPr>
        <p:spPr>
          <a:xfrm>
            <a:off x="548640" y="310896"/>
            <a:ext cx="9144000" cy="256032"/>
          </a:xfrm>
          <a:prstGeom prst="rect">
            <a:avLst/>
          </a:prstGeom>
          <a:noFill/>
          <a:ln/>
        </p:spPr>
        <p:txBody>
          <a:bodyPr wrap="square" lIns="0" tIns="0" rIns="0" bIns="0" rtlCol="0" anchor="t"/>
          <a:lstStyle/>
          <a:p>
            <a:pPr indent="0" marL="0">
              <a:buNone/>
            </a:pPr>
            <a:r>
              <a:rPr lang="en-US" sz="1150" b="1" spc="250" kern="0" dirty="0">
                <a:solidFill>
                  <a:srgbClr val="B8512F"/>
                </a:solidFill>
                <a:latin typeface="Calibri" pitchFamily="34" charset="0"/>
                <a:ea typeface="Calibri" pitchFamily="34" charset="-122"/>
                <a:cs typeface="Calibri" pitchFamily="34" charset="-120"/>
              </a:rPr>
              <a:t>SECTION 04 • FEATURE SIGNIFICANCE &amp; MULTICOLLINEARITY</a:t>
            </a:r>
            <a:endParaRPr lang="en-US" sz="1150" dirty="0"/>
          </a:p>
        </p:txBody>
      </p:sp>
      <p:sp>
        <p:nvSpPr>
          <p:cNvPr id="3" name="TTL13"/>
          <p:cNvSpPr txBox="1"/>
          <p:nvPr/>
        </p:nvSpPr>
        <p:spPr>
          <a:xfrm>
            <a:off x="548640" y="603504"/>
            <a:ext cx="11091672" cy="658368"/>
          </a:xfrm>
          <a:prstGeom prst="rect">
            <a:avLst/>
          </a:prstGeom>
          <a:noFill/>
          <a:ln/>
        </p:spPr>
        <p:txBody>
          <a:bodyPr wrap="square" lIns="0" tIns="0" rIns="0" bIns="0" rtlCol="0" anchor="ctr"/>
          <a:lstStyle/>
          <a:p>
            <a:pPr indent="0" marL="0">
              <a:buNone/>
            </a:pPr>
            <a:r>
              <a:rPr lang="en-US" sz="2700" b="1" dirty="0">
                <a:solidFill>
                  <a:srgbClr val="26221E"/>
                </a:solidFill>
                <a:latin typeface="Cambria" pitchFamily="34" charset="0"/>
                <a:ea typeface="Cambria" pitchFamily="34" charset="-122"/>
                <a:cs typeface="Cambria" pitchFamily="34" charset="-120"/>
              </a:rPr>
              <a:t>Physical Discovery: Why Vehicle Tilt Controls Drift</a:t>
            </a:r>
            <a:endParaRPr lang="en-US" sz="2700" dirty="0"/>
          </a:p>
        </p:txBody>
      </p:sp>
      <p:sp>
        <p:nvSpPr>
          <p:cNvPr id="4" name="PG13"/>
          <p:cNvSpPr txBox="1"/>
          <p:nvPr/>
        </p:nvSpPr>
        <p:spPr>
          <a:xfrm>
            <a:off x="10881360" y="6473952"/>
            <a:ext cx="758952" cy="228600"/>
          </a:xfrm>
          <a:prstGeom prst="rect">
            <a:avLst/>
          </a:prstGeom>
          <a:noFill/>
          <a:ln/>
        </p:spPr>
        <p:txBody>
          <a:bodyPr wrap="square" lIns="0" tIns="0" rIns="0" bIns="0" rtlCol="0" anchor="t"/>
          <a:lstStyle/>
          <a:p>
            <a:pPr algn="r" indent="0" marL="0">
              <a:buNone/>
            </a:pPr>
            <a:r>
              <a:rPr lang="en-US" sz="1100" b="1" dirty="0">
                <a:solidFill>
                  <a:srgbClr val="6F675C"/>
                </a:solidFill>
                <a:latin typeface="Calibri" pitchFamily="34" charset="0"/>
                <a:ea typeface="Calibri" pitchFamily="34" charset="-122"/>
                <a:cs typeface="Calibri" pitchFamily="34" charset="-120"/>
              </a:rPr>
              <a:t>14</a:t>
            </a:r>
            <a:endParaRPr lang="en-US" sz="1100" dirty="0"/>
          </a:p>
        </p:txBody>
      </p:sp>
      <p:sp>
        <p:nvSpPr>
          <p:cNvPr id="5" name="RULE13"/>
          <p:cNvSpPr/>
          <p:nvPr/>
        </p:nvSpPr>
        <p:spPr>
          <a:xfrm>
            <a:off x="548640" y="1280160"/>
            <a:ext cx="822960" cy="41148"/>
          </a:xfrm>
          <a:prstGeom prst="rect">
            <a:avLst/>
          </a:prstGeom>
          <a:solidFill>
            <a:srgbClr val="B8512F"/>
          </a:solidFill>
          <a:ln w="12700">
            <a:solidFill>
              <a:srgbClr val="B8512F"/>
            </a:solidFill>
            <a:prstDash val="solid"/>
          </a:ln>
        </p:spPr>
      </p:sp>
      <p:sp>
        <p:nvSpPr>
          <p:cNvPr id="6" name="IMG14"/>
          <p:cNvSpPr/>
          <p:nvPr/>
        </p:nvSpPr>
        <p:spPr>
          <a:xfrm>
            <a:off x="548640" y="1554480"/>
            <a:ext cx="4663440" cy="4663440"/>
          </a:xfrm>
          <a:prstGeom prst="roundRect">
            <a:avLst>
              <a:gd name="adj" fmla="val 1373"/>
            </a:avLst>
          </a:prstGeom>
          <a:solidFill>
            <a:srgbClr val="FFFFFF"/>
          </a:solidFill>
          <a:ln w="9525">
            <a:solidFill>
              <a:srgbClr val="DED4C2"/>
            </a:solidFill>
            <a:prstDash val="solid"/>
          </a:ln>
          <a:effectLst>
            <a:outerShdw sx="100000" sy="100000" kx="0" ky="0" algn="bl" rotWithShape="0" blurRad="88900" dist="25400" dir="5400000">
              <a:srgbClr val="6B5A3C">
                <a:alpha val="14000"/>
              </a:srgbClr>
            </a:outerShdw>
          </a:effectLst>
        </p:spPr>
      </p:sp>
      <p:pic>
        <p:nvPicPr>
          <p:cNvPr id="7" name="IMG14_i" descr="Top 20 Random Forest feature importances">    </p:cNvPr>
          <p:cNvPicPr>
            <a:picLocks noChangeAspect="1"/>
          </p:cNvPicPr>
          <p:nvPr/>
        </p:nvPicPr>
        <p:blipFill>
          <a:blip r:embed="rId1"/>
          <a:stretch>
            <a:fillRect/>
          </a:stretch>
        </p:blipFill>
        <p:spPr>
          <a:xfrm>
            <a:off x="676656" y="1682496"/>
            <a:ext cx="4407408" cy="4407408"/>
          </a:xfrm>
          <a:prstGeom prst="rect">
            <a:avLst/>
          </a:prstGeom>
        </p:spPr>
      </p:pic>
      <p:sp>
        <p:nvSpPr>
          <p:cNvPr id="8" name="C13_dom"/>
          <p:cNvSpPr/>
          <p:nvPr/>
        </p:nvSpPr>
        <p:spPr>
          <a:xfrm>
            <a:off x="5440680" y="1554480"/>
            <a:ext cx="6199632" cy="3108960"/>
          </a:xfrm>
          <a:prstGeom prst="roundRect">
            <a:avLst>
              <a:gd name="adj" fmla="val 2059"/>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9" name="C13_dom_a"/>
          <p:cNvSpPr/>
          <p:nvPr/>
        </p:nvSpPr>
        <p:spPr>
          <a:xfrm>
            <a:off x="5440680" y="1700784"/>
            <a:ext cx="64008" cy="2816352"/>
          </a:xfrm>
          <a:prstGeom prst="rect">
            <a:avLst/>
          </a:prstGeom>
          <a:solidFill>
            <a:srgbClr val="B8512F"/>
          </a:solidFill>
          <a:ln w="12700">
            <a:solidFill>
              <a:srgbClr val="B8512F"/>
            </a:solidFill>
            <a:prstDash val="solid"/>
          </a:ln>
        </p:spPr>
      </p:sp>
      <p:sp>
        <p:nvSpPr>
          <p:cNvPr id="10" name="C13_dom_h"/>
          <p:cNvSpPr txBox="1"/>
          <p:nvPr/>
        </p:nvSpPr>
        <p:spPr>
          <a:xfrm>
            <a:off x="5715000" y="1737360"/>
            <a:ext cx="5742432" cy="292608"/>
          </a:xfrm>
          <a:prstGeom prst="rect">
            <a:avLst/>
          </a:prstGeom>
          <a:noFill/>
          <a:ln/>
        </p:spPr>
        <p:txBody>
          <a:bodyPr wrap="square" lIns="0" tIns="0" rIns="0" bIns="0" rtlCol="0" anchor="t"/>
          <a:lstStyle/>
          <a:p>
            <a:pPr indent="0" marL="0">
              <a:buNone/>
            </a:pPr>
            <a:r>
              <a:rPr lang="en-US" sz="1250" b="1" spc="150" kern="0" dirty="0">
                <a:solidFill>
                  <a:srgbClr val="B8512F"/>
                </a:solidFill>
                <a:latin typeface="Calibri" pitchFamily="34" charset="0"/>
                <a:ea typeface="Calibri" pitchFamily="34" charset="-122"/>
                <a:cs typeface="Calibri" pitchFamily="34" charset="-120"/>
              </a:rPr>
              <a:t>DOMINANT LINEAR CORRELATES</a:t>
            </a:r>
            <a:endParaRPr lang="en-US" sz="1250" dirty="0"/>
          </a:p>
        </p:txBody>
      </p:sp>
      <p:sp>
        <p:nvSpPr>
          <p:cNvPr id="11" name="C13_dom_b"/>
          <p:cNvSpPr txBox="1"/>
          <p:nvPr/>
        </p:nvSpPr>
        <p:spPr>
          <a:xfrm>
            <a:off x="5715000" y="2121408"/>
            <a:ext cx="5742432" cy="2432304"/>
          </a:xfrm>
          <a:prstGeom prst="rect">
            <a:avLst/>
          </a:prstGeom>
          <a:noFill/>
          <a:ln/>
        </p:spPr>
        <p:txBody>
          <a:bodyPr wrap="square" lIns="0" tIns="0" rIns="0" bIns="0" rtlCol="0" anchor="t"/>
          <a:lstStyle/>
          <a:p>
            <a:pPr indent="0" marL="0">
              <a:lnSpc>
                <a:spcPct val="105000"/>
              </a:lnSpc>
              <a:spcAft>
                <a:spcPts val="700"/>
              </a:spcAft>
              <a:buNone/>
            </a:pPr>
            <a:r>
              <a:rPr lang="en-US" sz="1500" dirty="0">
                <a:solidFill>
                  <a:srgbClr val="26221E"/>
                </a:solidFill>
                <a:latin typeface="Calibri" pitchFamily="34" charset="0"/>
                <a:ea typeface="Calibri" pitchFamily="34" charset="-122"/>
                <a:cs typeface="Calibri" pitchFamily="34" charset="-120"/>
              </a:rPr>
              <a:t>Accelerometer mean and energy are the strongest correlates.</a:t>
            </a:r>
            <a:endParaRPr lang="en-US" sz="1500" dirty="0"/>
          </a:p>
          <a:p>
            <a:pPr indent="0" marL="0">
              <a:lnSpc>
                <a:spcPct val="105000"/>
              </a:lnSpc>
              <a:spcAft>
                <a:spcPts val="700"/>
              </a:spcAft>
              <a:buNone/>
            </a:pPr>
            <a:r>
              <a:rPr lang="en-US" sz="1500" dirty="0">
                <a:solidFill>
                  <a:srgbClr val="26221E"/>
                </a:solidFill>
                <a:latin typeface="Calibri" pitchFamily="34" charset="0"/>
                <a:ea typeface="Calibri" pitchFamily="34" charset="-122"/>
                <a:cs typeface="Calibri" pitchFamily="34" charset="-120"/>
              </a:rPr>
              <a:t>• az_mean (r = −0.88)</a:t>
            </a:r>
            <a:endParaRPr lang="en-US" sz="1500" dirty="0"/>
          </a:p>
          <a:p>
            <a:pPr indent="0" marL="0">
              <a:lnSpc>
                <a:spcPct val="105000"/>
              </a:lnSpc>
              <a:spcAft>
                <a:spcPts val="700"/>
              </a:spcAft>
              <a:buNone/>
            </a:pPr>
            <a:r>
              <a:rPr lang="en-US" sz="1500" dirty="0">
                <a:solidFill>
                  <a:srgbClr val="26221E"/>
                </a:solidFill>
                <a:latin typeface="Calibri" pitchFamily="34" charset="0"/>
                <a:ea typeface="Calibri" pitchFamily="34" charset="-122"/>
                <a:cs typeface="Calibri" pitchFamily="34" charset="-120"/>
              </a:rPr>
              <a:t>• ax_rms (r = 0.87)</a:t>
            </a:r>
            <a:endParaRPr lang="en-US" sz="1500" dirty="0"/>
          </a:p>
          <a:p>
            <a:pPr indent="0" marL="0">
              <a:lnSpc>
                <a:spcPct val="105000"/>
              </a:lnSpc>
              <a:spcAft>
                <a:spcPts val="700"/>
              </a:spcAft>
              <a:buNone/>
            </a:pPr>
            <a:r>
              <a:rPr lang="en-US" sz="1500" dirty="0">
                <a:solidFill>
                  <a:srgbClr val="26221E"/>
                </a:solidFill>
                <a:latin typeface="Calibri" pitchFamily="34" charset="0"/>
                <a:ea typeface="Calibri" pitchFamily="34" charset="-122"/>
                <a:cs typeface="Calibri" pitchFamily="34" charset="-120"/>
              </a:rPr>
              <a:t>Top Random Forest importance features: az_mean, az_rms, ax_rms.</a:t>
            </a:r>
            <a:endParaRPr lang="en-US" sz="1500" dirty="0"/>
          </a:p>
          <a:p>
            <a:pPr indent="0" marL="0">
              <a:lnSpc>
                <a:spcPct val="105000"/>
              </a:lnSpc>
              <a:spcAft>
                <a:spcPts val="700"/>
              </a:spcAft>
              <a:buNone/>
            </a:pPr>
            <a:r>
              <a:rPr lang="en-US" sz="1500" dirty="0">
                <a:solidFill>
                  <a:srgbClr val="26221E"/>
                </a:solidFill>
                <a:latin typeface="Calibri" pitchFamily="34" charset="0"/>
                <a:ea typeface="Calibri" pitchFamily="34" charset="-122"/>
                <a:cs typeface="Calibri" pitchFamily="34" charset="-120"/>
              </a:rPr>
              <a:t>Accelerometer mean measures tilt relative to gravity. With 95% of drift from bias, tilt controls how vertical bias projects into horizontal position error. Spectral entropy correlates at r ≈ 0.65–0.74.</a:t>
            </a:r>
            <a:endParaRPr lang="en-US" sz="1500" dirty="0"/>
          </a:p>
        </p:txBody>
      </p:sp>
      <p:sp>
        <p:nvSpPr>
          <p:cNvPr id="12" name="C13_mc"/>
          <p:cNvSpPr/>
          <p:nvPr/>
        </p:nvSpPr>
        <p:spPr>
          <a:xfrm>
            <a:off x="5440680" y="4800600"/>
            <a:ext cx="6199632" cy="1417320"/>
          </a:xfrm>
          <a:prstGeom prst="roundRect">
            <a:avLst>
              <a:gd name="adj" fmla="val 4516"/>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13" name="C13_mc_a"/>
          <p:cNvSpPr/>
          <p:nvPr/>
        </p:nvSpPr>
        <p:spPr>
          <a:xfrm>
            <a:off x="5440680" y="4946904"/>
            <a:ext cx="64008" cy="1124712"/>
          </a:xfrm>
          <a:prstGeom prst="rect">
            <a:avLst/>
          </a:prstGeom>
          <a:solidFill>
            <a:srgbClr val="2E5A4C"/>
          </a:solidFill>
          <a:ln w="12700">
            <a:solidFill>
              <a:srgbClr val="2E5A4C"/>
            </a:solidFill>
            <a:prstDash val="solid"/>
          </a:ln>
        </p:spPr>
      </p:sp>
      <p:sp>
        <p:nvSpPr>
          <p:cNvPr id="14" name="C13_mc_h"/>
          <p:cNvSpPr txBox="1"/>
          <p:nvPr/>
        </p:nvSpPr>
        <p:spPr>
          <a:xfrm>
            <a:off x="5715000" y="4983480"/>
            <a:ext cx="5742432" cy="292608"/>
          </a:xfrm>
          <a:prstGeom prst="rect">
            <a:avLst/>
          </a:prstGeom>
          <a:noFill/>
          <a:ln/>
        </p:spPr>
        <p:txBody>
          <a:bodyPr wrap="square" lIns="0" tIns="0" rIns="0" bIns="0" rtlCol="0" anchor="t"/>
          <a:lstStyle/>
          <a:p>
            <a:pPr indent="0" marL="0">
              <a:buNone/>
            </a:pPr>
            <a:r>
              <a:rPr lang="en-US" sz="1250" b="1" spc="150" kern="0" dirty="0">
                <a:solidFill>
                  <a:srgbClr val="2E5A4C"/>
                </a:solidFill>
                <a:latin typeface="Calibri" pitchFamily="34" charset="0"/>
                <a:ea typeface="Calibri" pitchFamily="34" charset="-122"/>
                <a:cs typeface="Calibri" pitchFamily="34" charset="-120"/>
              </a:rPr>
              <a:t>MULTICOLLINEARITY &amp; SAFE SCALING</a:t>
            </a:r>
            <a:endParaRPr lang="en-US" sz="1250" dirty="0"/>
          </a:p>
        </p:txBody>
      </p:sp>
      <p:sp>
        <p:nvSpPr>
          <p:cNvPr id="15" name="C13_mc_b"/>
          <p:cNvSpPr txBox="1"/>
          <p:nvPr/>
        </p:nvSpPr>
        <p:spPr>
          <a:xfrm>
            <a:off x="5715000" y="5303520"/>
            <a:ext cx="5742432" cy="804672"/>
          </a:xfrm>
          <a:prstGeom prst="rect">
            <a:avLst/>
          </a:prstGeom>
          <a:noFill/>
          <a:ln/>
        </p:spPr>
        <p:txBody>
          <a:bodyPr wrap="square" lIns="0" tIns="0" rIns="0" bIns="0" rtlCol="0" anchor="t"/>
          <a:lstStyle/>
          <a:p>
            <a:pPr indent="0" marL="0">
              <a:lnSpc>
                <a:spcPct val="105000"/>
              </a:lnSpc>
              <a:spcAft>
                <a:spcPts val="300"/>
              </a:spcAft>
              <a:buNone/>
            </a:pPr>
            <a:r>
              <a:rPr lang="en-US" sz="1350" dirty="0">
                <a:solidFill>
                  <a:srgbClr val="26221E"/>
                </a:solidFill>
                <a:latin typeface="Calibri" pitchFamily="34" charset="0"/>
                <a:ea typeface="Calibri" pitchFamily="34" charset="-122"/>
                <a:cs typeface="Calibri" pitchFamily="34" charset="-120"/>
              </a:rPr>
              <a:t>22 feature pairs exceed |r| &gt; 0.95 (e.g. variance vs. standard deviation, RMS vs. mean). Unregularized linear regression can suffer weight explosion. This motivates L1 regularization (Lasso) to prune redundant features.</a:t>
            </a:r>
            <a:endParaRPr lang="en-US" sz="1350" dirty="0"/>
          </a:p>
        </p:txBody>
      </p:sp>
    </p:spTree>
  </p:cSld>
  <p:clrMapOvr>
    <a:masterClrMapping/>
  </p:clrMapOvr>
  <mc:AlternateContent xmlns:mc="http://schemas.openxmlformats.org/markup-compatibility/2006">
    <mc:Choice xmlns:p14="http://schemas.microsoft.com/office/powerpoint/2010/main" Requires="p14">
      <p:transition spd="slow" p14:dur="900">
        <p14:pan dir="r"/>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52" fill="hold">
                            <p:stCondLst>
                              <p:cond delay="0"/>
                            </p:stCondLst>
                            <p:childTnLst>
                              <p:par>
                                <p:cTn id="6" presetID="10" presetClass="entr" presetSubtype="0" fill="hold" nodeType="withEffect">
                                  <p:stCondLst>
                                    <p:cond delay="8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10" presetID="10" presetClass="entr" presetSubtype="0" fill="hold" nodeType="withEffect">
                                  <p:stCondLst>
                                    <p:cond delay="12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anim calcmode="lin" valueType="num">
                                      <p:cBhvr additive="base">
                                        <p:cTn id="9" dur="450" fill="hold"/>
                                        <p:tgtEl>
                                          <p:spTgt spid="3"/>
                                        </p:tgtEl>
                                        <p:attrNameLst>
                                          <p:attrName>ppt_y</p:attrName>
                                        </p:attrNameLst>
                                      </p:cBhvr>
                                      <p:tavLst>
                                        <p:tav tm="0">
                                          <p:val>
                                            <p:strVal val="#ppt_y+0.05"/>
                                          </p:val>
                                        </p:tav>
                                        <p:tav tm="100000">
                                          <p:val>
                                            <p:strVal val="#ppt_y"/>
                                          </p:val>
                                        </p:tav>
                                      </p:tavLst>
                                    </p:anim>
                                  </p:childTnLst>
                                </p:cTn>
                              </p:par>
                              <p:par>
                                <p:cTn id="13" presetID="22" presetClass="entr" presetSubtype="8" fill="hold"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450"/>
                                        <p:tgtEl>
                                          <p:spTgt spid="5"/>
                                        </p:tgtEl>
                                      </p:cBhvr>
                                    </p:animEffect>
                                  </p:childTnLst>
                                </p:cTn>
                              </p:par>
                              <p:par>
                                <p:cTn id="16" presetID="10" presetClass="entr" presetSubtype="0" fill="hold" nodeType="withEffect">
                                  <p:stCondLst>
                                    <p:cond delay="3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9" presetID="10" presetClass="entr" presetSubtype="0" fill="hold" nodeType="withEffect">
                                  <p:stCondLst>
                                    <p:cond delay="30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23" presetID="10" presetClass="entr" presetSubtype="0" fill="hold" nodeType="withEffect">
                                  <p:stCondLst>
                                    <p:cond delay="50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anim calcmode="lin" valueType="num">
                                      <p:cBhvr additive="base">
                                        <p:cTn id="22" dur="450" fill="hold"/>
                                        <p:tgtEl>
                                          <p:spTgt spid="8"/>
                                        </p:tgtEl>
                                        <p:attrNameLst>
                                          <p:attrName>ppt_y</p:attrName>
                                        </p:attrNameLst>
                                      </p:cBhvr>
                                      <p:tavLst>
                                        <p:tav tm="0">
                                          <p:val>
                                            <p:strVal val="#ppt_y+0.05"/>
                                          </p:val>
                                        </p:tav>
                                        <p:tav tm="100000">
                                          <p:val>
                                            <p:strVal val="#ppt_y"/>
                                          </p:val>
                                        </p:tav>
                                      </p:tavLst>
                                    </p:anim>
                                  </p:childTnLst>
                                </p:cTn>
                              </p:par>
                              <p:par>
                                <p:cTn id="27" presetID="10" presetClass="entr" presetSubtype="0" fill="hold" nodeType="withEffect">
                                  <p:stCondLst>
                                    <p:cond delay="5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anim calcmode="lin" valueType="num">
                                      <p:cBhvr additive="base">
                                        <p:cTn id="26" dur="450" fill="hold"/>
                                        <p:tgtEl>
                                          <p:spTgt spid="9"/>
                                        </p:tgtEl>
                                        <p:attrNameLst>
                                          <p:attrName>ppt_y</p:attrName>
                                        </p:attrNameLst>
                                      </p:cBhvr>
                                      <p:tavLst>
                                        <p:tav tm="0">
                                          <p:val>
                                            <p:strVal val="#ppt_y+0.05"/>
                                          </p:val>
                                        </p:tav>
                                        <p:tav tm="100000">
                                          <p:val>
                                            <p:strVal val="#ppt_y"/>
                                          </p:val>
                                        </p:tav>
                                      </p:tavLst>
                                    </p:anim>
                                  </p:childTnLst>
                                </p:cTn>
                              </p:par>
                              <p:par>
                                <p:cTn id="31" presetID="10" presetClass="entr" presetSubtype="0" fill="hold" nodeType="withEffect">
                                  <p:stCondLst>
                                    <p:cond delay="50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anim calcmode="lin" valueType="num">
                                      <p:cBhvr additive="base">
                                        <p:cTn id="30" dur="450" fill="hold"/>
                                        <p:tgtEl>
                                          <p:spTgt spid="10"/>
                                        </p:tgtEl>
                                        <p:attrNameLst>
                                          <p:attrName>ppt_y</p:attrName>
                                        </p:attrNameLst>
                                      </p:cBhvr>
                                      <p:tavLst>
                                        <p:tav tm="0">
                                          <p:val>
                                            <p:strVal val="#ppt_y+0.05"/>
                                          </p:val>
                                        </p:tav>
                                        <p:tav tm="100000">
                                          <p:val>
                                            <p:strVal val="#ppt_y"/>
                                          </p:val>
                                        </p:tav>
                                      </p:tavLst>
                                    </p:anim>
                                  </p:childTnLst>
                                </p:cTn>
                              </p:par>
                              <p:par>
                                <p:cTn id="35" presetID="10" presetClass="entr" presetSubtype="0" fill="hold" nodeType="withEffect">
                                  <p:stCondLst>
                                    <p:cond delay="50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50"/>
                                        <p:tgtEl>
                                          <p:spTgt spid="11"/>
                                        </p:tgtEl>
                                      </p:cBhvr>
                                    </p:animEffect>
                                    <p:anim calcmode="lin" valueType="num">
                                      <p:cBhvr additive="base">
                                        <p:cTn id="34" dur="450" fill="hold"/>
                                        <p:tgtEl>
                                          <p:spTgt spid="11"/>
                                        </p:tgtEl>
                                        <p:attrNameLst>
                                          <p:attrName>ppt_y</p:attrName>
                                        </p:attrNameLst>
                                      </p:cBhvr>
                                      <p:tavLst>
                                        <p:tav tm="0">
                                          <p:val>
                                            <p:strVal val="#ppt_y+0.05"/>
                                          </p:val>
                                        </p:tav>
                                        <p:tav tm="100000">
                                          <p:val>
                                            <p:strVal val="#ppt_y"/>
                                          </p:val>
                                        </p:tav>
                                      </p:tavLst>
                                    </p:anim>
                                  </p:childTnLst>
                                </p:cTn>
                              </p:par>
                              <p:par>
                                <p:cTn id="39" presetID="10" presetClass="entr" presetSubtype="0" fill="hold" nodeType="withEffect">
                                  <p:stCondLst>
                                    <p:cond delay="70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50"/>
                                        <p:tgtEl>
                                          <p:spTgt spid="12"/>
                                        </p:tgtEl>
                                      </p:cBhvr>
                                    </p:animEffect>
                                    <p:anim calcmode="lin" valueType="num">
                                      <p:cBhvr additive="base">
                                        <p:cTn id="38" dur="450" fill="hold"/>
                                        <p:tgtEl>
                                          <p:spTgt spid="12"/>
                                        </p:tgtEl>
                                        <p:attrNameLst>
                                          <p:attrName>ppt_y</p:attrName>
                                        </p:attrNameLst>
                                      </p:cBhvr>
                                      <p:tavLst>
                                        <p:tav tm="0">
                                          <p:val>
                                            <p:strVal val="#ppt_y+0.05"/>
                                          </p:val>
                                        </p:tav>
                                        <p:tav tm="100000">
                                          <p:val>
                                            <p:strVal val="#ppt_y"/>
                                          </p:val>
                                        </p:tav>
                                      </p:tavLst>
                                    </p:anim>
                                  </p:childTnLst>
                                </p:cTn>
                              </p:par>
                              <p:par>
                                <p:cTn id="43" presetID="10" presetClass="entr" presetSubtype="0" fill="hold" nodeType="withEffect">
                                  <p:stCondLst>
                                    <p:cond delay="70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450"/>
                                        <p:tgtEl>
                                          <p:spTgt spid="13"/>
                                        </p:tgtEl>
                                      </p:cBhvr>
                                    </p:animEffect>
                                    <p:anim calcmode="lin" valueType="num">
                                      <p:cBhvr additive="base">
                                        <p:cTn id="42" dur="450" fill="hold"/>
                                        <p:tgtEl>
                                          <p:spTgt spid="13"/>
                                        </p:tgtEl>
                                        <p:attrNameLst>
                                          <p:attrName>ppt_y</p:attrName>
                                        </p:attrNameLst>
                                      </p:cBhvr>
                                      <p:tavLst>
                                        <p:tav tm="0">
                                          <p:val>
                                            <p:strVal val="#ppt_y+0.05"/>
                                          </p:val>
                                        </p:tav>
                                        <p:tav tm="100000">
                                          <p:val>
                                            <p:strVal val="#ppt_y"/>
                                          </p:val>
                                        </p:tav>
                                      </p:tavLst>
                                    </p:anim>
                                  </p:childTnLst>
                                </p:cTn>
                              </p:par>
                              <p:par>
                                <p:cTn id="47" presetID="10" presetClass="entr" presetSubtype="0" fill="hold" nodeType="withEffect">
                                  <p:stCondLst>
                                    <p:cond delay="70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450"/>
                                        <p:tgtEl>
                                          <p:spTgt spid="14"/>
                                        </p:tgtEl>
                                      </p:cBhvr>
                                    </p:animEffect>
                                    <p:anim calcmode="lin" valueType="num">
                                      <p:cBhvr additive="base">
                                        <p:cTn id="46" dur="450" fill="hold"/>
                                        <p:tgtEl>
                                          <p:spTgt spid="14"/>
                                        </p:tgtEl>
                                        <p:attrNameLst>
                                          <p:attrName>ppt_y</p:attrName>
                                        </p:attrNameLst>
                                      </p:cBhvr>
                                      <p:tavLst>
                                        <p:tav tm="0">
                                          <p:val>
                                            <p:strVal val="#ppt_y+0.05"/>
                                          </p:val>
                                        </p:tav>
                                        <p:tav tm="100000">
                                          <p:val>
                                            <p:strVal val="#ppt_y"/>
                                          </p:val>
                                        </p:tav>
                                      </p:tavLst>
                                    </p:anim>
                                  </p:childTnLst>
                                </p:cTn>
                              </p:par>
                              <p:par>
                                <p:cTn id="51" presetID="10" presetClass="entr" presetSubtype="0" fill="hold" nodeType="withEffect">
                                  <p:stCondLst>
                                    <p:cond delay="70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450"/>
                                        <p:tgtEl>
                                          <p:spTgt spid="15"/>
                                        </p:tgtEl>
                                      </p:cBhvr>
                                    </p:animEffect>
                                    <p:anim calcmode="lin" valueType="num">
                                      <p:cBhvr additive="base">
                                        <p:cTn id="50" dur="450" fill="hold"/>
                                        <p:tgtEl>
                                          <p:spTgt spid="15"/>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NUM"/>
          <p:cNvSpPr txBox="1"/>
          <p:nvPr/>
        </p:nvSpPr>
        <p:spPr>
          <a:xfrm>
            <a:off x="7498080" y="365760"/>
            <a:ext cx="4206240" cy="5669280"/>
          </a:xfrm>
          <a:prstGeom prst="rect">
            <a:avLst/>
          </a:prstGeom>
          <a:noFill/>
          <a:ln/>
        </p:spPr>
        <p:txBody>
          <a:bodyPr wrap="square" lIns="0" tIns="0" rIns="0" bIns="0" rtlCol="0" anchor="ctr"/>
          <a:lstStyle/>
          <a:p>
            <a:pPr algn="r" indent="0" marL="0">
              <a:buNone/>
            </a:pPr>
            <a:r>
              <a:rPr lang="en-US" sz="21000" b="1" dirty="0">
                <a:solidFill>
                  <a:srgbClr val="2F5B4D"/>
                </a:solidFill>
                <a:latin typeface="Cambria" pitchFamily="34" charset="0"/>
                <a:ea typeface="Cambria" pitchFamily="34" charset="-122"/>
                <a:cs typeface="Cambria" pitchFamily="34" charset="-120"/>
              </a:rPr>
              <a:t>05</a:t>
            </a:r>
            <a:endParaRPr lang="en-US" sz="21000" dirty="0"/>
          </a:p>
        </p:txBody>
      </p:sp>
      <p:sp>
        <p:nvSpPr>
          <p:cNvPr id="3" name="DK"/>
          <p:cNvSpPr txBox="1"/>
          <p:nvPr/>
        </p:nvSpPr>
        <p:spPr>
          <a:xfrm>
            <a:off x="822960" y="1874520"/>
            <a:ext cx="4572000" cy="365760"/>
          </a:xfrm>
          <a:prstGeom prst="rect">
            <a:avLst/>
          </a:prstGeom>
          <a:noFill/>
          <a:ln/>
        </p:spPr>
        <p:txBody>
          <a:bodyPr wrap="square" lIns="0" tIns="0" rIns="0" bIns="0" rtlCol="0" anchor="t"/>
          <a:lstStyle/>
          <a:p>
            <a:pPr indent="0" marL="0">
              <a:buNone/>
            </a:pPr>
            <a:r>
              <a:rPr lang="en-US" sz="1600" b="1" spc="500" kern="0" dirty="0">
                <a:solidFill>
                  <a:srgbClr val="E3A83A"/>
                </a:solidFill>
                <a:latin typeface="Calibri" pitchFamily="34" charset="0"/>
                <a:ea typeface="Calibri" pitchFamily="34" charset="-122"/>
                <a:cs typeface="Calibri" pitchFamily="34" charset="-120"/>
              </a:rPr>
              <a:t>SECTION 05</a:t>
            </a:r>
            <a:endParaRPr lang="en-US" sz="1600" dirty="0"/>
          </a:p>
        </p:txBody>
      </p:sp>
      <p:sp>
        <p:nvSpPr>
          <p:cNvPr id="4" name="DT"/>
          <p:cNvSpPr txBox="1"/>
          <p:nvPr/>
        </p:nvSpPr>
        <p:spPr>
          <a:xfrm>
            <a:off x="822960" y="2377440"/>
            <a:ext cx="6766560" cy="1737360"/>
          </a:xfrm>
          <a:prstGeom prst="rect">
            <a:avLst/>
          </a:prstGeom>
          <a:noFill/>
          <a:ln/>
        </p:spPr>
        <p:txBody>
          <a:bodyPr wrap="square" lIns="0" tIns="0" rIns="0" bIns="0" rtlCol="0" anchor="t"/>
          <a:lstStyle/>
          <a:p>
            <a:pPr indent="0" marL="0">
              <a:buNone/>
            </a:pPr>
            <a:r>
              <a:rPr lang="en-US" sz="4400" b="1" dirty="0">
                <a:solidFill>
                  <a:srgbClr val="F4EEE3"/>
                </a:solidFill>
                <a:latin typeface="Cambria" pitchFamily="34" charset="0"/>
                <a:ea typeface="Cambria" pitchFamily="34" charset="-122"/>
                <a:cs typeface="Cambria" pitchFamily="34" charset="-120"/>
              </a:rPr>
              <a:t>Model Development &amp; Evaluation</a:t>
            </a:r>
            <a:endParaRPr lang="en-US" sz="4400" dirty="0"/>
          </a:p>
        </p:txBody>
      </p:sp>
      <p:sp>
        <p:nvSpPr>
          <p:cNvPr id="5" name="DBAR"/>
          <p:cNvSpPr/>
          <p:nvPr/>
        </p:nvSpPr>
        <p:spPr>
          <a:xfrm>
            <a:off x="822960" y="4224528"/>
            <a:ext cx="1188720" cy="64008"/>
          </a:xfrm>
          <a:prstGeom prst="rect">
            <a:avLst/>
          </a:prstGeom>
          <a:solidFill>
            <a:srgbClr val="E3A83A"/>
          </a:solidFill>
          <a:ln w="12700">
            <a:solidFill>
              <a:srgbClr val="E3A83A"/>
            </a:solidFill>
            <a:prstDash val="solid"/>
          </a:ln>
        </p:spPr>
      </p:sp>
      <p:sp>
        <p:nvSpPr>
          <p:cNvPr id="6" name="DS"/>
          <p:cNvSpPr txBox="1"/>
          <p:nvPr/>
        </p:nvSpPr>
        <p:spPr>
          <a:xfrm>
            <a:off x="822960" y="4526280"/>
            <a:ext cx="7498080" cy="914400"/>
          </a:xfrm>
          <a:prstGeom prst="rect">
            <a:avLst/>
          </a:prstGeom>
          <a:noFill/>
          <a:ln/>
        </p:spPr>
        <p:txBody>
          <a:bodyPr wrap="square" lIns="0" tIns="0" rIns="0" bIns="0" rtlCol="0" anchor="t"/>
          <a:lstStyle/>
          <a:p>
            <a:pPr indent="0" marL="0">
              <a:buNone/>
            </a:pPr>
            <a:r>
              <a:rPr lang="en-US" sz="2100" dirty="0">
                <a:solidFill>
                  <a:srgbClr val="D9CDB8"/>
                </a:solidFill>
                <a:latin typeface="Calibri" pitchFamily="34" charset="0"/>
                <a:ea typeface="Calibri" pitchFamily="34" charset="-122"/>
                <a:cs typeface="Calibri" pitchFamily="34" charset="-120"/>
              </a:rPr>
              <a:t>Regularization, the Take-Off Median Rule, and Benchmark Results</a:t>
            </a:r>
            <a:endParaRPr lang="en-US" sz="2100" dirty="0"/>
          </a:p>
        </p:txBody>
      </p:sp>
      <p:sp>
        <p:nvSpPr>
          <p:cNvPr id="7" name="DF"/>
          <p:cNvSpPr txBox="1"/>
          <p:nvPr/>
        </p:nvSpPr>
        <p:spPr>
          <a:xfrm>
            <a:off x="822960" y="6400800"/>
            <a:ext cx="8229600" cy="256032"/>
          </a:xfrm>
          <a:prstGeom prst="rect">
            <a:avLst/>
          </a:prstGeom>
          <a:noFill/>
          <a:ln/>
        </p:spPr>
        <p:txBody>
          <a:bodyPr wrap="square" lIns="0" tIns="0" rIns="0" bIns="0" rtlCol="0" anchor="t"/>
          <a:lstStyle/>
          <a:p>
            <a:pPr indent="0" marL="0">
              <a:buNone/>
            </a:pPr>
            <a:r>
              <a:rPr lang="en-US" sz="1000" b="1" spc="200" kern="0" dirty="0">
                <a:solidFill>
                  <a:srgbClr val="9FB3A8"/>
                </a:solidFill>
                <a:latin typeface="Calibri" pitchFamily="34" charset="0"/>
                <a:ea typeface="Calibri" pitchFamily="34" charset="-122"/>
                <a:cs typeface="Calibri" pitchFamily="34" charset="-120"/>
              </a:rPr>
              <a:t>DRIFT-SENSE  •  AUTONOMOUS ROBOTICS &amp; FLIGHT TELEMETRY</a:t>
            </a:r>
            <a:endParaRPr lang="en-US" sz="1000" dirty="0"/>
          </a:p>
        </p:txBody>
      </p:sp>
      <p:sp>
        <p:nvSpPr>
          <p:cNvPr id="8" name="DP"/>
          <p:cNvSpPr txBox="1"/>
          <p:nvPr/>
        </p:nvSpPr>
        <p:spPr>
          <a:xfrm>
            <a:off x="10881360" y="6400800"/>
            <a:ext cx="758952" cy="256032"/>
          </a:xfrm>
          <a:prstGeom prst="rect">
            <a:avLst/>
          </a:prstGeom>
          <a:noFill/>
          <a:ln/>
        </p:spPr>
        <p:txBody>
          <a:bodyPr wrap="square" lIns="0" tIns="0" rIns="0" bIns="0" rtlCol="0" anchor="t"/>
          <a:lstStyle/>
          <a:p>
            <a:pPr algn="r" indent="0" marL="0">
              <a:buNone/>
            </a:pPr>
            <a:r>
              <a:rPr lang="en-US" sz="1100" b="1" dirty="0">
                <a:solidFill>
                  <a:srgbClr val="9FB3A8"/>
                </a:solidFill>
                <a:latin typeface="Calibri" pitchFamily="34" charset="0"/>
                <a:ea typeface="Calibri" pitchFamily="34" charset="-122"/>
                <a:cs typeface="Calibri" pitchFamily="34" charset="-120"/>
              </a:rPr>
              <a:t>15</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900">
        <p14:doors dir="ver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21" fill="hold">
                            <p:stCondLst>
                              <p:cond delay="0"/>
                            </p:stCondLst>
                            <p:childTnLst>
                              <p:par>
                                <p:cTn id="6" presetID="10" presetClass="entr" presetSubtype="0" fill="hold" nodeType="withEffect">
                                  <p:stCondLst>
                                    <p:cond delay="15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700"/>
                                        <p:tgtEl>
                                          <p:spTgt spid="2"/>
                                        </p:tgtEl>
                                      </p:cBhvr>
                                    </p:animEffect>
                                  </p:childTnLst>
                                </p:cTn>
                              </p:par>
                              <p:par>
                                <p:cTn id="9" presetID="10" presetClass="entr" presetSubtype="0" fill="hold" nodeType="withEffect">
                                  <p:stCondLst>
                                    <p:cond delay="30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13" presetID="10" presetClass="entr" presetSubtype="0" fill="hold" nodeType="withEffect">
                                  <p:stCondLst>
                                    <p:cond delay="42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anim calcmode="lin" valueType="num">
                                      <p:cBhvr additive="base">
                                        <p:cTn id="12" dur="450" fill="hold"/>
                                        <p:tgtEl>
                                          <p:spTgt spid="4"/>
                                        </p:tgtEl>
                                        <p:attrNameLst>
                                          <p:attrName>ppt_y</p:attrName>
                                        </p:attrNameLst>
                                      </p:cBhvr>
                                      <p:tavLst>
                                        <p:tav tm="0">
                                          <p:val>
                                            <p:strVal val="#ppt_y+0.05"/>
                                          </p:val>
                                        </p:tav>
                                        <p:tav tm="100000">
                                          <p:val>
                                            <p:strVal val="#ppt_y"/>
                                          </p:val>
                                        </p:tav>
                                      </p:tavLst>
                                    </p:anim>
                                  </p:childTnLst>
                                </p:cTn>
                              </p:par>
                              <p:par>
                                <p:cTn id="16" presetID="22" presetClass="entr" presetSubtype="8" fill="hold" nodeType="withEffect">
                                  <p:stCondLst>
                                    <p:cond delay="70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450"/>
                                        <p:tgtEl>
                                          <p:spTgt spid="5"/>
                                        </p:tgtEl>
                                      </p:cBhvr>
                                    </p:animEffect>
                                  </p:childTnLst>
                                </p:cTn>
                              </p:par>
                              <p:par>
                                <p:cTn id="20" presetID="10" presetClass="entr" presetSubtype="0" fill="hold" nodeType="withEffect">
                                  <p:stCondLst>
                                    <p:cond delay="85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50"/>
                                        <p:tgtEl>
                                          <p:spTgt spid="6"/>
                                        </p:tgtEl>
                                      </p:cBhvr>
                                    </p:animEffect>
                                    <p:anim calcmode="lin" valueType="num">
                                      <p:cBhvr additive="base">
                                        <p:cTn id="19" dur="450" fill="hold"/>
                                        <p:tgtEl>
                                          <p:spTgt spid="6"/>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15"/>
          <p:cNvSpPr txBox="1"/>
          <p:nvPr/>
        </p:nvSpPr>
        <p:spPr>
          <a:xfrm>
            <a:off x="548640" y="310896"/>
            <a:ext cx="9144000" cy="256032"/>
          </a:xfrm>
          <a:prstGeom prst="rect">
            <a:avLst/>
          </a:prstGeom>
          <a:noFill/>
          <a:ln/>
        </p:spPr>
        <p:txBody>
          <a:bodyPr wrap="square" lIns="0" tIns="0" rIns="0" bIns="0" rtlCol="0" anchor="t"/>
          <a:lstStyle/>
          <a:p>
            <a:pPr indent="0" marL="0">
              <a:buNone/>
            </a:pPr>
            <a:r>
              <a:rPr lang="en-US" sz="1150" b="1" spc="250" kern="0" dirty="0">
                <a:solidFill>
                  <a:srgbClr val="B8512F"/>
                </a:solidFill>
                <a:latin typeface="Calibri" pitchFamily="34" charset="0"/>
                <a:ea typeface="Calibri" pitchFamily="34" charset="-122"/>
                <a:cs typeface="Calibri" pitchFamily="34" charset="-120"/>
              </a:rPr>
              <a:t>SECTION 05 • MODEL DEVELOPMENT &amp; CROSS-VALIDATION</a:t>
            </a:r>
            <a:endParaRPr lang="en-US" sz="1150" dirty="0"/>
          </a:p>
        </p:txBody>
      </p:sp>
      <p:sp>
        <p:nvSpPr>
          <p:cNvPr id="3" name="TTL15"/>
          <p:cNvSpPr txBox="1"/>
          <p:nvPr/>
        </p:nvSpPr>
        <p:spPr>
          <a:xfrm>
            <a:off x="548640" y="603504"/>
            <a:ext cx="11091672" cy="658368"/>
          </a:xfrm>
          <a:prstGeom prst="rect">
            <a:avLst/>
          </a:prstGeom>
          <a:noFill/>
          <a:ln/>
        </p:spPr>
        <p:txBody>
          <a:bodyPr wrap="square" lIns="0" tIns="0" rIns="0" bIns="0" rtlCol="0" anchor="ctr"/>
          <a:lstStyle/>
          <a:p>
            <a:pPr indent="0" marL="0">
              <a:buNone/>
            </a:pPr>
            <a:r>
              <a:rPr lang="en-US" sz="2700" b="1" dirty="0">
                <a:solidFill>
                  <a:srgbClr val="26221E"/>
                </a:solidFill>
                <a:latin typeface="Cambria" pitchFamily="34" charset="0"/>
                <a:ea typeface="Cambria" pitchFamily="34" charset="-122"/>
                <a:cs typeface="Cambria" pitchFamily="34" charset="-120"/>
              </a:rPr>
              <a:t>The 4 Compared Models &amp; The Median Rule Innovation</a:t>
            </a:r>
            <a:endParaRPr lang="en-US" sz="2700" dirty="0"/>
          </a:p>
        </p:txBody>
      </p:sp>
      <p:sp>
        <p:nvSpPr>
          <p:cNvPr id="4" name="PG15"/>
          <p:cNvSpPr txBox="1"/>
          <p:nvPr/>
        </p:nvSpPr>
        <p:spPr>
          <a:xfrm>
            <a:off x="10881360" y="6473952"/>
            <a:ext cx="758952" cy="228600"/>
          </a:xfrm>
          <a:prstGeom prst="rect">
            <a:avLst/>
          </a:prstGeom>
          <a:noFill/>
          <a:ln/>
        </p:spPr>
        <p:txBody>
          <a:bodyPr wrap="square" lIns="0" tIns="0" rIns="0" bIns="0" rtlCol="0" anchor="t"/>
          <a:lstStyle/>
          <a:p>
            <a:pPr algn="r" indent="0" marL="0">
              <a:buNone/>
            </a:pPr>
            <a:r>
              <a:rPr lang="en-US" sz="1100" b="1" dirty="0">
                <a:solidFill>
                  <a:srgbClr val="6F675C"/>
                </a:solidFill>
                <a:latin typeface="Calibri" pitchFamily="34" charset="0"/>
                <a:ea typeface="Calibri" pitchFamily="34" charset="-122"/>
                <a:cs typeface="Calibri" pitchFamily="34" charset="-120"/>
              </a:rPr>
              <a:t>16</a:t>
            </a:r>
            <a:endParaRPr lang="en-US" sz="1100" dirty="0"/>
          </a:p>
        </p:txBody>
      </p:sp>
      <p:sp>
        <p:nvSpPr>
          <p:cNvPr id="5" name="RULE15"/>
          <p:cNvSpPr/>
          <p:nvPr/>
        </p:nvSpPr>
        <p:spPr>
          <a:xfrm>
            <a:off x="548640" y="1280160"/>
            <a:ext cx="822960" cy="41148"/>
          </a:xfrm>
          <a:prstGeom prst="rect">
            <a:avLst/>
          </a:prstGeom>
          <a:solidFill>
            <a:srgbClr val="B8512F"/>
          </a:solidFill>
          <a:ln w="12700">
            <a:solidFill>
              <a:srgbClr val="B8512F"/>
            </a:solidFill>
            <a:prstDash val="solid"/>
          </a:ln>
        </p:spPr>
      </p:sp>
      <p:sp>
        <p:nvSpPr>
          <p:cNvPr id="6" name="C15_m0"/>
          <p:cNvSpPr/>
          <p:nvPr/>
        </p:nvSpPr>
        <p:spPr>
          <a:xfrm>
            <a:off x="548640" y="1554480"/>
            <a:ext cx="2788920" cy="2267712"/>
          </a:xfrm>
          <a:prstGeom prst="roundRect">
            <a:avLst>
              <a:gd name="adj" fmla="val 2823"/>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7" name="C15_m0_a"/>
          <p:cNvSpPr/>
          <p:nvPr/>
        </p:nvSpPr>
        <p:spPr>
          <a:xfrm>
            <a:off x="548640" y="1700784"/>
            <a:ext cx="64008" cy="1975104"/>
          </a:xfrm>
          <a:prstGeom prst="rect">
            <a:avLst/>
          </a:prstGeom>
          <a:solidFill>
            <a:srgbClr val="B8512F"/>
          </a:solidFill>
          <a:ln w="12700">
            <a:solidFill>
              <a:srgbClr val="B8512F"/>
            </a:solidFill>
            <a:prstDash val="solid"/>
          </a:ln>
        </p:spPr>
      </p:sp>
      <p:sp>
        <p:nvSpPr>
          <p:cNvPr id="8" name="C15_m0_h"/>
          <p:cNvSpPr txBox="1"/>
          <p:nvPr/>
        </p:nvSpPr>
        <p:spPr>
          <a:xfrm>
            <a:off x="822960" y="1737360"/>
            <a:ext cx="2331720" cy="292608"/>
          </a:xfrm>
          <a:prstGeom prst="rect">
            <a:avLst/>
          </a:prstGeom>
          <a:noFill/>
          <a:ln/>
        </p:spPr>
        <p:txBody>
          <a:bodyPr wrap="square" lIns="0" tIns="0" rIns="0" bIns="0" rtlCol="0" anchor="t"/>
          <a:lstStyle/>
          <a:p>
            <a:pPr indent="0" marL="0">
              <a:buNone/>
            </a:pPr>
            <a:r>
              <a:rPr lang="en-US" sz="1250" b="1" spc="150" kern="0" dirty="0">
                <a:solidFill>
                  <a:srgbClr val="B8512F"/>
                </a:solidFill>
                <a:latin typeface="Calibri" pitchFamily="34" charset="0"/>
                <a:ea typeface="Calibri" pitchFamily="34" charset="-122"/>
                <a:cs typeface="Calibri" pitchFamily="34" charset="-120"/>
              </a:rPr>
              <a:t>MEAN BASELINE</a:t>
            </a:r>
            <a:endParaRPr lang="en-US" sz="1250" dirty="0"/>
          </a:p>
        </p:txBody>
      </p:sp>
      <p:sp>
        <p:nvSpPr>
          <p:cNvPr id="9" name="C15_m0_b"/>
          <p:cNvSpPr txBox="1"/>
          <p:nvPr/>
        </p:nvSpPr>
        <p:spPr>
          <a:xfrm>
            <a:off x="822960" y="2121408"/>
            <a:ext cx="2331720" cy="1591056"/>
          </a:xfrm>
          <a:prstGeom prst="rect">
            <a:avLst/>
          </a:prstGeom>
          <a:noFill/>
          <a:ln/>
        </p:spPr>
        <p:txBody>
          <a:bodyPr wrap="square" lIns="0" tIns="0" rIns="0" bIns="0" rtlCol="0" anchor="t"/>
          <a:lstStyle/>
          <a:p>
            <a:pPr indent="0" marL="0">
              <a:lnSpc>
                <a:spcPct val="105000"/>
              </a:lnSpc>
              <a:spcAft>
                <a:spcPts val="700"/>
              </a:spcAft>
              <a:buNone/>
            </a:pPr>
            <a:r>
              <a:rPr lang="en-US" sz="1650" dirty="0">
                <a:solidFill>
                  <a:srgbClr val="26221E"/>
                </a:solidFill>
                <a:latin typeface="Calibri" pitchFamily="34" charset="0"/>
                <a:ea typeface="Calibri" pitchFamily="34" charset="-122"/>
                <a:cs typeface="Calibri" pitchFamily="34" charset="-120"/>
              </a:rPr>
              <a:t>Always predicts training-flight mean. Reference every model must beat (R² ≤ 0).</a:t>
            </a:r>
            <a:endParaRPr lang="en-US" sz="1650" dirty="0"/>
          </a:p>
        </p:txBody>
      </p:sp>
      <p:sp>
        <p:nvSpPr>
          <p:cNvPr id="10" name="C15_m1"/>
          <p:cNvSpPr/>
          <p:nvPr/>
        </p:nvSpPr>
        <p:spPr>
          <a:xfrm>
            <a:off x="3474720" y="1554480"/>
            <a:ext cx="2788920" cy="2267712"/>
          </a:xfrm>
          <a:prstGeom prst="roundRect">
            <a:avLst>
              <a:gd name="adj" fmla="val 2823"/>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11" name="C15_m1_a"/>
          <p:cNvSpPr/>
          <p:nvPr/>
        </p:nvSpPr>
        <p:spPr>
          <a:xfrm>
            <a:off x="3474720" y="1700784"/>
            <a:ext cx="64008" cy="1975104"/>
          </a:xfrm>
          <a:prstGeom prst="rect">
            <a:avLst/>
          </a:prstGeom>
          <a:solidFill>
            <a:srgbClr val="2E5A4C"/>
          </a:solidFill>
          <a:ln w="12700">
            <a:solidFill>
              <a:srgbClr val="2E5A4C"/>
            </a:solidFill>
            <a:prstDash val="solid"/>
          </a:ln>
        </p:spPr>
      </p:sp>
      <p:sp>
        <p:nvSpPr>
          <p:cNvPr id="12" name="C15_m1_h"/>
          <p:cNvSpPr txBox="1"/>
          <p:nvPr/>
        </p:nvSpPr>
        <p:spPr>
          <a:xfrm>
            <a:off x="3749040" y="1737360"/>
            <a:ext cx="2331720" cy="292608"/>
          </a:xfrm>
          <a:prstGeom prst="rect">
            <a:avLst/>
          </a:prstGeom>
          <a:noFill/>
          <a:ln/>
        </p:spPr>
        <p:txBody>
          <a:bodyPr wrap="square" lIns="0" tIns="0" rIns="0" bIns="0" rtlCol="0" anchor="t"/>
          <a:lstStyle/>
          <a:p>
            <a:pPr indent="0" marL="0">
              <a:buNone/>
            </a:pPr>
            <a:r>
              <a:rPr lang="en-US" sz="1250" b="1" spc="150" kern="0" dirty="0">
                <a:solidFill>
                  <a:srgbClr val="2E5A4C"/>
                </a:solidFill>
                <a:latin typeface="Calibri" pitchFamily="34" charset="0"/>
                <a:ea typeface="Calibri" pitchFamily="34" charset="-122"/>
                <a:cs typeface="Calibri" pitchFamily="34" charset="-120"/>
              </a:rPr>
              <a:t>OLS • LINEAR</a:t>
            </a:r>
            <a:endParaRPr lang="en-US" sz="1250" dirty="0"/>
          </a:p>
        </p:txBody>
      </p:sp>
      <p:sp>
        <p:nvSpPr>
          <p:cNvPr id="13" name="C15_m1_b"/>
          <p:cNvSpPr txBox="1"/>
          <p:nvPr/>
        </p:nvSpPr>
        <p:spPr>
          <a:xfrm>
            <a:off x="3749040" y="2121408"/>
            <a:ext cx="2331720" cy="1591056"/>
          </a:xfrm>
          <a:prstGeom prst="rect">
            <a:avLst/>
          </a:prstGeom>
          <a:noFill/>
          <a:ln/>
        </p:spPr>
        <p:txBody>
          <a:bodyPr wrap="square" lIns="0" tIns="0" rIns="0" bIns="0" rtlCol="0" anchor="t"/>
          <a:lstStyle/>
          <a:p>
            <a:pPr indent="0" marL="0">
              <a:lnSpc>
                <a:spcPct val="105000"/>
              </a:lnSpc>
              <a:spcAft>
                <a:spcPts val="700"/>
              </a:spcAft>
              <a:buNone/>
            </a:pPr>
            <a:r>
              <a:rPr lang="en-US" sz="1650" dirty="0">
                <a:solidFill>
                  <a:srgbClr val="26221E"/>
                </a:solidFill>
                <a:latin typeface="Calibri" pitchFamily="34" charset="0"/>
                <a:ea typeface="Calibri" pitchFamily="34" charset="-122"/>
                <a:cs typeface="Calibri" pitchFamily="34" charset="-120"/>
              </a:rPr>
              <a:t>Unregularized least squares: 105 parameters on approximately 600 windows.</a:t>
            </a:r>
            <a:endParaRPr lang="en-US" sz="1650" dirty="0"/>
          </a:p>
        </p:txBody>
      </p:sp>
      <p:sp>
        <p:nvSpPr>
          <p:cNvPr id="14" name="C15_m2"/>
          <p:cNvSpPr/>
          <p:nvPr/>
        </p:nvSpPr>
        <p:spPr>
          <a:xfrm>
            <a:off x="548640" y="3931920"/>
            <a:ext cx="2788920" cy="2267712"/>
          </a:xfrm>
          <a:prstGeom prst="roundRect">
            <a:avLst>
              <a:gd name="adj" fmla="val 2823"/>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15" name="C15_m2_a"/>
          <p:cNvSpPr/>
          <p:nvPr/>
        </p:nvSpPr>
        <p:spPr>
          <a:xfrm>
            <a:off x="548640" y="4078224"/>
            <a:ext cx="64008" cy="1975104"/>
          </a:xfrm>
          <a:prstGeom prst="rect">
            <a:avLst/>
          </a:prstGeom>
          <a:solidFill>
            <a:srgbClr val="B07A12"/>
          </a:solidFill>
          <a:ln w="12700">
            <a:solidFill>
              <a:srgbClr val="B07A12"/>
            </a:solidFill>
            <a:prstDash val="solid"/>
          </a:ln>
        </p:spPr>
      </p:sp>
      <p:sp>
        <p:nvSpPr>
          <p:cNvPr id="16" name="C15_m2_h"/>
          <p:cNvSpPr txBox="1"/>
          <p:nvPr/>
        </p:nvSpPr>
        <p:spPr>
          <a:xfrm>
            <a:off x="822960" y="4114800"/>
            <a:ext cx="2331720" cy="292608"/>
          </a:xfrm>
          <a:prstGeom prst="rect">
            <a:avLst/>
          </a:prstGeom>
          <a:noFill/>
          <a:ln/>
        </p:spPr>
        <p:txBody>
          <a:bodyPr wrap="square" lIns="0" tIns="0" rIns="0" bIns="0" rtlCol="0" anchor="t"/>
          <a:lstStyle/>
          <a:p>
            <a:pPr indent="0" marL="0">
              <a:buNone/>
            </a:pPr>
            <a:r>
              <a:rPr lang="en-US" sz="1250" b="1" spc="150" kern="0" dirty="0">
                <a:solidFill>
                  <a:srgbClr val="B07A12"/>
                </a:solidFill>
                <a:latin typeface="Calibri" pitchFamily="34" charset="0"/>
                <a:ea typeface="Calibri" pitchFamily="34" charset="-122"/>
                <a:cs typeface="Calibri" pitchFamily="34" charset="-120"/>
              </a:rPr>
              <a:t>RIDGE • L2</a:t>
            </a:r>
            <a:endParaRPr lang="en-US" sz="1250" dirty="0"/>
          </a:p>
        </p:txBody>
      </p:sp>
      <p:sp>
        <p:nvSpPr>
          <p:cNvPr id="17" name="C15_m2_b"/>
          <p:cNvSpPr txBox="1"/>
          <p:nvPr/>
        </p:nvSpPr>
        <p:spPr>
          <a:xfrm>
            <a:off x="822960" y="4498848"/>
            <a:ext cx="2331720" cy="1591056"/>
          </a:xfrm>
          <a:prstGeom prst="rect">
            <a:avLst/>
          </a:prstGeom>
          <a:noFill/>
          <a:ln/>
        </p:spPr>
        <p:txBody>
          <a:bodyPr wrap="square" lIns="0" tIns="0" rIns="0" bIns="0" rtlCol="0" anchor="t"/>
          <a:lstStyle/>
          <a:p>
            <a:pPr indent="0" marL="0">
              <a:lnSpc>
                <a:spcPct val="105000"/>
              </a:lnSpc>
              <a:spcAft>
                <a:spcPts val="700"/>
              </a:spcAft>
              <a:buNone/>
            </a:pPr>
            <a:r>
              <a:rPr lang="en-US" sz="1650" dirty="0">
                <a:solidFill>
                  <a:srgbClr val="26221E"/>
                </a:solidFill>
                <a:latin typeface="Calibri" pitchFamily="34" charset="0"/>
                <a:ea typeface="Calibri" pitchFamily="34" charset="-122"/>
                <a:cs typeface="Calibri" pitchFamily="34" charset="-120"/>
              </a:rPr>
              <a:t>Minimizes MSE + α||w||²₂. Shrinks weights to handle correlated features.</a:t>
            </a:r>
            <a:endParaRPr lang="en-US" sz="1650" dirty="0"/>
          </a:p>
        </p:txBody>
      </p:sp>
      <p:sp>
        <p:nvSpPr>
          <p:cNvPr id="18" name="C15_m3"/>
          <p:cNvSpPr/>
          <p:nvPr/>
        </p:nvSpPr>
        <p:spPr>
          <a:xfrm>
            <a:off x="3474720" y="3931920"/>
            <a:ext cx="2788920" cy="2267712"/>
          </a:xfrm>
          <a:prstGeom prst="roundRect">
            <a:avLst>
              <a:gd name="adj" fmla="val 2823"/>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19" name="C15_m3_a"/>
          <p:cNvSpPr/>
          <p:nvPr/>
        </p:nvSpPr>
        <p:spPr>
          <a:xfrm>
            <a:off x="3474720" y="4078224"/>
            <a:ext cx="64008" cy="1975104"/>
          </a:xfrm>
          <a:prstGeom prst="rect">
            <a:avLst/>
          </a:prstGeom>
          <a:solidFill>
            <a:srgbClr val="7A4A66"/>
          </a:solidFill>
          <a:ln w="12700">
            <a:solidFill>
              <a:srgbClr val="7A4A66"/>
            </a:solidFill>
            <a:prstDash val="solid"/>
          </a:ln>
        </p:spPr>
      </p:sp>
      <p:sp>
        <p:nvSpPr>
          <p:cNvPr id="20" name="C15_m3_h"/>
          <p:cNvSpPr txBox="1"/>
          <p:nvPr/>
        </p:nvSpPr>
        <p:spPr>
          <a:xfrm>
            <a:off x="3749040" y="4114800"/>
            <a:ext cx="2331720" cy="292608"/>
          </a:xfrm>
          <a:prstGeom prst="rect">
            <a:avLst/>
          </a:prstGeom>
          <a:noFill/>
          <a:ln/>
        </p:spPr>
        <p:txBody>
          <a:bodyPr wrap="square" lIns="0" tIns="0" rIns="0" bIns="0" rtlCol="0" anchor="t"/>
          <a:lstStyle/>
          <a:p>
            <a:pPr indent="0" marL="0">
              <a:buNone/>
            </a:pPr>
            <a:r>
              <a:rPr lang="en-US" sz="1250" b="1" spc="150" kern="0" dirty="0">
                <a:solidFill>
                  <a:srgbClr val="7A4A66"/>
                </a:solidFill>
                <a:latin typeface="Calibri" pitchFamily="34" charset="0"/>
                <a:ea typeface="Calibri" pitchFamily="34" charset="-122"/>
                <a:cs typeface="Calibri" pitchFamily="34" charset="-120"/>
              </a:rPr>
              <a:t>LASSO • L1</a:t>
            </a:r>
            <a:endParaRPr lang="en-US" sz="1250" dirty="0"/>
          </a:p>
        </p:txBody>
      </p:sp>
      <p:sp>
        <p:nvSpPr>
          <p:cNvPr id="21" name="C15_m3_b"/>
          <p:cNvSpPr txBox="1"/>
          <p:nvPr/>
        </p:nvSpPr>
        <p:spPr>
          <a:xfrm>
            <a:off x="3749040" y="4498848"/>
            <a:ext cx="2331720" cy="1591056"/>
          </a:xfrm>
          <a:prstGeom prst="rect">
            <a:avLst/>
          </a:prstGeom>
          <a:noFill/>
          <a:ln/>
        </p:spPr>
        <p:txBody>
          <a:bodyPr wrap="square" lIns="0" tIns="0" rIns="0" bIns="0" rtlCol="0" anchor="t"/>
          <a:lstStyle/>
          <a:p>
            <a:pPr indent="0" marL="0">
              <a:lnSpc>
                <a:spcPct val="105000"/>
              </a:lnSpc>
              <a:spcAft>
                <a:spcPts val="700"/>
              </a:spcAft>
              <a:buNone/>
            </a:pPr>
            <a:r>
              <a:rPr lang="en-US" sz="1650" dirty="0">
                <a:solidFill>
                  <a:srgbClr val="26221E"/>
                </a:solidFill>
                <a:latin typeface="Calibri" pitchFamily="34" charset="0"/>
                <a:ea typeface="Calibri" pitchFamily="34" charset="-122"/>
                <a:cs typeface="Calibri" pitchFamily="34" charset="-120"/>
              </a:rPr>
              <a:t>Minimizes MSE + α||w||₁. Forces weak/redundant weights exactly to zero.</a:t>
            </a:r>
            <a:endParaRPr lang="en-US" sz="1650" dirty="0"/>
          </a:p>
        </p:txBody>
      </p:sp>
      <p:sp>
        <p:nvSpPr>
          <p:cNvPr id="22" name="IMG16"/>
          <p:cNvSpPr/>
          <p:nvPr/>
        </p:nvSpPr>
        <p:spPr>
          <a:xfrm>
            <a:off x="6446520" y="1554480"/>
            <a:ext cx="5193792" cy="1920240"/>
          </a:xfrm>
          <a:prstGeom prst="roundRect">
            <a:avLst>
              <a:gd name="adj" fmla="val 3333"/>
            </a:avLst>
          </a:prstGeom>
          <a:solidFill>
            <a:srgbClr val="FFFFFF"/>
          </a:solidFill>
          <a:ln w="9525">
            <a:solidFill>
              <a:srgbClr val="DED4C2"/>
            </a:solidFill>
            <a:prstDash val="solid"/>
          </a:ln>
          <a:effectLst>
            <a:outerShdw sx="100000" sy="100000" kx="0" ky="0" algn="bl" rotWithShape="0" blurRad="88900" dist="25400" dir="5400000">
              <a:srgbClr val="6B5A3C">
                <a:alpha val="14000"/>
              </a:srgbClr>
            </a:outerShdw>
          </a:effectLst>
        </p:spPr>
      </p:sp>
      <p:pic>
        <p:nvPicPr>
          <p:cNvPr id="23" name="IMG16_i" descr="Five contiguous time blocks used for cross-validation">    </p:cNvPr>
          <p:cNvPicPr>
            <a:picLocks noChangeAspect="1"/>
          </p:cNvPicPr>
          <p:nvPr/>
        </p:nvPicPr>
        <p:blipFill>
          <a:blip r:embed="rId1"/>
          <a:stretch>
            <a:fillRect/>
          </a:stretch>
        </p:blipFill>
        <p:spPr>
          <a:xfrm>
            <a:off x="6853669" y="1682496"/>
            <a:ext cx="4379495" cy="1664208"/>
          </a:xfrm>
          <a:prstGeom prst="rect">
            <a:avLst/>
          </a:prstGeom>
        </p:spPr>
      </p:pic>
      <p:sp>
        <p:nvSpPr>
          <p:cNvPr id="24" name="C15_cv"/>
          <p:cNvSpPr/>
          <p:nvPr/>
        </p:nvSpPr>
        <p:spPr>
          <a:xfrm>
            <a:off x="6446520" y="3611880"/>
            <a:ext cx="5193792" cy="2606040"/>
          </a:xfrm>
          <a:prstGeom prst="roundRect">
            <a:avLst>
              <a:gd name="adj" fmla="val 2456"/>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25" name="C15_cv_a"/>
          <p:cNvSpPr/>
          <p:nvPr/>
        </p:nvSpPr>
        <p:spPr>
          <a:xfrm>
            <a:off x="6446520" y="3758184"/>
            <a:ext cx="64008" cy="2313432"/>
          </a:xfrm>
          <a:prstGeom prst="rect">
            <a:avLst/>
          </a:prstGeom>
          <a:solidFill>
            <a:srgbClr val="B8512F"/>
          </a:solidFill>
          <a:ln w="12700">
            <a:solidFill>
              <a:srgbClr val="B8512F"/>
            </a:solidFill>
            <a:prstDash val="solid"/>
          </a:ln>
        </p:spPr>
      </p:sp>
      <p:sp>
        <p:nvSpPr>
          <p:cNvPr id="26" name="C15_cv_h"/>
          <p:cNvSpPr txBox="1"/>
          <p:nvPr/>
        </p:nvSpPr>
        <p:spPr>
          <a:xfrm>
            <a:off x="6720840" y="3794760"/>
            <a:ext cx="4736592" cy="292608"/>
          </a:xfrm>
          <a:prstGeom prst="rect">
            <a:avLst/>
          </a:prstGeom>
          <a:noFill/>
          <a:ln/>
        </p:spPr>
        <p:txBody>
          <a:bodyPr wrap="square" lIns="0" tIns="0" rIns="0" bIns="0" rtlCol="0" anchor="t"/>
          <a:lstStyle/>
          <a:p>
            <a:pPr indent="0" marL="0">
              <a:buNone/>
            </a:pPr>
            <a:r>
              <a:rPr lang="en-US" sz="1250" b="1" spc="150" kern="0" dirty="0">
                <a:solidFill>
                  <a:srgbClr val="B8512F"/>
                </a:solidFill>
                <a:latin typeface="Calibri" pitchFamily="34" charset="0"/>
                <a:ea typeface="Calibri" pitchFamily="34" charset="-122"/>
                <a:cs typeface="Calibri" pitchFamily="34" charset="-120"/>
              </a:rPr>
              <a:t>5-BLOCK TIME CV &amp; MEDIAN RULE</a:t>
            </a:r>
            <a:endParaRPr lang="en-US" sz="1250" dirty="0"/>
          </a:p>
        </p:txBody>
      </p:sp>
      <p:sp>
        <p:nvSpPr>
          <p:cNvPr id="27" name="C15_cv_b"/>
          <p:cNvSpPr txBox="1"/>
          <p:nvPr/>
        </p:nvSpPr>
        <p:spPr>
          <a:xfrm>
            <a:off x="6720840" y="4114800"/>
            <a:ext cx="4736592" cy="1993392"/>
          </a:xfrm>
          <a:prstGeom prst="rect">
            <a:avLst/>
          </a:prstGeom>
          <a:noFill/>
          <a:ln/>
        </p:spPr>
        <p:txBody>
          <a:bodyPr wrap="square" lIns="0" tIns="0" rIns="0" bIns="0" rtlCol="0" anchor="t"/>
          <a:lstStyle/>
          <a:p>
            <a:pPr indent="0" marL="0">
              <a:lnSpc>
                <a:spcPct val="105000"/>
              </a:lnSpc>
              <a:spcAft>
                <a:spcPts val="400"/>
              </a:spcAft>
              <a:buNone/>
            </a:pPr>
            <a:r>
              <a:rPr lang="en-US" sz="1300" dirty="0">
                <a:solidFill>
                  <a:srgbClr val="26221E"/>
                </a:solidFill>
                <a:latin typeface="Calibri" pitchFamily="34" charset="0"/>
                <a:ea typeface="Calibri" pitchFamily="34" charset="-122"/>
                <a:cs typeface="Calibri" pitchFamily="34" charset="-120"/>
              </a:rPr>
              <a:t>Training flight is split into 5 contiguous time blocks; a 4.0 s buffer (16 windows) is purged on each side.</a:t>
            </a:r>
            <a:endParaRPr lang="en-US" sz="1300" dirty="0"/>
          </a:p>
          <a:p>
            <a:pPr indent="0" marL="0">
              <a:lnSpc>
                <a:spcPct val="105000"/>
              </a:lnSpc>
              <a:spcAft>
                <a:spcPts val="400"/>
              </a:spcAft>
              <a:buNone/>
            </a:pPr>
            <a:r>
              <a:rPr lang="en-US" sz="1300" dirty="0">
                <a:solidFill>
                  <a:srgbClr val="26221E"/>
                </a:solidFill>
                <a:latin typeface="Calibri" pitchFamily="34" charset="0"/>
                <a:ea typeface="Calibri" pitchFamily="34" charset="-122"/>
                <a:cs typeface="Calibri" pitchFamily="34" charset="-120"/>
              </a:rPr>
              <a:t>Mean CV failed: take-off Block 0 has 1.0 m drift and 3–5× higher variance, skewing mean error and forcing α to infinity (baseline collapse).</a:t>
            </a:r>
            <a:endParaRPr lang="en-US" sz="1300" dirty="0"/>
          </a:p>
          <a:p>
            <a:pPr indent="0" marL="0">
              <a:lnSpc>
                <a:spcPct val="105000"/>
              </a:lnSpc>
              <a:spcAft>
                <a:spcPts val="400"/>
              </a:spcAft>
              <a:buNone/>
            </a:pPr>
            <a:r>
              <a:rPr lang="en-US" sz="1300" dirty="0">
                <a:solidFill>
                  <a:srgbClr val="26221E"/>
                </a:solidFill>
                <a:latin typeface="Calibri" pitchFamily="34" charset="0"/>
                <a:ea typeface="Calibri" pitchFamily="34" charset="-122"/>
                <a:cs typeface="Calibri" pitchFamily="34" charset="-120"/>
              </a:rPr>
              <a:t>Fix: choose α using Median Block Error to insulate tuning from take-off distortion.</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900">
        <p14:pan dir="r"/>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0" fill="hold">
                            <p:stCondLst>
                              <p:cond delay="0"/>
                            </p:stCondLst>
                            <p:childTnLst>
                              <p:par>
                                <p:cTn id="6" presetID="10" presetClass="entr" presetSubtype="0" fill="hold" nodeType="withEffect">
                                  <p:stCondLst>
                                    <p:cond delay="8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10" presetID="10" presetClass="entr" presetSubtype="0" fill="hold" nodeType="withEffect">
                                  <p:stCondLst>
                                    <p:cond delay="12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anim calcmode="lin" valueType="num">
                                      <p:cBhvr additive="base">
                                        <p:cTn id="9" dur="450" fill="hold"/>
                                        <p:tgtEl>
                                          <p:spTgt spid="3"/>
                                        </p:tgtEl>
                                        <p:attrNameLst>
                                          <p:attrName>ppt_y</p:attrName>
                                        </p:attrNameLst>
                                      </p:cBhvr>
                                      <p:tavLst>
                                        <p:tav tm="0">
                                          <p:val>
                                            <p:strVal val="#ppt_y+0.05"/>
                                          </p:val>
                                        </p:tav>
                                        <p:tav tm="100000">
                                          <p:val>
                                            <p:strVal val="#ppt_y"/>
                                          </p:val>
                                        </p:tav>
                                      </p:tavLst>
                                    </p:anim>
                                  </p:childTnLst>
                                </p:cTn>
                              </p:par>
                              <p:par>
                                <p:cTn id="13" presetID="22" presetClass="entr" presetSubtype="8" fill="hold"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450"/>
                                        <p:tgtEl>
                                          <p:spTgt spid="5"/>
                                        </p:tgtEl>
                                      </p:cBhvr>
                                    </p:animEffect>
                                  </p:childTnLst>
                                </p:cTn>
                              </p:par>
                              <p:par>
                                <p:cTn id="17" presetID="10" presetClass="entr" presetSubtype="0" fill="hold" nodeType="withEffect">
                                  <p:stCondLst>
                                    <p:cond delay="3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anim calcmode="lin" valueType="num">
                                      <p:cBhvr additive="base">
                                        <p:cTn id="16" dur="450" fill="hold"/>
                                        <p:tgtEl>
                                          <p:spTgt spid="6"/>
                                        </p:tgtEl>
                                        <p:attrNameLst>
                                          <p:attrName>ppt_y</p:attrName>
                                        </p:attrNameLst>
                                      </p:cBhvr>
                                      <p:tavLst>
                                        <p:tav tm="0">
                                          <p:val>
                                            <p:strVal val="#ppt_y+0.05"/>
                                          </p:val>
                                        </p:tav>
                                        <p:tav tm="100000">
                                          <p:val>
                                            <p:strVal val="#ppt_y"/>
                                          </p:val>
                                        </p:tav>
                                      </p:tavLst>
                                    </p:anim>
                                  </p:childTnLst>
                                </p:cTn>
                              </p:par>
                              <p:par>
                                <p:cTn id="21" presetID="10" presetClass="entr" presetSubtype="0" fill="hold" nodeType="withEffect">
                                  <p:stCondLst>
                                    <p:cond delay="3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anim calcmode="lin" valueType="num">
                                      <p:cBhvr additive="base">
                                        <p:cTn id="20" dur="450" fill="hold"/>
                                        <p:tgtEl>
                                          <p:spTgt spid="7"/>
                                        </p:tgtEl>
                                        <p:attrNameLst>
                                          <p:attrName>ppt_y</p:attrName>
                                        </p:attrNameLst>
                                      </p:cBhvr>
                                      <p:tavLst>
                                        <p:tav tm="0">
                                          <p:val>
                                            <p:strVal val="#ppt_y+0.05"/>
                                          </p:val>
                                        </p:tav>
                                        <p:tav tm="100000">
                                          <p:val>
                                            <p:strVal val="#ppt_y"/>
                                          </p:val>
                                        </p:tav>
                                      </p:tavLst>
                                    </p:anim>
                                  </p:childTnLst>
                                </p:cTn>
                              </p:par>
                              <p:par>
                                <p:cTn id="25" presetID="10" presetClass="entr" presetSubtype="0" fill="hold" nodeType="withEffect">
                                  <p:stCondLst>
                                    <p:cond delay="30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50"/>
                                        <p:tgtEl>
                                          <p:spTgt spid="8"/>
                                        </p:tgtEl>
                                      </p:cBhvr>
                                    </p:animEffect>
                                    <p:anim calcmode="lin" valueType="num">
                                      <p:cBhvr additive="base">
                                        <p:cTn id="24" dur="450" fill="hold"/>
                                        <p:tgtEl>
                                          <p:spTgt spid="8"/>
                                        </p:tgtEl>
                                        <p:attrNameLst>
                                          <p:attrName>ppt_y</p:attrName>
                                        </p:attrNameLst>
                                      </p:cBhvr>
                                      <p:tavLst>
                                        <p:tav tm="0">
                                          <p:val>
                                            <p:strVal val="#ppt_y+0.05"/>
                                          </p:val>
                                        </p:tav>
                                        <p:tav tm="100000">
                                          <p:val>
                                            <p:strVal val="#ppt_y"/>
                                          </p:val>
                                        </p:tav>
                                      </p:tavLst>
                                    </p:anim>
                                  </p:childTnLst>
                                </p:cTn>
                              </p:par>
                              <p:par>
                                <p:cTn id="29" presetID="10" presetClass="entr" presetSubtype="0" fill="hold" nodeType="withEffect">
                                  <p:stCondLst>
                                    <p:cond delay="3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anim calcmode="lin" valueType="num">
                                      <p:cBhvr additive="base">
                                        <p:cTn id="28" dur="450" fill="hold"/>
                                        <p:tgtEl>
                                          <p:spTgt spid="9"/>
                                        </p:tgtEl>
                                        <p:attrNameLst>
                                          <p:attrName>ppt_y</p:attrName>
                                        </p:attrNameLst>
                                      </p:cBhvr>
                                      <p:tavLst>
                                        <p:tav tm="0">
                                          <p:val>
                                            <p:strVal val="#ppt_y+0.05"/>
                                          </p:val>
                                        </p:tav>
                                        <p:tav tm="100000">
                                          <p:val>
                                            <p:strVal val="#ppt_y"/>
                                          </p:val>
                                        </p:tav>
                                      </p:tavLst>
                                    </p:anim>
                                  </p:childTnLst>
                                </p:cTn>
                              </p:par>
                              <p:par>
                                <p:cTn id="33" presetID="10" presetClass="entr" presetSubtype="0" fill="hold" nodeType="withEffect">
                                  <p:stCondLst>
                                    <p:cond delay="43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anim calcmode="lin" valueType="num">
                                      <p:cBhvr additive="base">
                                        <p:cTn id="32" dur="450" fill="hold"/>
                                        <p:tgtEl>
                                          <p:spTgt spid="10"/>
                                        </p:tgtEl>
                                        <p:attrNameLst>
                                          <p:attrName>ppt_y</p:attrName>
                                        </p:attrNameLst>
                                      </p:cBhvr>
                                      <p:tavLst>
                                        <p:tav tm="0">
                                          <p:val>
                                            <p:strVal val="#ppt_y+0.05"/>
                                          </p:val>
                                        </p:tav>
                                        <p:tav tm="100000">
                                          <p:val>
                                            <p:strVal val="#ppt_y"/>
                                          </p:val>
                                        </p:tav>
                                      </p:tavLst>
                                    </p:anim>
                                  </p:childTnLst>
                                </p:cTn>
                              </p:par>
                              <p:par>
                                <p:cTn id="37" presetID="10" presetClass="entr" presetSubtype="0" fill="hold" nodeType="withEffect">
                                  <p:stCondLst>
                                    <p:cond delay="43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450"/>
                                        <p:tgtEl>
                                          <p:spTgt spid="11"/>
                                        </p:tgtEl>
                                      </p:cBhvr>
                                    </p:animEffect>
                                    <p:anim calcmode="lin" valueType="num">
                                      <p:cBhvr additive="base">
                                        <p:cTn id="36" dur="450" fill="hold"/>
                                        <p:tgtEl>
                                          <p:spTgt spid="11"/>
                                        </p:tgtEl>
                                        <p:attrNameLst>
                                          <p:attrName>ppt_y</p:attrName>
                                        </p:attrNameLst>
                                      </p:cBhvr>
                                      <p:tavLst>
                                        <p:tav tm="0">
                                          <p:val>
                                            <p:strVal val="#ppt_y+0.05"/>
                                          </p:val>
                                        </p:tav>
                                        <p:tav tm="100000">
                                          <p:val>
                                            <p:strVal val="#ppt_y"/>
                                          </p:val>
                                        </p:tav>
                                      </p:tavLst>
                                    </p:anim>
                                  </p:childTnLst>
                                </p:cTn>
                              </p:par>
                              <p:par>
                                <p:cTn id="41" presetID="10" presetClass="entr" presetSubtype="0" fill="hold" nodeType="withEffect">
                                  <p:stCondLst>
                                    <p:cond delay="43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450"/>
                                        <p:tgtEl>
                                          <p:spTgt spid="12"/>
                                        </p:tgtEl>
                                      </p:cBhvr>
                                    </p:animEffect>
                                    <p:anim calcmode="lin" valueType="num">
                                      <p:cBhvr additive="base">
                                        <p:cTn id="40" dur="450" fill="hold"/>
                                        <p:tgtEl>
                                          <p:spTgt spid="12"/>
                                        </p:tgtEl>
                                        <p:attrNameLst>
                                          <p:attrName>ppt_y</p:attrName>
                                        </p:attrNameLst>
                                      </p:cBhvr>
                                      <p:tavLst>
                                        <p:tav tm="0">
                                          <p:val>
                                            <p:strVal val="#ppt_y+0.05"/>
                                          </p:val>
                                        </p:tav>
                                        <p:tav tm="100000">
                                          <p:val>
                                            <p:strVal val="#ppt_y"/>
                                          </p:val>
                                        </p:tav>
                                      </p:tavLst>
                                    </p:anim>
                                  </p:childTnLst>
                                </p:cTn>
                              </p:par>
                              <p:par>
                                <p:cTn id="45" presetID="10" presetClass="entr" presetSubtype="0" fill="hold" nodeType="withEffect">
                                  <p:stCondLst>
                                    <p:cond delay="43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450"/>
                                        <p:tgtEl>
                                          <p:spTgt spid="13"/>
                                        </p:tgtEl>
                                      </p:cBhvr>
                                    </p:animEffect>
                                    <p:anim calcmode="lin" valueType="num">
                                      <p:cBhvr additive="base">
                                        <p:cTn id="44" dur="450" fill="hold"/>
                                        <p:tgtEl>
                                          <p:spTgt spid="13"/>
                                        </p:tgtEl>
                                        <p:attrNameLst>
                                          <p:attrName>ppt_y</p:attrName>
                                        </p:attrNameLst>
                                      </p:cBhvr>
                                      <p:tavLst>
                                        <p:tav tm="0">
                                          <p:val>
                                            <p:strVal val="#ppt_y+0.05"/>
                                          </p:val>
                                        </p:tav>
                                        <p:tav tm="100000">
                                          <p:val>
                                            <p:strVal val="#ppt_y"/>
                                          </p:val>
                                        </p:tav>
                                      </p:tavLst>
                                    </p:anim>
                                  </p:childTnLst>
                                </p:cTn>
                              </p:par>
                              <p:par>
                                <p:cTn id="49" presetID="10" presetClass="entr" presetSubtype="0" fill="hold" nodeType="withEffect">
                                  <p:stCondLst>
                                    <p:cond delay="56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450"/>
                                        <p:tgtEl>
                                          <p:spTgt spid="14"/>
                                        </p:tgtEl>
                                      </p:cBhvr>
                                    </p:animEffect>
                                    <p:anim calcmode="lin" valueType="num">
                                      <p:cBhvr additive="base">
                                        <p:cTn id="48" dur="450" fill="hold"/>
                                        <p:tgtEl>
                                          <p:spTgt spid="14"/>
                                        </p:tgtEl>
                                        <p:attrNameLst>
                                          <p:attrName>ppt_y</p:attrName>
                                        </p:attrNameLst>
                                      </p:cBhvr>
                                      <p:tavLst>
                                        <p:tav tm="0">
                                          <p:val>
                                            <p:strVal val="#ppt_y+0.05"/>
                                          </p:val>
                                        </p:tav>
                                        <p:tav tm="100000">
                                          <p:val>
                                            <p:strVal val="#ppt_y"/>
                                          </p:val>
                                        </p:tav>
                                      </p:tavLst>
                                    </p:anim>
                                  </p:childTnLst>
                                </p:cTn>
                              </p:par>
                              <p:par>
                                <p:cTn id="53" presetID="10" presetClass="entr" presetSubtype="0" fill="hold" nodeType="withEffect">
                                  <p:stCondLst>
                                    <p:cond delay="56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450"/>
                                        <p:tgtEl>
                                          <p:spTgt spid="15"/>
                                        </p:tgtEl>
                                      </p:cBhvr>
                                    </p:animEffect>
                                    <p:anim calcmode="lin" valueType="num">
                                      <p:cBhvr additive="base">
                                        <p:cTn id="52" dur="450" fill="hold"/>
                                        <p:tgtEl>
                                          <p:spTgt spid="15"/>
                                        </p:tgtEl>
                                        <p:attrNameLst>
                                          <p:attrName>ppt_y</p:attrName>
                                        </p:attrNameLst>
                                      </p:cBhvr>
                                      <p:tavLst>
                                        <p:tav tm="0">
                                          <p:val>
                                            <p:strVal val="#ppt_y+0.05"/>
                                          </p:val>
                                        </p:tav>
                                        <p:tav tm="100000">
                                          <p:val>
                                            <p:strVal val="#ppt_y"/>
                                          </p:val>
                                        </p:tav>
                                      </p:tavLst>
                                    </p:anim>
                                  </p:childTnLst>
                                </p:cTn>
                              </p:par>
                              <p:par>
                                <p:cTn id="57" presetID="10" presetClass="entr" presetSubtype="0" fill="hold" nodeType="withEffect">
                                  <p:stCondLst>
                                    <p:cond delay="56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450"/>
                                        <p:tgtEl>
                                          <p:spTgt spid="16"/>
                                        </p:tgtEl>
                                      </p:cBhvr>
                                    </p:animEffect>
                                    <p:anim calcmode="lin" valueType="num">
                                      <p:cBhvr additive="base">
                                        <p:cTn id="56" dur="450" fill="hold"/>
                                        <p:tgtEl>
                                          <p:spTgt spid="16"/>
                                        </p:tgtEl>
                                        <p:attrNameLst>
                                          <p:attrName>ppt_y</p:attrName>
                                        </p:attrNameLst>
                                      </p:cBhvr>
                                      <p:tavLst>
                                        <p:tav tm="0">
                                          <p:val>
                                            <p:strVal val="#ppt_y+0.05"/>
                                          </p:val>
                                        </p:tav>
                                        <p:tav tm="100000">
                                          <p:val>
                                            <p:strVal val="#ppt_y"/>
                                          </p:val>
                                        </p:tav>
                                      </p:tavLst>
                                    </p:anim>
                                  </p:childTnLst>
                                </p:cTn>
                              </p:par>
                              <p:par>
                                <p:cTn id="61" presetID="10" presetClass="entr" presetSubtype="0" fill="hold" nodeType="withEffect">
                                  <p:stCondLst>
                                    <p:cond delay="56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450"/>
                                        <p:tgtEl>
                                          <p:spTgt spid="17"/>
                                        </p:tgtEl>
                                      </p:cBhvr>
                                    </p:animEffect>
                                    <p:anim calcmode="lin" valueType="num">
                                      <p:cBhvr additive="base">
                                        <p:cTn id="60" dur="450" fill="hold"/>
                                        <p:tgtEl>
                                          <p:spTgt spid="17"/>
                                        </p:tgtEl>
                                        <p:attrNameLst>
                                          <p:attrName>ppt_y</p:attrName>
                                        </p:attrNameLst>
                                      </p:cBhvr>
                                      <p:tavLst>
                                        <p:tav tm="0">
                                          <p:val>
                                            <p:strVal val="#ppt_y+0.05"/>
                                          </p:val>
                                        </p:tav>
                                        <p:tav tm="100000">
                                          <p:val>
                                            <p:strVal val="#ppt_y"/>
                                          </p:val>
                                        </p:tav>
                                      </p:tavLst>
                                    </p:anim>
                                  </p:childTnLst>
                                </p:cTn>
                              </p:par>
                              <p:par>
                                <p:cTn id="65" presetID="10" presetClass="entr" presetSubtype="0" fill="hold" nodeType="withEffect">
                                  <p:stCondLst>
                                    <p:cond delay="69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450"/>
                                        <p:tgtEl>
                                          <p:spTgt spid="18"/>
                                        </p:tgtEl>
                                      </p:cBhvr>
                                    </p:animEffect>
                                    <p:anim calcmode="lin" valueType="num">
                                      <p:cBhvr additive="base">
                                        <p:cTn id="64" dur="450" fill="hold"/>
                                        <p:tgtEl>
                                          <p:spTgt spid="18"/>
                                        </p:tgtEl>
                                        <p:attrNameLst>
                                          <p:attrName>ppt_y</p:attrName>
                                        </p:attrNameLst>
                                      </p:cBhvr>
                                      <p:tavLst>
                                        <p:tav tm="0">
                                          <p:val>
                                            <p:strVal val="#ppt_y+0.05"/>
                                          </p:val>
                                        </p:tav>
                                        <p:tav tm="100000">
                                          <p:val>
                                            <p:strVal val="#ppt_y"/>
                                          </p:val>
                                        </p:tav>
                                      </p:tavLst>
                                    </p:anim>
                                  </p:childTnLst>
                                </p:cTn>
                              </p:par>
                              <p:par>
                                <p:cTn id="69" presetID="10" presetClass="entr" presetSubtype="0" fill="hold" nodeType="withEffect">
                                  <p:stCondLst>
                                    <p:cond delay="69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450"/>
                                        <p:tgtEl>
                                          <p:spTgt spid="19"/>
                                        </p:tgtEl>
                                      </p:cBhvr>
                                    </p:animEffect>
                                    <p:anim calcmode="lin" valueType="num">
                                      <p:cBhvr additive="base">
                                        <p:cTn id="68" dur="450" fill="hold"/>
                                        <p:tgtEl>
                                          <p:spTgt spid="19"/>
                                        </p:tgtEl>
                                        <p:attrNameLst>
                                          <p:attrName>ppt_y</p:attrName>
                                        </p:attrNameLst>
                                      </p:cBhvr>
                                      <p:tavLst>
                                        <p:tav tm="0">
                                          <p:val>
                                            <p:strVal val="#ppt_y+0.05"/>
                                          </p:val>
                                        </p:tav>
                                        <p:tav tm="100000">
                                          <p:val>
                                            <p:strVal val="#ppt_y"/>
                                          </p:val>
                                        </p:tav>
                                      </p:tavLst>
                                    </p:anim>
                                  </p:childTnLst>
                                </p:cTn>
                              </p:par>
                              <p:par>
                                <p:cTn id="73" presetID="10" presetClass="entr" presetSubtype="0" fill="hold" nodeType="withEffect">
                                  <p:stCondLst>
                                    <p:cond delay="69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450"/>
                                        <p:tgtEl>
                                          <p:spTgt spid="20"/>
                                        </p:tgtEl>
                                      </p:cBhvr>
                                    </p:animEffect>
                                    <p:anim calcmode="lin" valueType="num">
                                      <p:cBhvr additive="base">
                                        <p:cTn id="72" dur="450" fill="hold"/>
                                        <p:tgtEl>
                                          <p:spTgt spid="20"/>
                                        </p:tgtEl>
                                        <p:attrNameLst>
                                          <p:attrName>ppt_y</p:attrName>
                                        </p:attrNameLst>
                                      </p:cBhvr>
                                      <p:tavLst>
                                        <p:tav tm="0">
                                          <p:val>
                                            <p:strVal val="#ppt_y+0.05"/>
                                          </p:val>
                                        </p:tav>
                                        <p:tav tm="100000">
                                          <p:val>
                                            <p:strVal val="#ppt_y"/>
                                          </p:val>
                                        </p:tav>
                                      </p:tavLst>
                                    </p:anim>
                                  </p:childTnLst>
                                </p:cTn>
                              </p:par>
                              <p:par>
                                <p:cTn id="77" presetID="10" presetClass="entr" presetSubtype="0" fill="hold" nodeType="withEffect">
                                  <p:stCondLst>
                                    <p:cond delay="690"/>
                                  </p:stCondLst>
                                  <p:childTnLst>
                                    <p:set>
                                      <p:cBhvr>
                                        <p:cTn id="74" dur="1" fill="hold">
                                          <p:stCondLst>
                                            <p:cond delay="0"/>
                                          </p:stCondLst>
                                        </p:cTn>
                                        <p:tgtEl>
                                          <p:spTgt spid="21"/>
                                        </p:tgtEl>
                                        <p:attrNameLst>
                                          <p:attrName>style.visibility</p:attrName>
                                        </p:attrNameLst>
                                      </p:cBhvr>
                                      <p:to>
                                        <p:strVal val="visible"/>
                                      </p:to>
                                    </p:set>
                                    <p:animEffect transition="in" filter="fade">
                                      <p:cBhvr>
                                        <p:cTn id="75" dur="450"/>
                                        <p:tgtEl>
                                          <p:spTgt spid="21"/>
                                        </p:tgtEl>
                                      </p:cBhvr>
                                    </p:animEffect>
                                    <p:anim calcmode="lin" valueType="num">
                                      <p:cBhvr additive="base">
                                        <p:cTn id="76" dur="450" fill="hold"/>
                                        <p:tgtEl>
                                          <p:spTgt spid="21"/>
                                        </p:tgtEl>
                                        <p:attrNameLst>
                                          <p:attrName>ppt_y</p:attrName>
                                        </p:attrNameLst>
                                      </p:cBhvr>
                                      <p:tavLst>
                                        <p:tav tm="0">
                                          <p:val>
                                            <p:strVal val="#ppt_y+0.05"/>
                                          </p:val>
                                        </p:tav>
                                        <p:tav tm="100000">
                                          <p:val>
                                            <p:strVal val="#ppt_y"/>
                                          </p:val>
                                        </p:tav>
                                      </p:tavLst>
                                    </p:anim>
                                  </p:childTnLst>
                                </p:cTn>
                              </p:par>
                              <p:par>
                                <p:cTn id="80" presetID="10" presetClass="entr" presetSubtype="0" fill="hold" nodeType="withEffect">
                                  <p:stCondLst>
                                    <p:cond delay="700"/>
                                  </p:stCondLst>
                                  <p:childTnLst>
                                    <p:set>
                                      <p:cBhvr>
                                        <p:cTn id="78" dur="1" fill="hold">
                                          <p:stCondLst>
                                            <p:cond delay="0"/>
                                          </p:stCondLst>
                                        </p:cTn>
                                        <p:tgtEl>
                                          <p:spTgt spid="22"/>
                                        </p:tgtEl>
                                        <p:attrNameLst>
                                          <p:attrName>style.visibility</p:attrName>
                                        </p:attrNameLst>
                                      </p:cBhvr>
                                      <p:to>
                                        <p:strVal val="visible"/>
                                      </p:to>
                                    </p:set>
                                    <p:animEffect transition="in" filter="fade">
                                      <p:cBhvr>
                                        <p:cTn id="79" dur="450"/>
                                        <p:tgtEl>
                                          <p:spTgt spid="22"/>
                                        </p:tgtEl>
                                      </p:cBhvr>
                                    </p:animEffect>
                                  </p:childTnLst>
                                </p:cTn>
                              </p:par>
                              <p:par>
                                <p:cTn id="83" presetID="10" presetClass="entr" presetSubtype="0" fill="hold" nodeType="withEffect">
                                  <p:stCondLst>
                                    <p:cond delay="70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450"/>
                                        <p:tgtEl>
                                          <p:spTgt spid="23"/>
                                        </p:tgtEl>
                                      </p:cBhvr>
                                    </p:animEffect>
                                  </p:childTnLst>
                                </p:cTn>
                              </p:par>
                              <p:par>
                                <p:cTn id="87" presetID="10" presetClass="entr" presetSubtype="0" fill="hold" nodeType="withEffect">
                                  <p:stCondLst>
                                    <p:cond delay="900"/>
                                  </p:stCondLst>
                                  <p:childTnLst>
                                    <p:set>
                                      <p:cBhvr>
                                        <p:cTn id="84" dur="1" fill="hold">
                                          <p:stCondLst>
                                            <p:cond delay="0"/>
                                          </p:stCondLst>
                                        </p:cTn>
                                        <p:tgtEl>
                                          <p:spTgt spid="24"/>
                                        </p:tgtEl>
                                        <p:attrNameLst>
                                          <p:attrName>style.visibility</p:attrName>
                                        </p:attrNameLst>
                                      </p:cBhvr>
                                      <p:to>
                                        <p:strVal val="visible"/>
                                      </p:to>
                                    </p:set>
                                    <p:animEffect transition="in" filter="fade">
                                      <p:cBhvr>
                                        <p:cTn id="85" dur="450"/>
                                        <p:tgtEl>
                                          <p:spTgt spid="24"/>
                                        </p:tgtEl>
                                      </p:cBhvr>
                                    </p:animEffect>
                                    <p:anim calcmode="lin" valueType="num">
                                      <p:cBhvr additive="base">
                                        <p:cTn id="86" dur="450" fill="hold"/>
                                        <p:tgtEl>
                                          <p:spTgt spid="24"/>
                                        </p:tgtEl>
                                        <p:attrNameLst>
                                          <p:attrName>ppt_y</p:attrName>
                                        </p:attrNameLst>
                                      </p:cBhvr>
                                      <p:tavLst>
                                        <p:tav tm="0">
                                          <p:val>
                                            <p:strVal val="#ppt_y+0.05"/>
                                          </p:val>
                                        </p:tav>
                                        <p:tav tm="100000">
                                          <p:val>
                                            <p:strVal val="#ppt_y"/>
                                          </p:val>
                                        </p:tav>
                                      </p:tavLst>
                                    </p:anim>
                                  </p:childTnLst>
                                </p:cTn>
                              </p:par>
                              <p:par>
                                <p:cTn id="91" presetID="10" presetClass="entr" presetSubtype="0" fill="hold" nodeType="withEffect">
                                  <p:stCondLst>
                                    <p:cond delay="900"/>
                                  </p:stCondLst>
                                  <p:childTnLst>
                                    <p:set>
                                      <p:cBhvr>
                                        <p:cTn id="88" dur="1" fill="hold">
                                          <p:stCondLst>
                                            <p:cond delay="0"/>
                                          </p:stCondLst>
                                        </p:cTn>
                                        <p:tgtEl>
                                          <p:spTgt spid="25"/>
                                        </p:tgtEl>
                                        <p:attrNameLst>
                                          <p:attrName>style.visibility</p:attrName>
                                        </p:attrNameLst>
                                      </p:cBhvr>
                                      <p:to>
                                        <p:strVal val="visible"/>
                                      </p:to>
                                    </p:set>
                                    <p:animEffect transition="in" filter="fade">
                                      <p:cBhvr>
                                        <p:cTn id="89" dur="450"/>
                                        <p:tgtEl>
                                          <p:spTgt spid="25"/>
                                        </p:tgtEl>
                                      </p:cBhvr>
                                    </p:animEffect>
                                    <p:anim calcmode="lin" valueType="num">
                                      <p:cBhvr additive="base">
                                        <p:cTn id="90" dur="450" fill="hold"/>
                                        <p:tgtEl>
                                          <p:spTgt spid="25"/>
                                        </p:tgtEl>
                                        <p:attrNameLst>
                                          <p:attrName>ppt_y</p:attrName>
                                        </p:attrNameLst>
                                      </p:cBhvr>
                                      <p:tavLst>
                                        <p:tav tm="0">
                                          <p:val>
                                            <p:strVal val="#ppt_y+0.05"/>
                                          </p:val>
                                        </p:tav>
                                        <p:tav tm="100000">
                                          <p:val>
                                            <p:strVal val="#ppt_y"/>
                                          </p:val>
                                        </p:tav>
                                      </p:tavLst>
                                    </p:anim>
                                  </p:childTnLst>
                                </p:cTn>
                              </p:par>
                              <p:par>
                                <p:cTn id="95" presetID="10" presetClass="entr" presetSubtype="0" fill="hold" nodeType="withEffect">
                                  <p:stCondLst>
                                    <p:cond delay="900"/>
                                  </p:stCondLst>
                                  <p:childTnLst>
                                    <p:set>
                                      <p:cBhvr>
                                        <p:cTn id="92" dur="1" fill="hold">
                                          <p:stCondLst>
                                            <p:cond delay="0"/>
                                          </p:stCondLst>
                                        </p:cTn>
                                        <p:tgtEl>
                                          <p:spTgt spid="26"/>
                                        </p:tgtEl>
                                        <p:attrNameLst>
                                          <p:attrName>style.visibility</p:attrName>
                                        </p:attrNameLst>
                                      </p:cBhvr>
                                      <p:to>
                                        <p:strVal val="visible"/>
                                      </p:to>
                                    </p:set>
                                    <p:animEffect transition="in" filter="fade">
                                      <p:cBhvr>
                                        <p:cTn id="93" dur="450"/>
                                        <p:tgtEl>
                                          <p:spTgt spid="26"/>
                                        </p:tgtEl>
                                      </p:cBhvr>
                                    </p:animEffect>
                                    <p:anim calcmode="lin" valueType="num">
                                      <p:cBhvr additive="base">
                                        <p:cTn id="94" dur="450" fill="hold"/>
                                        <p:tgtEl>
                                          <p:spTgt spid="26"/>
                                        </p:tgtEl>
                                        <p:attrNameLst>
                                          <p:attrName>ppt_y</p:attrName>
                                        </p:attrNameLst>
                                      </p:cBhvr>
                                      <p:tavLst>
                                        <p:tav tm="0">
                                          <p:val>
                                            <p:strVal val="#ppt_y+0.05"/>
                                          </p:val>
                                        </p:tav>
                                        <p:tav tm="100000">
                                          <p:val>
                                            <p:strVal val="#ppt_y"/>
                                          </p:val>
                                        </p:tav>
                                      </p:tavLst>
                                    </p:anim>
                                  </p:childTnLst>
                                </p:cTn>
                              </p:par>
                              <p:par>
                                <p:cTn id="99" presetID="10" presetClass="entr" presetSubtype="0" fill="hold" nodeType="withEffect">
                                  <p:stCondLst>
                                    <p:cond delay="900"/>
                                  </p:stCondLst>
                                  <p:childTnLst>
                                    <p:set>
                                      <p:cBhvr>
                                        <p:cTn id="96" dur="1" fill="hold">
                                          <p:stCondLst>
                                            <p:cond delay="0"/>
                                          </p:stCondLst>
                                        </p:cTn>
                                        <p:tgtEl>
                                          <p:spTgt spid="27"/>
                                        </p:tgtEl>
                                        <p:attrNameLst>
                                          <p:attrName>style.visibility</p:attrName>
                                        </p:attrNameLst>
                                      </p:cBhvr>
                                      <p:to>
                                        <p:strVal val="visible"/>
                                      </p:to>
                                    </p:set>
                                    <p:animEffect transition="in" filter="fade">
                                      <p:cBhvr>
                                        <p:cTn id="97" dur="450"/>
                                        <p:tgtEl>
                                          <p:spTgt spid="27"/>
                                        </p:tgtEl>
                                      </p:cBhvr>
                                    </p:animEffect>
                                    <p:anim calcmode="lin" valueType="num">
                                      <p:cBhvr additive="base">
                                        <p:cTn id="98" dur="450" fill="hold"/>
                                        <p:tgtEl>
                                          <p:spTgt spid="27"/>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16"/>
          <p:cNvSpPr txBox="1"/>
          <p:nvPr/>
        </p:nvSpPr>
        <p:spPr>
          <a:xfrm>
            <a:off x="548640" y="310896"/>
            <a:ext cx="9144000" cy="256032"/>
          </a:xfrm>
          <a:prstGeom prst="rect">
            <a:avLst/>
          </a:prstGeom>
          <a:noFill/>
          <a:ln/>
        </p:spPr>
        <p:txBody>
          <a:bodyPr wrap="square" lIns="0" tIns="0" rIns="0" bIns="0" rtlCol="0" anchor="t"/>
          <a:lstStyle/>
          <a:p>
            <a:pPr indent="0" marL="0">
              <a:buNone/>
            </a:pPr>
            <a:r>
              <a:rPr lang="en-US" sz="1150" b="1" spc="250" kern="0" dirty="0">
                <a:solidFill>
                  <a:srgbClr val="B8512F"/>
                </a:solidFill>
                <a:latin typeface="Calibri" pitchFamily="34" charset="0"/>
                <a:ea typeface="Calibri" pitchFamily="34" charset="-122"/>
                <a:cs typeface="Calibri" pitchFamily="34" charset="-120"/>
              </a:rPr>
              <a:t>SECTION 05 • HELD-OUT EXPERIMENTAL RESULTS</a:t>
            </a:r>
            <a:endParaRPr lang="en-US" sz="1150" dirty="0"/>
          </a:p>
        </p:txBody>
      </p:sp>
      <p:sp>
        <p:nvSpPr>
          <p:cNvPr id="3" name="TTL16"/>
          <p:cNvSpPr txBox="1"/>
          <p:nvPr/>
        </p:nvSpPr>
        <p:spPr>
          <a:xfrm>
            <a:off x="548640" y="603504"/>
            <a:ext cx="11091672" cy="658368"/>
          </a:xfrm>
          <a:prstGeom prst="rect">
            <a:avLst/>
          </a:prstGeom>
          <a:noFill/>
          <a:ln/>
        </p:spPr>
        <p:txBody>
          <a:bodyPr wrap="square" lIns="0" tIns="0" rIns="0" bIns="0" rtlCol="0" anchor="ctr"/>
          <a:lstStyle/>
          <a:p>
            <a:pPr indent="0" marL="0">
              <a:buNone/>
            </a:pPr>
            <a:r>
              <a:rPr lang="en-US" sz="2700" b="1" dirty="0">
                <a:solidFill>
                  <a:srgbClr val="26221E"/>
                </a:solidFill>
                <a:latin typeface="Cambria" pitchFamily="34" charset="0"/>
                <a:ea typeface="Cambria" pitchFamily="34" charset="-122"/>
                <a:cs typeface="Cambria" pitchFamily="34" charset="-120"/>
              </a:rPr>
              <a:t>Held-Out Flight Evaluation: Lasso Outperforms</a:t>
            </a:r>
            <a:endParaRPr lang="en-US" sz="2700" dirty="0"/>
          </a:p>
        </p:txBody>
      </p:sp>
      <p:sp>
        <p:nvSpPr>
          <p:cNvPr id="4" name="PG16"/>
          <p:cNvSpPr txBox="1"/>
          <p:nvPr/>
        </p:nvSpPr>
        <p:spPr>
          <a:xfrm>
            <a:off x="10881360" y="6473952"/>
            <a:ext cx="758952" cy="228600"/>
          </a:xfrm>
          <a:prstGeom prst="rect">
            <a:avLst/>
          </a:prstGeom>
          <a:noFill/>
          <a:ln/>
        </p:spPr>
        <p:txBody>
          <a:bodyPr wrap="square" lIns="0" tIns="0" rIns="0" bIns="0" rtlCol="0" anchor="t"/>
          <a:lstStyle/>
          <a:p>
            <a:pPr algn="r" indent="0" marL="0">
              <a:buNone/>
            </a:pPr>
            <a:r>
              <a:rPr lang="en-US" sz="1100" b="1" dirty="0">
                <a:solidFill>
                  <a:srgbClr val="6F675C"/>
                </a:solidFill>
                <a:latin typeface="Calibri" pitchFamily="34" charset="0"/>
                <a:ea typeface="Calibri" pitchFamily="34" charset="-122"/>
                <a:cs typeface="Calibri" pitchFamily="34" charset="-120"/>
              </a:rPr>
              <a:t>17</a:t>
            </a:r>
            <a:endParaRPr lang="en-US" sz="1100" dirty="0"/>
          </a:p>
        </p:txBody>
      </p:sp>
      <p:sp>
        <p:nvSpPr>
          <p:cNvPr id="5" name="RULE16"/>
          <p:cNvSpPr/>
          <p:nvPr/>
        </p:nvSpPr>
        <p:spPr>
          <a:xfrm>
            <a:off x="548640" y="1280160"/>
            <a:ext cx="822960" cy="41148"/>
          </a:xfrm>
          <a:prstGeom prst="rect">
            <a:avLst/>
          </a:prstGeom>
          <a:solidFill>
            <a:srgbClr val="B8512F"/>
          </a:solidFill>
          <a:ln w="12700">
            <a:solidFill>
              <a:srgbClr val="B8512F"/>
            </a:solidFill>
            <a:prstDash val="solid"/>
          </a:ln>
        </p:spPr>
      </p:sp>
      <p:graphicFrame>
        <p:nvGraphicFramePr>
          <p:cNvPr id="18" name="T17"/>
          <p:cNvGraphicFramePr>
            <a:graphicFrameLocks noGrp="1"/>
          </p:cNvGraphicFramePr>
          <p:nvPr>
            <p:extLst>
              <p:ext uri="{D42A27DB-BD31-4B8C-83A1-F6EECF244321}">
                <p14:modId xmlns:p14="http://schemas.microsoft.com/office/powerpoint/2010/main" val="1579011935"/>
              </p:ext>
            </p:extLst>
          </p:nvPr>
        </p:nvGraphicFramePr>
        <p:xfrm>
          <a:off x="548640" y="1554480"/>
          <a:ext cx="7680960" cy="914400"/>
        </p:xfrm>
        <a:graphic>
          <a:graphicData uri="http://schemas.openxmlformats.org/drawingml/2006/table">
            <a:tbl>
              <a:tblPr/>
              <a:tblGrid>
                <a:gridCol w="1828800"/>
                <a:gridCol w="1051560"/>
                <a:gridCol w="1051560"/>
                <a:gridCol w="1051560"/>
                <a:gridCol w="1051560"/>
                <a:gridCol w="1645920"/>
              </a:tblGrid>
              <a:tr h="457200">
                <a:tc>
                  <a:txBody>
                    <a:bodyPr/>
                    <a:lstStyle/>
                    <a:p>
                      <a:pPr algn="l" indent="0" marL="0">
                        <a:buNone/>
                      </a:pPr>
                      <a:r>
                        <a:rPr lang="en-US" sz="1250" b="1" dirty="0">
                          <a:solidFill>
                            <a:srgbClr val="F4EEE3"/>
                          </a:solidFill>
                          <a:latin typeface="Calibri" pitchFamily="34" charset="0"/>
                          <a:ea typeface="Calibri" pitchFamily="34" charset="-122"/>
                          <a:cs typeface="Calibri" pitchFamily="34" charset="-120"/>
                        </a:rPr>
                        <a:t>Model Pipeline</a:t>
                      </a:r>
                      <a:endParaRPr lang="en-US" sz="125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26221E"/>
                    </a:solidFill>
                  </a:tcPr>
                </a:tc>
                <a:tc>
                  <a:txBody>
                    <a:bodyPr/>
                    <a:lstStyle/>
                    <a:p>
                      <a:pPr algn="ctr" indent="0" marL="0">
                        <a:buNone/>
                      </a:pPr>
                      <a:r>
                        <a:rPr lang="en-US" sz="1250" b="1" dirty="0">
                          <a:solidFill>
                            <a:srgbClr val="F4EEE3"/>
                          </a:solidFill>
                          <a:latin typeface="Calibri" pitchFamily="34" charset="0"/>
                          <a:ea typeface="Calibri" pitchFamily="34" charset="-122"/>
                          <a:cs typeface="Calibri" pitchFamily="34" charset="-120"/>
                        </a:rPr>
                        <a:t>MAE MH_01</a:t>
                      </a:r>
                      <a:endParaRPr lang="en-US" sz="125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26221E"/>
                    </a:solidFill>
                  </a:tcPr>
                </a:tc>
                <a:tc>
                  <a:txBody>
                    <a:bodyPr/>
                    <a:lstStyle/>
                    <a:p>
                      <a:pPr algn="ctr" indent="0" marL="0">
                        <a:buNone/>
                      </a:pPr>
                      <a:r>
                        <a:rPr lang="en-US" sz="1250" b="1" dirty="0">
                          <a:solidFill>
                            <a:srgbClr val="F4EEE3"/>
                          </a:solidFill>
                          <a:latin typeface="Calibri" pitchFamily="34" charset="0"/>
                          <a:ea typeface="Calibri" pitchFamily="34" charset="-122"/>
                          <a:cs typeface="Calibri" pitchFamily="34" charset="-120"/>
                        </a:rPr>
                        <a:t>MAE MH_02</a:t>
                      </a:r>
                      <a:endParaRPr lang="en-US" sz="125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26221E"/>
                    </a:solidFill>
                  </a:tcPr>
                </a:tc>
                <a:tc>
                  <a:txBody>
                    <a:bodyPr/>
                    <a:lstStyle/>
                    <a:p>
                      <a:pPr algn="ctr" indent="0" marL="0">
                        <a:buNone/>
                      </a:pPr>
                      <a:r>
                        <a:rPr lang="en-US" sz="1250" b="1" dirty="0">
                          <a:solidFill>
                            <a:srgbClr val="F4EEE3"/>
                          </a:solidFill>
                          <a:latin typeface="Calibri" pitchFamily="34" charset="0"/>
                          <a:ea typeface="Calibri" pitchFamily="34" charset="-122"/>
                          <a:cs typeface="Calibri" pitchFamily="34" charset="-120"/>
                        </a:rPr>
                        <a:t>Mean MAE</a:t>
                      </a:r>
                      <a:endParaRPr lang="en-US" sz="125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26221E"/>
                    </a:solidFill>
                  </a:tcPr>
                </a:tc>
                <a:tc>
                  <a:txBody>
                    <a:bodyPr/>
                    <a:lstStyle/>
                    <a:p>
                      <a:pPr algn="ctr" indent="0" marL="0">
                        <a:buNone/>
                      </a:pPr>
                      <a:r>
                        <a:rPr lang="en-US" sz="1250" b="1" dirty="0">
                          <a:solidFill>
                            <a:srgbClr val="F4EEE3"/>
                          </a:solidFill>
                          <a:latin typeface="Calibri" pitchFamily="34" charset="0"/>
                          <a:ea typeface="Calibri" pitchFamily="34" charset="-122"/>
                          <a:cs typeface="Calibri" pitchFamily="34" charset="-120"/>
                        </a:rPr>
                        <a:t>Mean R²</a:t>
                      </a:r>
                      <a:endParaRPr lang="en-US" sz="125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26221E"/>
                    </a:solidFill>
                  </a:tcPr>
                </a:tc>
                <a:tc>
                  <a:txBody>
                    <a:bodyPr/>
                    <a:lstStyle/>
                    <a:p>
                      <a:pPr algn="ctr" indent="0" marL="0">
                        <a:buNone/>
                      </a:pPr>
                      <a:r>
                        <a:rPr lang="en-US" sz="1250" b="1" dirty="0">
                          <a:solidFill>
                            <a:srgbClr val="F4EEE3"/>
                          </a:solidFill>
                          <a:latin typeface="Calibri" pitchFamily="34" charset="0"/>
                          <a:ea typeface="Calibri" pitchFamily="34" charset="-122"/>
                          <a:cs typeface="Calibri" pitchFamily="34" charset="-120"/>
                        </a:rPr>
                        <a:t>Test/Train</a:t>
                      </a:r>
                      <a:endParaRPr lang="en-US" sz="125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26221E"/>
                    </a:solidFill>
                  </a:tcPr>
                </a:tc>
              </a:tr>
              <a:tr h="548640">
                <a:tc>
                  <a:txBody>
                    <a:bodyPr/>
                    <a:lstStyle/>
                    <a:p>
                      <a:pPr algn="l" indent="0" marL="0">
                        <a:buNone/>
                      </a:pPr>
                      <a:r>
                        <a:rPr lang="en-US" sz="1300" b="1" dirty="0">
                          <a:solidFill>
                            <a:srgbClr val="26221E"/>
                          </a:solidFill>
                          <a:latin typeface="Calibri" pitchFamily="34" charset="0"/>
                          <a:ea typeface="Calibri" pitchFamily="34" charset="-122"/>
                          <a:cs typeface="Calibri" pitchFamily="34" charset="-120"/>
                        </a:rPr>
                        <a:t>Mean Baseline</a:t>
                      </a:r>
                      <a:endParaRPr lang="en-US" sz="130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FFCF6"/>
                    </a:solidFill>
                  </a:tcPr>
                </a:tc>
                <a:tc>
                  <a:txBody>
                    <a:bodyPr/>
                    <a:lstStyle/>
                    <a:p>
                      <a:pPr algn="ctr" indent="0" marL="0">
                        <a:buNone/>
                      </a:pPr>
                      <a:r>
                        <a:rPr lang="en-US" sz="1300" dirty="0">
                          <a:solidFill>
                            <a:srgbClr val="26221E"/>
                          </a:solidFill>
                          <a:latin typeface="Calibri" pitchFamily="34" charset="0"/>
                          <a:ea typeface="Calibri" pitchFamily="34" charset="-122"/>
                          <a:cs typeface="Calibri" pitchFamily="34" charset="-120"/>
                        </a:rPr>
                        <a:t>4.40 cm</a:t>
                      </a:r>
                      <a:endParaRPr lang="en-US" sz="130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FFCF6"/>
                    </a:solidFill>
                  </a:tcPr>
                </a:tc>
                <a:tc>
                  <a:txBody>
                    <a:bodyPr/>
                    <a:lstStyle/>
                    <a:p>
                      <a:pPr algn="ctr" indent="0" marL="0">
                        <a:buNone/>
                      </a:pPr>
                      <a:r>
                        <a:rPr lang="en-US" sz="1300" dirty="0">
                          <a:solidFill>
                            <a:srgbClr val="26221E"/>
                          </a:solidFill>
                          <a:latin typeface="Calibri" pitchFamily="34" charset="0"/>
                          <a:ea typeface="Calibri" pitchFamily="34" charset="-122"/>
                          <a:cs typeface="Calibri" pitchFamily="34" charset="-120"/>
                        </a:rPr>
                        <a:t>4.65 cm</a:t>
                      </a:r>
                      <a:endParaRPr lang="en-US" sz="130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FFCF6"/>
                    </a:solidFill>
                  </a:tcPr>
                </a:tc>
                <a:tc>
                  <a:txBody>
                    <a:bodyPr/>
                    <a:lstStyle/>
                    <a:p>
                      <a:pPr algn="ctr" indent="0" marL="0">
                        <a:buNone/>
                      </a:pPr>
                      <a:r>
                        <a:rPr lang="en-US" sz="1300" b="1" dirty="0">
                          <a:solidFill>
                            <a:srgbClr val="26221E"/>
                          </a:solidFill>
                          <a:latin typeface="Calibri" pitchFamily="34" charset="0"/>
                          <a:ea typeface="Calibri" pitchFamily="34" charset="-122"/>
                          <a:cs typeface="Calibri" pitchFamily="34" charset="-120"/>
                        </a:rPr>
                        <a:t>4.53 cm</a:t>
                      </a:r>
                      <a:endParaRPr lang="en-US" sz="130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FFCF6"/>
                    </a:solidFill>
                  </a:tcPr>
                </a:tc>
                <a:tc>
                  <a:txBody>
                    <a:bodyPr/>
                    <a:lstStyle/>
                    <a:p>
                      <a:pPr algn="ctr" indent="0" marL="0">
                        <a:buNone/>
                      </a:pPr>
                      <a:r>
                        <a:rPr lang="en-US" sz="1300" dirty="0">
                          <a:solidFill>
                            <a:srgbClr val="26221E"/>
                          </a:solidFill>
                          <a:latin typeface="Calibri" pitchFamily="34" charset="0"/>
                          <a:ea typeface="Calibri" pitchFamily="34" charset="-122"/>
                          <a:cs typeface="Calibri" pitchFamily="34" charset="-120"/>
                        </a:rPr>
                        <a:t>−0.03</a:t>
                      </a:r>
                      <a:endParaRPr lang="en-US" sz="130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FFCF6"/>
                    </a:solidFill>
                  </a:tcPr>
                </a:tc>
                <a:tc>
                  <a:txBody>
                    <a:bodyPr/>
                    <a:lstStyle/>
                    <a:p>
                      <a:pPr algn="ctr" indent="0" marL="0">
                        <a:buNone/>
                      </a:pPr>
                      <a:r>
                        <a:rPr lang="en-US" sz="1300" dirty="0">
                          <a:solidFill>
                            <a:srgbClr val="26221E"/>
                          </a:solidFill>
                          <a:latin typeface="Calibri" pitchFamily="34" charset="0"/>
                          <a:ea typeface="Calibri" pitchFamily="34" charset="-122"/>
                          <a:cs typeface="Calibri" pitchFamily="34" charset="-120"/>
                        </a:rPr>
                        <a:t>1.01</a:t>
                      </a:r>
                      <a:endParaRPr lang="en-US" sz="130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FFCF6"/>
                    </a:solidFill>
                  </a:tcPr>
                </a:tc>
              </a:tr>
              <a:tr h="548640">
                <a:tc>
                  <a:txBody>
                    <a:bodyPr/>
                    <a:lstStyle/>
                    <a:p>
                      <a:pPr algn="l" indent="0" marL="0">
                        <a:buNone/>
                      </a:pPr>
                      <a:r>
                        <a:rPr lang="en-US" sz="1300" b="1" dirty="0">
                          <a:solidFill>
                            <a:srgbClr val="26221E"/>
                          </a:solidFill>
                          <a:latin typeface="Calibri" pitchFamily="34" charset="0"/>
                          <a:ea typeface="Calibri" pitchFamily="34" charset="-122"/>
                          <a:cs typeface="Calibri" pitchFamily="34" charset="-120"/>
                        </a:rPr>
                        <a:t>OLS (Linear)</a:t>
                      </a:r>
                      <a:endParaRPr lang="en-US" sz="130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8F2E6"/>
                    </a:solidFill>
                  </a:tcPr>
                </a:tc>
                <a:tc>
                  <a:txBody>
                    <a:bodyPr/>
                    <a:lstStyle/>
                    <a:p>
                      <a:pPr algn="ctr" indent="0" marL="0">
                        <a:buNone/>
                      </a:pPr>
                      <a:r>
                        <a:rPr lang="en-US" sz="1300" dirty="0">
                          <a:solidFill>
                            <a:srgbClr val="26221E"/>
                          </a:solidFill>
                          <a:latin typeface="Calibri" pitchFamily="34" charset="0"/>
                          <a:ea typeface="Calibri" pitchFamily="34" charset="-122"/>
                          <a:cs typeface="Calibri" pitchFamily="34" charset="-120"/>
                        </a:rPr>
                        <a:t>3.12 cm</a:t>
                      </a:r>
                      <a:endParaRPr lang="en-US" sz="130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8F2E6"/>
                    </a:solidFill>
                  </a:tcPr>
                </a:tc>
                <a:tc>
                  <a:txBody>
                    <a:bodyPr/>
                    <a:lstStyle/>
                    <a:p>
                      <a:pPr algn="ctr" indent="0" marL="0">
                        <a:buNone/>
                      </a:pPr>
                      <a:r>
                        <a:rPr lang="en-US" sz="1300" dirty="0">
                          <a:solidFill>
                            <a:srgbClr val="26221E"/>
                          </a:solidFill>
                          <a:latin typeface="Calibri" pitchFamily="34" charset="0"/>
                          <a:ea typeface="Calibri" pitchFamily="34" charset="-122"/>
                          <a:cs typeface="Calibri" pitchFamily="34" charset="-120"/>
                        </a:rPr>
                        <a:t>2.87 cm</a:t>
                      </a:r>
                      <a:endParaRPr lang="en-US" sz="130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8F2E6"/>
                    </a:solidFill>
                  </a:tcPr>
                </a:tc>
                <a:tc>
                  <a:txBody>
                    <a:bodyPr/>
                    <a:lstStyle/>
                    <a:p>
                      <a:pPr algn="ctr" indent="0" marL="0">
                        <a:buNone/>
                      </a:pPr>
                      <a:r>
                        <a:rPr lang="en-US" sz="1300" b="1" dirty="0">
                          <a:solidFill>
                            <a:srgbClr val="26221E"/>
                          </a:solidFill>
                          <a:latin typeface="Calibri" pitchFamily="34" charset="0"/>
                          <a:ea typeface="Calibri" pitchFamily="34" charset="-122"/>
                          <a:cs typeface="Calibri" pitchFamily="34" charset="-120"/>
                        </a:rPr>
                        <a:t>2.99 cm</a:t>
                      </a:r>
                      <a:endParaRPr lang="en-US" sz="130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8F2E6"/>
                    </a:solidFill>
                  </a:tcPr>
                </a:tc>
                <a:tc>
                  <a:txBody>
                    <a:bodyPr/>
                    <a:lstStyle/>
                    <a:p>
                      <a:pPr algn="ctr" indent="0" marL="0">
                        <a:buNone/>
                      </a:pPr>
                      <a:r>
                        <a:rPr lang="en-US" sz="1300" dirty="0">
                          <a:solidFill>
                            <a:srgbClr val="26221E"/>
                          </a:solidFill>
                          <a:latin typeface="Calibri" pitchFamily="34" charset="0"/>
                          <a:ea typeface="Calibri" pitchFamily="34" charset="-122"/>
                          <a:cs typeface="Calibri" pitchFamily="34" charset="-120"/>
                        </a:rPr>
                        <a:t>0.58</a:t>
                      </a:r>
                      <a:endParaRPr lang="en-US" sz="130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8F2E6"/>
                    </a:solidFill>
                  </a:tcPr>
                </a:tc>
                <a:tc>
                  <a:txBody>
                    <a:bodyPr/>
                    <a:lstStyle/>
                    <a:p>
                      <a:pPr algn="ctr" indent="0" marL="0">
                        <a:buNone/>
                      </a:pPr>
                      <a:r>
                        <a:rPr lang="en-US" sz="1300" dirty="0">
                          <a:solidFill>
                            <a:srgbClr val="26221E"/>
                          </a:solidFill>
                          <a:latin typeface="Calibri" pitchFamily="34" charset="0"/>
                          <a:ea typeface="Calibri" pitchFamily="34" charset="-122"/>
                          <a:cs typeface="Calibri" pitchFamily="34" charset="-120"/>
                        </a:rPr>
                        <a:t>1.81 (high)</a:t>
                      </a:r>
                      <a:endParaRPr lang="en-US" sz="130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8F2E6"/>
                    </a:solidFill>
                  </a:tcPr>
                </a:tc>
              </a:tr>
              <a:tr h="548640">
                <a:tc>
                  <a:txBody>
                    <a:bodyPr/>
                    <a:lstStyle/>
                    <a:p>
                      <a:pPr algn="l" indent="0" marL="0">
                        <a:buNone/>
                      </a:pPr>
                      <a:r>
                        <a:rPr lang="en-US" sz="1300" b="1" dirty="0">
                          <a:solidFill>
                            <a:srgbClr val="26221E"/>
                          </a:solidFill>
                          <a:latin typeface="Calibri" pitchFamily="34" charset="0"/>
                          <a:ea typeface="Calibri" pitchFamily="34" charset="-122"/>
                          <a:cs typeface="Calibri" pitchFamily="34" charset="-120"/>
                        </a:rPr>
                        <a:t>Ridge (L2)</a:t>
                      </a:r>
                      <a:endParaRPr lang="en-US" sz="130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FFCF6"/>
                    </a:solidFill>
                  </a:tcPr>
                </a:tc>
                <a:tc>
                  <a:txBody>
                    <a:bodyPr/>
                    <a:lstStyle/>
                    <a:p>
                      <a:pPr algn="ctr" indent="0" marL="0">
                        <a:buNone/>
                      </a:pPr>
                      <a:r>
                        <a:rPr lang="en-US" sz="1300" dirty="0">
                          <a:solidFill>
                            <a:srgbClr val="26221E"/>
                          </a:solidFill>
                          <a:latin typeface="Calibri" pitchFamily="34" charset="0"/>
                          <a:ea typeface="Calibri" pitchFamily="34" charset="-122"/>
                          <a:cs typeface="Calibri" pitchFamily="34" charset="-120"/>
                        </a:rPr>
                        <a:t>2.80 cm</a:t>
                      </a:r>
                      <a:endParaRPr lang="en-US" sz="130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FFCF6"/>
                    </a:solidFill>
                  </a:tcPr>
                </a:tc>
                <a:tc>
                  <a:txBody>
                    <a:bodyPr/>
                    <a:lstStyle/>
                    <a:p>
                      <a:pPr algn="ctr" indent="0" marL="0">
                        <a:buNone/>
                      </a:pPr>
                      <a:r>
                        <a:rPr lang="en-US" sz="1300" dirty="0">
                          <a:solidFill>
                            <a:srgbClr val="26221E"/>
                          </a:solidFill>
                          <a:latin typeface="Calibri" pitchFamily="34" charset="0"/>
                          <a:ea typeface="Calibri" pitchFamily="34" charset="-122"/>
                          <a:cs typeface="Calibri" pitchFamily="34" charset="-120"/>
                        </a:rPr>
                        <a:t>2.60 cm</a:t>
                      </a:r>
                      <a:endParaRPr lang="en-US" sz="130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FFCF6"/>
                    </a:solidFill>
                  </a:tcPr>
                </a:tc>
                <a:tc>
                  <a:txBody>
                    <a:bodyPr/>
                    <a:lstStyle/>
                    <a:p>
                      <a:pPr algn="ctr" indent="0" marL="0">
                        <a:buNone/>
                      </a:pPr>
                      <a:r>
                        <a:rPr lang="en-US" sz="1300" b="1" dirty="0">
                          <a:solidFill>
                            <a:srgbClr val="26221E"/>
                          </a:solidFill>
                          <a:latin typeface="Calibri" pitchFamily="34" charset="0"/>
                          <a:ea typeface="Calibri" pitchFamily="34" charset="-122"/>
                          <a:cs typeface="Calibri" pitchFamily="34" charset="-120"/>
                        </a:rPr>
                        <a:t>2.70 cm</a:t>
                      </a:r>
                      <a:endParaRPr lang="en-US" sz="130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FFCF6"/>
                    </a:solidFill>
                  </a:tcPr>
                </a:tc>
                <a:tc>
                  <a:txBody>
                    <a:bodyPr/>
                    <a:lstStyle/>
                    <a:p>
                      <a:pPr algn="ctr" indent="0" marL="0">
                        <a:buNone/>
                      </a:pPr>
                      <a:r>
                        <a:rPr lang="en-US" sz="1300" dirty="0">
                          <a:solidFill>
                            <a:srgbClr val="26221E"/>
                          </a:solidFill>
                          <a:latin typeface="Calibri" pitchFamily="34" charset="0"/>
                          <a:ea typeface="Calibri" pitchFamily="34" charset="-122"/>
                          <a:cs typeface="Calibri" pitchFamily="34" charset="-120"/>
                        </a:rPr>
                        <a:t>0.72</a:t>
                      </a:r>
                      <a:endParaRPr lang="en-US" sz="130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FFCF6"/>
                    </a:solidFill>
                  </a:tcPr>
                </a:tc>
                <a:tc>
                  <a:txBody>
                    <a:bodyPr/>
                    <a:lstStyle/>
                    <a:p>
                      <a:pPr algn="ctr" indent="0" marL="0">
                        <a:buNone/>
                      </a:pPr>
                      <a:r>
                        <a:rPr lang="en-US" sz="1300" dirty="0">
                          <a:solidFill>
                            <a:srgbClr val="26221E"/>
                          </a:solidFill>
                          <a:latin typeface="Calibri" pitchFamily="34" charset="0"/>
                          <a:ea typeface="Calibri" pitchFamily="34" charset="-122"/>
                          <a:cs typeface="Calibri" pitchFamily="34" charset="-120"/>
                        </a:rPr>
                        <a:t>1.38 (moderate)</a:t>
                      </a:r>
                      <a:endParaRPr lang="en-US" sz="130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FFCF6"/>
                    </a:solidFill>
                  </a:tcPr>
                </a:tc>
              </a:tr>
              <a:tr h="585216">
                <a:tc>
                  <a:txBody>
                    <a:bodyPr/>
                    <a:lstStyle/>
                    <a:p>
                      <a:pPr algn="l" indent="0" marL="0">
                        <a:buNone/>
                      </a:pPr>
                      <a:r>
                        <a:rPr lang="en-US" sz="1300" b="1" dirty="0">
                          <a:solidFill>
                            <a:srgbClr val="2E5A4C"/>
                          </a:solidFill>
                          <a:latin typeface="Calibri" pitchFamily="34" charset="0"/>
                          <a:ea typeface="Calibri" pitchFamily="34" charset="-122"/>
                          <a:cs typeface="Calibri" pitchFamily="34" charset="-120"/>
                        </a:rPr>
                        <a:t>Lasso (L1)</a:t>
                      </a:r>
                      <a:endParaRPr lang="en-US" sz="130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DDEBDD"/>
                    </a:solidFill>
                  </a:tcPr>
                </a:tc>
                <a:tc>
                  <a:txBody>
                    <a:bodyPr/>
                    <a:lstStyle/>
                    <a:p>
                      <a:pPr algn="ctr" indent="0" marL="0">
                        <a:buNone/>
                      </a:pPr>
                      <a:r>
                        <a:rPr lang="en-US" sz="1300" b="1" dirty="0">
                          <a:solidFill>
                            <a:srgbClr val="2E5A4C"/>
                          </a:solidFill>
                          <a:latin typeface="Calibri" pitchFamily="34" charset="0"/>
                          <a:ea typeface="Calibri" pitchFamily="34" charset="-122"/>
                          <a:cs typeface="Calibri" pitchFamily="34" charset="-120"/>
                        </a:rPr>
                        <a:t>2.59 cm</a:t>
                      </a:r>
                      <a:endParaRPr lang="en-US" sz="130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DDEBDD"/>
                    </a:solidFill>
                  </a:tcPr>
                </a:tc>
                <a:tc>
                  <a:txBody>
                    <a:bodyPr/>
                    <a:lstStyle/>
                    <a:p>
                      <a:pPr algn="ctr" indent="0" marL="0">
                        <a:buNone/>
                      </a:pPr>
                      <a:r>
                        <a:rPr lang="en-US" sz="1300" b="1" dirty="0">
                          <a:solidFill>
                            <a:srgbClr val="2E5A4C"/>
                          </a:solidFill>
                          <a:latin typeface="Calibri" pitchFamily="34" charset="0"/>
                          <a:ea typeface="Calibri" pitchFamily="34" charset="-122"/>
                          <a:cs typeface="Calibri" pitchFamily="34" charset="-120"/>
                        </a:rPr>
                        <a:t>2.42 cm</a:t>
                      </a:r>
                      <a:endParaRPr lang="en-US" sz="130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DDEBDD"/>
                    </a:solidFill>
                  </a:tcPr>
                </a:tc>
                <a:tc>
                  <a:txBody>
                    <a:bodyPr/>
                    <a:lstStyle/>
                    <a:p>
                      <a:pPr algn="ctr" indent="0" marL="0">
                        <a:buNone/>
                      </a:pPr>
                      <a:r>
                        <a:rPr lang="en-US" sz="1300" b="1" dirty="0">
                          <a:solidFill>
                            <a:srgbClr val="2E5A4C"/>
                          </a:solidFill>
                          <a:latin typeface="Calibri" pitchFamily="34" charset="0"/>
                          <a:ea typeface="Calibri" pitchFamily="34" charset="-122"/>
                          <a:cs typeface="Calibri" pitchFamily="34" charset="-120"/>
                        </a:rPr>
                        <a:t>★ 2.50 cm</a:t>
                      </a:r>
                      <a:endParaRPr lang="en-US" sz="130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DDEBDD"/>
                    </a:solidFill>
                  </a:tcPr>
                </a:tc>
                <a:tc>
                  <a:txBody>
                    <a:bodyPr/>
                    <a:lstStyle/>
                    <a:p>
                      <a:pPr algn="ctr" indent="0" marL="0">
                        <a:buNone/>
                      </a:pPr>
                      <a:r>
                        <a:rPr lang="en-US" sz="1300" b="1" dirty="0">
                          <a:solidFill>
                            <a:srgbClr val="2E5A4C"/>
                          </a:solidFill>
                          <a:latin typeface="Calibri" pitchFamily="34" charset="0"/>
                          <a:ea typeface="Calibri" pitchFamily="34" charset="-122"/>
                          <a:cs typeface="Calibri" pitchFamily="34" charset="-120"/>
                        </a:rPr>
                        <a:t>★ 0.76</a:t>
                      </a:r>
                      <a:endParaRPr lang="en-US" sz="130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DDEBDD"/>
                    </a:solidFill>
                  </a:tcPr>
                </a:tc>
                <a:tc>
                  <a:txBody>
                    <a:bodyPr/>
                    <a:lstStyle/>
                    <a:p>
                      <a:pPr algn="ctr" indent="0" marL="0">
                        <a:buNone/>
                      </a:pPr>
                      <a:r>
                        <a:rPr lang="en-US" sz="1300" b="1" dirty="0">
                          <a:solidFill>
                            <a:srgbClr val="2E5A4C"/>
                          </a:solidFill>
                          <a:latin typeface="Calibri" pitchFamily="34" charset="0"/>
                          <a:ea typeface="Calibri" pitchFamily="34" charset="-122"/>
                          <a:cs typeface="Calibri" pitchFamily="34" charset="-120"/>
                        </a:rPr>
                        <a:t>★ 1.24 (best)</a:t>
                      </a:r>
                      <a:endParaRPr lang="en-US" sz="1300" dirty="0">
                        <a:latin typeface="Calibri" charset="0"/>
                        <a:ea typeface="Calibri" charset="0"/>
                        <a:cs typeface="Calibri" charset="0"/>
                      </a:endParaRPr>
                    </a:p>
                  </a:txBody>
                  <a:tcPr marL="91440" marR="91440"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DDEBDD"/>
                    </a:solidFill>
                  </a:tcPr>
                </a:tc>
              </a:tr>
            </a:tbl>
          </a:graphicData>
        </a:graphic>
      </p:graphicFrame>
      <p:sp>
        <p:nvSpPr>
          <p:cNvPr id="7" name="IMG17"/>
          <p:cNvSpPr/>
          <p:nvPr/>
        </p:nvSpPr>
        <p:spPr>
          <a:xfrm>
            <a:off x="8412480" y="1554480"/>
            <a:ext cx="3227832" cy="3017520"/>
          </a:xfrm>
          <a:prstGeom prst="roundRect">
            <a:avLst>
              <a:gd name="adj" fmla="val 2121"/>
            </a:avLst>
          </a:prstGeom>
          <a:solidFill>
            <a:srgbClr val="FFFFFF"/>
          </a:solidFill>
          <a:ln w="9525">
            <a:solidFill>
              <a:srgbClr val="DED4C2"/>
            </a:solidFill>
            <a:prstDash val="solid"/>
          </a:ln>
          <a:effectLst>
            <a:outerShdw sx="100000" sy="100000" kx="0" ky="0" algn="bl" rotWithShape="0" blurRad="88900" dist="25400" dir="5400000">
              <a:srgbClr val="6B5A3C">
                <a:alpha val="14000"/>
              </a:srgbClr>
            </a:outerShdw>
          </a:effectLst>
        </p:spPr>
      </p:sp>
      <p:pic>
        <p:nvPicPr>
          <p:cNvPr id="8" name="IMG17_i" descr="Lasso predicted versus true drift on MH_02_easy">    </p:cNvPr>
          <p:cNvPicPr>
            <a:picLocks noChangeAspect="1"/>
          </p:cNvPicPr>
          <p:nvPr/>
        </p:nvPicPr>
        <p:blipFill>
          <a:blip r:embed="rId1"/>
          <a:stretch>
            <a:fillRect/>
          </a:stretch>
        </p:blipFill>
        <p:spPr>
          <a:xfrm>
            <a:off x="8645652" y="1682496"/>
            <a:ext cx="2761488" cy="2761488"/>
          </a:xfrm>
          <a:prstGeom prst="rect">
            <a:avLst/>
          </a:prstGeom>
        </p:spPr>
      </p:pic>
      <p:sp>
        <p:nvSpPr>
          <p:cNvPr id="9" name="C16_hl"/>
          <p:cNvSpPr/>
          <p:nvPr/>
        </p:nvSpPr>
        <p:spPr>
          <a:xfrm>
            <a:off x="548640" y="4709160"/>
            <a:ext cx="11091672" cy="1508760"/>
          </a:xfrm>
          <a:prstGeom prst="roundRect">
            <a:avLst>
              <a:gd name="adj" fmla="val 4242"/>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10" name="C16_hl_a"/>
          <p:cNvSpPr/>
          <p:nvPr/>
        </p:nvSpPr>
        <p:spPr>
          <a:xfrm>
            <a:off x="548640" y="4855464"/>
            <a:ext cx="64008" cy="1216152"/>
          </a:xfrm>
          <a:prstGeom prst="rect">
            <a:avLst/>
          </a:prstGeom>
          <a:solidFill>
            <a:srgbClr val="2E5A4C"/>
          </a:solidFill>
          <a:ln w="12700">
            <a:solidFill>
              <a:srgbClr val="2E5A4C"/>
            </a:solidFill>
            <a:prstDash val="solid"/>
          </a:ln>
        </p:spPr>
      </p:sp>
      <p:sp>
        <p:nvSpPr>
          <p:cNvPr id="11" name="C16_hl_h"/>
          <p:cNvSpPr txBox="1"/>
          <p:nvPr/>
        </p:nvSpPr>
        <p:spPr>
          <a:xfrm>
            <a:off x="822960" y="4892040"/>
            <a:ext cx="10634472" cy="292608"/>
          </a:xfrm>
          <a:prstGeom prst="rect">
            <a:avLst/>
          </a:prstGeom>
          <a:noFill/>
          <a:ln/>
        </p:spPr>
        <p:txBody>
          <a:bodyPr wrap="square" lIns="0" tIns="0" rIns="0" bIns="0" rtlCol="0" anchor="t"/>
          <a:lstStyle/>
          <a:p>
            <a:pPr indent="0" marL="0">
              <a:buNone/>
            </a:pPr>
            <a:r>
              <a:rPr lang="en-US" sz="1250" b="1" spc="150" kern="0" dirty="0">
                <a:solidFill>
                  <a:srgbClr val="2E5A4C"/>
                </a:solidFill>
                <a:latin typeface="Calibri" pitchFamily="34" charset="0"/>
                <a:ea typeface="Calibri" pitchFamily="34" charset="-122"/>
                <a:cs typeface="Calibri" pitchFamily="34" charset="-120"/>
              </a:rPr>
              <a:t>KEY PERFORMANCE HIGHLIGHTS</a:t>
            </a:r>
            <a:endParaRPr lang="en-US" sz="1250" dirty="0"/>
          </a:p>
        </p:txBody>
      </p:sp>
      <p:sp>
        <p:nvSpPr>
          <p:cNvPr id="12" name="C16_hl_b"/>
          <p:cNvSpPr txBox="1"/>
          <p:nvPr/>
        </p:nvSpPr>
        <p:spPr>
          <a:xfrm>
            <a:off x="822960" y="5184648"/>
            <a:ext cx="10634472" cy="923544"/>
          </a:xfrm>
          <a:prstGeom prst="rect">
            <a:avLst/>
          </a:prstGeom>
          <a:noFill/>
          <a:ln/>
        </p:spPr>
        <p:txBody>
          <a:bodyPr wrap="square" lIns="0" tIns="0" rIns="0" bIns="0" rtlCol="0" anchor="t"/>
          <a:lstStyle/>
          <a:p>
            <a:pPr indent="0" marL="0">
              <a:lnSpc>
                <a:spcPct val="105000"/>
              </a:lnSpc>
              <a:spcAft>
                <a:spcPts val="300"/>
              </a:spcAft>
              <a:buNone/>
            </a:pPr>
            <a:r>
              <a:rPr lang="en-US" sz="1450" dirty="0">
                <a:solidFill>
                  <a:srgbClr val="26221E"/>
                </a:solidFill>
                <a:latin typeface="Calibri" pitchFamily="34" charset="0"/>
                <a:ea typeface="Calibri" pitchFamily="34" charset="-122"/>
                <a:cs typeface="Calibri" pitchFamily="34" charset="-120"/>
              </a:rPr>
              <a:t>45% error reduction: baseline 4.53 cm → 2.50 cm.</a:t>
            </a:r>
            <a:endParaRPr lang="en-US" sz="1450" dirty="0"/>
          </a:p>
          <a:p>
            <a:pPr indent="0" marL="0">
              <a:lnSpc>
                <a:spcPct val="105000"/>
              </a:lnSpc>
              <a:spcAft>
                <a:spcPts val="300"/>
              </a:spcAft>
              <a:buNone/>
            </a:pPr>
            <a:r>
              <a:rPr lang="en-US" sz="1450" dirty="0">
                <a:solidFill>
                  <a:srgbClr val="26221E"/>
                </a:solidFill>
                <a:latin typeface="Calibri" pitchFamily="34" charset="0"/>
                <a:ea typeface="Calibri" pitchFamily="34" charset="-122"/>
                <a:cs typeface="Calibri" pitchFamily="34" charset="-120"/>
              </a:rPr>
              <a:t>Explains 76% of drift variation on unseen flights (R² = 0.76; peaks at 0.84 on MH_02).</a:t>
            </a:r>
            <a:endParaRPr lang="en-US" sz="1450" dirty="0"/>
          </a:p>
          <a:p>
            <a:pPr indent="0" marL="0">
              <a:lnSpc>
                <a:spcPct val="105000"/>
              </a:lnSpc>
              <a:spcAft>
                <a:spcPts val="300"/>
              </a:spcAft>
              <a:buNone/>
            </a:pPr>
            <a:r>
              <a:rPr lang="en-US" sz="1450" dirty="0">
                <a:solidFill>
                  <a:srgbClr val="26221E"/>
                </a:solidFill>
                <a:latin typeface="Calibri" pitchFamily="34" charset="0"/>
                <a:ea typeface="Calibri" pitchFamily="34" charset="-122"/>
                <a:cs typeface="Calibri" pitchFamily="34" charset="-120"/>
              </a:rPr>
              <a:t>Mean prediction bias: −0.12 cm.</a:t>
            </a:r>
            <a:endParaRPr lang="en-US" sz="1450" dirty="0"/>
          </a:p>
          <a:p>
            <a:pPr indent="0" marL="0">
              <a:lnSpc>
                <a:spcPct val="105000"/>
              </a:lnSpc>
              <a:spcAft>
                <a:spcPts val="300"/>
              </a:spcAft>
              <a:buNone/>
            </a:pPr>
            <a:r>
              <a:rPr lang="en-US" sz="1450" dirty="0">
                <a:solidFill>
                  <a:srgbClr val="26221E"/>
                </a:solidFill>
                <a:latin typeface="Calibri" pitchFamily="34" charset="0"/>
                <a:ea typeface="Calibri" pitchFamily="34" charset="-122"/>
                <a:cs typeface="Calibri" pitchFamily="34" charset="-120"/>
              </a:rPr>
              <a:t>Prunes 104 features to 7–18 core descriptors: az_mean, ax_rms, gx_max, gy_mean, gz_dom_freq, az_spec_entropy, corr_ax_az.</a:t>
            </a:r>
            <a:endParaRPr lang="en-US" sz="1450" dirty="0"/>
          </a:p>
        </p:txBody>
      </p:sp>
    </p:spTree>
  </p:cSld>
  <p:clrMapOvr>
    <a:masterClrMapping/>
  </p:clrMapOvr>
  <mc:AlternateContent xmlns:mc="http://schemas.openxmlformats.org/markup-compatibility/2006">
    <mc:Choice xmlns:p14="http://schemas.microsoft.com/office/powerpoint/2010/main" Requires="p14">
      <p:transition spd="slow" p14:dur="900">
        <p14:pan dir="r"/>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9" fill="hold">
                            <p:stCondLst>
                              <p:cond delay="0"/>
                            </p:stCondLst>
                            <p:childTnLst>
                              <p:par>
                                <p:cTn id="6" presetID="10" presetClass="entr" presetSubtype="0" fill="hold" nodeType="withEffect">
                                  <p:stCondLst>
                                    <p:cond delay="8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10" presetID="10" presetClass="entr" presetSubtype="0" fill="hold" nodeType="withEffect">
                                  <p:stCondLst>
                                    <p:cond delay="12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anim calcmode="lin" valueType="num">
                                      <p:cBhvr additive="base">
                                        <p:cTn id="9" dur="450" fill="hold"/>
                                        <p:tgtEl>
                                          <p:spTgt spid="3"/>
                                        </p:tgtEl>
                                        <p:attrNameLst>
                                          <p:attrName>ppt_y</p:attrName>
                                        </p:attrNameLst>
                                      </p:cBhvr>
                                      <p:tavLst>
                                        <p:tav tm="0">
                                          <p:val>
                                            <p:strVal val="#ppt_y+0.05"/>
                                          </p:val>
                                        </p:tav>
                                        <p:tav tm="100000">
                                          <p:val>
                                            <p:strVal val="#ppt_y"/>
                                          </p:val>
                                        </p:tav>
                                      </p:tavLst>
                                    </p:anim>
                                  </p:childTnLst>
                                </p:cTn>
                              </p:par>
                              <p:par>
                                <p:cTn id="13" presetID="22" presetClass="entr" presetSubtype="8" fill="hold"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450"/>
                                        <p:tgtEl>
                                          <p:spTgt spid="5"/>
                                        </p:tgtEl>
                                      </p:cBhvr>
                                    </p:animEffect>
                                  </p:childTnLst>
                                </p:cTn>
                              </p:par>
                              <p:par>
                                <p:cTn id="16" presetID="22" presetClass="entr" presetSubtype="8" fill="hold" nodeType="withEffect">
                                  <p:stCondLst>
                                    <p:cond delay="350"/>
                                  </p:stCondLst>
                                  <p:childTnLst>
                                    <p:set>
                                      <p:cBhvr>
                                        <p:cTn id="14" dur="1" fill="hold">
                                          <p:stCondLst>
                                            <p:cond delay="0"/>
                                          </p:stCondLst>
                                        </p:cTn>
                                        <p:tgtEl>
                                          <p:spTgt spid="18"/>
                                        </p:tgtEl>
                                        <p:attrNameLst>
                                          <p:attrName>style.visibility</p:attrName>
                                        </p:attrNameLst>
                                      </p:cBhvr>
                                      <p:to>
                                        <p:strVal val="visible"/>
                                      </p:to>
                                    </p:set>
                                    <p:animEffect transition="in" filter="wipe(left)">
                                      <p:cBhvr>
                                        <p:cTn id="15" dur="800"/>
                                        <p:tgtEl>
                                          <p:spTgt spid="18"/>
                                        </p:tgtEl>
                                      </p:cBhvr>
                                    </p:animEffect>
                                  </p:childTnLst>
                                </p:cTn>
                              </p:par>
                              <p:par>
                                <p:cTn id="19" presetID="10" presetClass="entr" presetSubtype="0" fill="hold" nodeType="withEffect">
                                  <p:stCondLst>
                                    <p:cond delay="70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22" presetID="10" presetClass="entr" presetSubtype="0" fill="hold" nodeType="withEffect">
                                  <p:stCondLst>
                                    <p:cond delay="70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childTnLst>
                                </p:cTn>
                              </p:par>
                              <p:par>
                                <p:cTn id="26" presetID="10" presetClass="entr" presetSubtype="0" fill="hold" nodeType="withEffect">
                                  <p:stCondLst>
                                    <p:cond delay="90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50"/>
                                        <p:tgtEl>
                                          <p:spTgt spid="9"/>
                                        </p:tgtEl>
                                      </p:cBhvr>
                                    </p:animEffect>
                                    <p:anim calcmode="lin" valueType="num">
                                      <p:cBhvr additive="base">
                                        <p:cTn id="25" dur="450" fill="hold"/>
                                        <p:tgtEl>
                                          <p:spTgt spid="9"/>
                                        </p:tgtEl>
                                        <p:attrNameLst>
                                          <p:attrName>ppt_y</p:attrName>
                                        </p:attrNameLst>
                                      </p:cBhvr>
                                      <p:tavLst>
                                        <p:tav tm="0">
                                          <p:val>
                                            <p:strVal val="#ppt_y+0.05"/>
                                          </p:val>
                                        </p:tav>
                                        <p:tav tm="100000">
                                          <p:val>
                                            <p:strVal val="#ppt_y"/>
                                          </p:val>
                                        </p:tav>
                                      </p:tavLst>
                                    </p:anim>
                                  </p:childTnLst>
                                </p:cTn>
                              </p:par>
                              <p:par>
                                <p:cTn id="30" presetID="10" presetClass="entr" presetSubtype="0" fill="hold" nodeType="withEffect">
                                  <p:stCondLst>
                                    <p:cond delay="90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50"/>
                                        <p:tgtEl>
                                          <p:spTgt spid="10"/>
                                        </p:tgtEl>
                                      </p:cBhvr>
                                    </p:animEffect>
                                    <p:anim calcmode="lin" valueType="num">
                                      <p:cBhvr additive="base">
                                        <p:cTn id="29" dur="450" fill="hold"/>
                                        <p:tgtEl>
                                          <p:spTgt spid="10"/>
                                        </p:tgtEl>
                                        <p:attrNameLst>
                                          <p:attrName>ppt_y</p:attrName>
                                        </p:attrNameLst>
                                      </p:cBhvr>
                                      <p:tavLst>
                                        <p:tav tm="0">
                                          <p:val>
                                            <p:strVal val="#ppt_y+0.05"/>
                                          </p:val>
                                        </p:tav>
                                        <p:tav tm="100000">
                                          <p:val>
                                            <p:strVal val="#ppt_y"/>
                                          </p:val>
                                        </p:tav>
                                      </p:tavLst>
                                    </p:anim>
                                  </p:childTnLst>
                                </p:cTn>
                              </p:par>
                              <p:par>
                                <p:cTn id="34" presetID="10" presetClass="entr" presetSubtype="0" fill="hold" nodeType="withEffect">
                                  <p:stCondLst>
                                    <p:cond delay="90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anim calcmode="lin" valueType="num">
                                      <p:cBhvr additive="base">
                                        <p:cTn id="33" dur="450" fill="hold"/>
                                        <p:tgtEl>
                                          <p:spTgt spid="11"/>
                                        </p:tgtEl>
                                        <p:attrNameLst>
                                          <p:attrName>ppt_y</p:attrName>
                                        </p:attrNameLst>
                                      </p:cBhvr>
                                      <p:tavLst>
                                        <p:tav tm="0">
                                          <p:val>
                                            <p:strVal val="#ppt_y+0.05"/>
                                          </p:val>
                                        </p:tav>
                                        <p:tav tm="100000">
                                          <p:val>
                                            <p:strVal val="#ppt_y"/>
                                          </p:val>
                                        </p:tav>
                                      </p:tavLst>
                                    </p:anim>
                                  </p:childTnLst>
                                </p:cTn>
                              </p:par>
                              <p:par>
                                <p:cTn id="38" presetID="10" presetClass="entr" presetSubtype="0" fill="hold" nodeType="withEffect">
                                  <p:stCondLst>
                                    <p:cond delay="90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50"/>
                                        <p:tgtEl>
                                          <p:spTgt spid="12"/>
                                        </p:tgtEl>
                                      </p:cBhvr>
                                    </p:animEffect>
                                    <p:anim calcmode="lin" valueType="num">
                                      <p:cBhvr additive="base">
                                        <p:cTn id="37" dur="450" fill="hold"/>
                                        <p:tgtEl>
                                          <p:spTgt spid="12"/>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17"/>
          <p:cNvSpPr txBox="1"/>
          <p:nvPr/>
        </p:nvSpPr>
        <p:spPr>
          <a:xfrm>
            <a:off x="548640" y="310896"/>
            <a:ext cx="9144000" cy="256032"/>
          </a:xfrm>
          <a:prstGeom prst="rect">
            <a:avLst/>
          </a:prstGeom>
          <a:noFill/>
          <a:ln/>
        </p:spPr>
        <p:txBody>
          <a:bodyPr wrap="square" lIns="0" tIns="0" rIns="0" bIns="0" rtlCol="0" anchor="t"/>
          <a:lstStyle/>
          <a:p>
            <a:pPr indent="0" marL="0">
              <a:buNone/>
            </a:pPr>
            <a:r>
              <a:rPr lang="en-US" sz="1150" b="1" spc="250" kern="0" dirty="0">
                <a:solidFill>
                  <a:srgbClr val="B8512F"/>
                </a:solidFill>
                <a:latin typeface="Calibri" pitchFamily="34" charset="0"/>
                <a:ea typeface="Calibri" pitchFamily="34" charset="-122"/>
                <a:cs typeface="Calibri" pitchFamily="34" charset="-120"/>
              </a:rPr>
              <a:t>SECTION 05 • SCIENTIFIC RIGOR &amp; ERROR DECOMPOSITION</a:t>
            </a:r>
            <a:endParaRPr lang="en-US" sz="1150" dirty="0"/>
          </a:p>
        </p:txBody>
      </p:sp>
      <p:sp>
        <p:nvSpPr>
          <p:cNvPr id="3" name="TTL17"/>
          <p:cNvSpPr txBox="1"/>
          <p:nvPr/>
        </p:nvSpPr>
        <p:spPr>
          <a:xfrm>
            <a:off x="548640" y="603504"/>
            <a:ext cx="11091672" cy="658368"/>
          </a:xfrm>
          <a:prstGeom prst="rect">
            <a:avLst/>
          </a:prstGeom>
          <a:noFill/>
          <a:ln/>
        </p:spPr>
        <p:txBody>
          <a:bodyPr wrap="square" lIns="0" tIns="0" rIns="0" bIns="0" rtlCol="0" anchor="ctr"/>
          <a:lstStyle/>
          <a:p>
            <a:pPr indent="0" marL="0">
              <a:buNone/>
            </a:pPr>
            <a:r>
              <a:rPr lang="en-US" sz="2700" b="1" dirty="0">
                <a:solidFill>
                  <a:srgbClr val="26221E"/>
                </a:solidFill>
                <a:latin typeface="Cambria" pitchFamily="34" charset="0"/>
                <a:ea typeface="Cambria" pitchFamily="34" charset="-122"/>
                <a:cs typeface="Cambria" pitchFamily="34" charset="-120"/>
              </a:rPr>
              <a:t>Honest Failure Analysis: Take-Off vs. Cruising Regimes</a:t>
            </a:r>
            <a:endParaRPr lang="en-US" sz="2700" dirty="0"/>
          </a:p>
        </p:txBody>
      </p:sp>
      <p:sp>
        <p:nvSpPr>
          <p:cNvPr id="4" name="PG17"/>
          <p:cNvSpPr txBox="1"/>
          <p:nvPr/>
        </p:nvSpPr>
        <p:spPr>
          <a:xfrm>
            <a:off x="10881360" y="6473952"/>
            <a:ext cx="758952" cy="228600"/>
          </a:xfrm>
          <a:prstGeom prst="rect">
            <a:avLst/>
          </a:prstGeom>
          <a:noFill/>
          <a:ln/>
        </p:spPr>
        <p:txBody>
          <a:bodyPr wrap="square" lIns="0" tIns="0" rIns="0" bIns="0" rtlCol="0" anchor="t"/>
          <a:lstStyle/>
          <a:p>
            <a:pPr algn="r" indent="0" marL="0">
              <a:buNone/>
            </a:pPr>
            <a:r>
              <a:rPr lang="en-US" sz="1100" b="1" dirty="0">
                <a:solidFill>
                  <a:srgbClr val="6F675C"/>
                </a:solidFill>
                <a:latin typeface="Calibri" pitchFamily="34" charset="0"/>
                <a:ea typeface="Calibri" pitchFamily="34" charset="-122"/>
                <a:cs typeface="Calibri" pitchFamily="34" charset="-120"/>
              </a:rPr>
              <a:t>18</a:t>
            </a:r>
            <a:endParaRPr lang="en-US" sz="1100" dirty="0"/>
          </a:p>
        </p:txBody>
      </p:sp>
      <p:sp>
        <p:nvSpPr>
          <p:cNvPr id="5" name="RULE17"/>
          <p:cNvSpPr/>
          <p:nvPr/>
        </p:nvSpPr>
        <p:spPr>
          <a:xfrm>
            <a:off x="548640" y="1280160"/>
            <a:ext cx="822960" cy="41148"/>
          </a:xfrm>
          <a:prstGeom prst="rect">
            <a:avLst/>
          </a:prstGeom>
          <a:solidFill>
            <a:srgbClr val="B8512F"/>
          </a:solidFill>
          <a:ln w="12700">
            <a:solidFill>
              <a:srgbClr val="B8512F"/>
            </a:solidFill>
            <a:prstDash val="solid"/>
          </a:ln>
        </p:spPr>
      </p:sp>
      <p:sp>
        <p:nvSpPr>
          <p:cNvPr id="6" name="IMG18"/>
          <p:cNvSpPr/>
          <p:nvPr/>
        </p:nvSpPr>
        <p:spPr>
          <a:xfrm>
            <a:off x="548640" y="1554480"/>
            <a:ext cx="5852160" cy="3108960"/>
          </a:xfrm>
          <a:prstGeom prst="roundRect">
            <a:avLst>
              <a:gd name="adj" fmla="val 2059"/>
            </a:avLst>
          </a:prstGeom>
          <a:solidFill>
            <a:srgbClr val="FFFFFF"/>
          </a:solidFill>
          <a:ln w="9525">
            <a:solidFill>
              <a:srgbClr val="DED4C2"/>
            </a:solidFill>
            <a:prstDash val="solid"/>
          </a:ln>
          <a:effectLst>
            <a:outerShdw sx="100000" sy="100000" kx="0" ky="0" algn="bl" rotWithShape="0" blurRad="88900" dist="25400" dir="5400000">
              <a:srgbClr val="6B5A3C">
                <a:alpha val="14000"/>
              </a:srgbClr>
            </a:outerShdw>
          </a:effectLst>
        </p:spPr>
      </p:sp>
      <p:pic>
        <p:nvPicPr>
          <p:cNvPr id="7" name="IMG18_i" descr="Drift label over the flight for both flights">    </p:cNvPr>
          <p:cNvPicPr>
            <a:picLocks noChangeAspect="1"/>
          </p:cNvPicPr>
          <p:nvPr/>
        </p:nvPicPr>
        <p:blipFill>
          <a:blip r:embed="rId1"/>
          <a:stretch>
            <a:fillRect/>
          </a:stretch>
        </p:blipFill>
        <p:spPr>
          <a:xfrm>
            <a:off x="927463" y="1682496"/>
            <a:ext cx="5094514" cy="2852928"/>
          </a:xfrm>
          <a:prstGeom prst="rect">
            <a:avLst/>
          </a:prstGeom>
        </p:spPr>
      </p:pic>
      <p:sp>
        <p:nvSpPr>
          <p:cNvPr id="8" name="C17_ph"/>
          <p:cNvSpPr/>
          <p:nvPr/>
        </p:nvSpPr>
        <p:spPr>
          <a:xfrm>
            <a:off x="548640" y="4800600"/>
            <a:ext cx="5852160" cy="1417320"/>
          </a:xfrm>
          <a:prstGeom prst="roundRect">
            <a:avLst>
              <a:gd name="adj" fmla="val 4516"/>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9" name="C17_ph_a"/>
          <p:cNvSpPr/>
          <p:nvPr/>
        </p:nvSpPr>
        <p:spPr>
          <a:xfrm>
            <a:off x="548640" y="4946904"/>
            <a:ext cx="64008" cy="1124712"/>
          </a:xfrm>
          <a:prstGeom prst="rect">
            <a:avLst/>
          </a:prstGeom>
          <a:solidFill>
            <a:srgbClr val="2E5A4C"/>
          </a:solidFill>
          <a:ln w="12700">
            <a:solidFill>
              <a:srgbClr val="2E5A4C"/>
            </a:solidFill>
            <a:prstDash val="solid"/>
          </a:ln>
        </p:spPr>
      </p:sp>
      <p:sp>
        <p:nvSpPr>
          <p:cNvPr id="10" name="C17_ph_h"/>
          <p:cNvSpPr txBox="1"/>
          <p:nvPr/>
        </p:nvSpPr>
        <p:spPr>
          <a:xfrm>
            <a:off x="822960" y="4983480"/>
            <a:ext cx="5394960" cy="292608"/>
          </a:xfrm>
          <a:prstGeom prst="rect">
            <a:avLst/>
          </a:prstGeom>
          <a:noFill/>
          <a:ln/>
        </p:spPr>
        <p:txBody>
          <a:bodyPr wrap="square" lIns="0" tIns="0" rIns="0" bIns="0" rtlCol="0" anchor="t"/>
          <a:lstStyle/>
          <a:p>
            <a:pPr indent="0" marL="0">
              <a:buNone/>
            </a:pPr>
            <a:r>
              <a:rPr lang="en-US" sz="1250" b="1" spc="150" kern="0" dirty="0">
                <a:solidFill>
                  <a:srgbClr val="2E5A4C"/>
                </a:solidFill>
                <a:latin typeface="Calibri" pitchFamily="34" charset="0"/>
                <a:ea typeface="Calibri" pitchFamily="34" charset="-122"/>
                <a:cs typeface="Calibri" pitchFamily="34" charset="-120"/>
              </a:rPr>
              <a:t>STANDALONE PHYSICS BENCHMARK</a:t>
            </a:r>
            <a:endParaRPr lang="en-US" sz="1250" dirty="0"/>
          </a:p>
        </p:txBody>
      </p:sp>
      <p:sp>
        <p:nvSpPr>
          <p:cNvPr id="11" name="C17_ph_b"/>
          <p:cNvSpPr txBox="1"/>
          <p:nvPr/>
        </p:nvSpPr>
        <p:spPr>
          <a:xfrm>
            <a:off x="822960" y="5276088"/>
            <a:ext cx="5394960" cy="832104"/>
          </a:xfrm>
          <a:prstGeom prst="rect">
            <a:avLst/>
          </a:prstGeom>
          <a:noFill/>
          <a:ln/>
        </p:spPr>
        <p:txBody>
          <a:bodyPr wrap="square" lIns="0" tIns="0" rIns="0" bIns="0" rtlCol="0" anchor="t"/>
          <a:lstStyle/>
          <a:p>
            <a:pPr indent="0" marL="0">
              <a:lnSpc>
                <a:spcPct val="105000"/>
              </a:lnSpc>
              <a:spcAft>
                <a:spcPts val="300"/>
              </a:spcAft>
              <a:buNone/>
            </a:pPr>
            <a:r>
              <a:rPr lang="en-US" sz="1300" dirty="0">
                <a:solidFill>
                  <a:srgbClr val="26221E"/>
                </a:solidFill>
                <a:latin typeface="Calibri" pitchFamily="34" charset="0"/>
                <a:ea typeface="Calibri" pitchFamily="34" charset="-122"/>
                <a:cs typeface="Calibri" pitchFamily="34" charset="-120"/>
              </a:rPr>
              <a:t>Integrating IMU with the training flight’s calibrated bias, without ML, achieves R² = 0.82.</a:t>
            </a:r>
            <a:endParaRPr lang="en-US" sz="1300" dirty="0"/>
          </a:p>
          <a:p>
            <a:pPr indent="0" marL="0">
              <a:lnSpc>
                <a:spcPct val="105000"/>
              </a:lnSpc>
              <a:spcAft>
                <a:spcPts val="300"/>
              </a:spcAft>
              <a:buNone/>
            </a:pPr>
            <a:r>
              <a:rPr lang="en-US" sz="1300" dirty="0">
                <a:solidFill>
                  <a:srgbClr val="26221E"/>
                </a:solidFill>
                <a:latin typeface="Calibri" pitchFamily="34" charset="0"/>
                <a:ea typeface="Calibri" pitchFamily="34" charset="-122"/>
                <a:cs typeface="Calibri" pitchFamily="34" charset="-120"/>
              </a:rPr>
              <a:t>This supports the conclusion that 2.0 s drift predictability is governed by sensor-bias projection geometry.</a:t>
            </a:r>
            <a:endParaRPr lang="en-US" sz="1300" dirty="0"/>
          </a:p>
        </p:txBody>
      </p:sp>
      <p:sp>
        <p:nvSpPr>
          <p:cNvPr id="12" name="C17_win"/>
          <p:cNvSpPr/>
          <p:nvPr/>
        </p:nvSpPr>
        <p:spPr>
          <a:xfrm>
            <a:off x="6583680" y="1554480"/>
            <a:ext cx="5056632" cy="4663440"/>
          </a:xfrm>
          <a:prstGeom prst="roundRect">
            <a:avLst>
              <a:gd name="adj" fmla="val 1373"/>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13" name="C17_win_a"/>
          <p:cNvSpPr/>
          <p:nvPr/>
        </p:nvSpPr>
        <p:spPr>
          <a:xfrm>
            <a:off x="6583680" y="1700784"/>
            <a:ext cx="64008" cy="4370832"/>
          </a:xfrm>
          <a:prstGeom prst="rect">
            <a:avLst/>
          </a:prstGeom>
          <a:solidFill>
            <a:srgbClr val="B8512F"/>
          </a:solidFill>
          <a:ln w="12700">
            <a:solidFill>
              <a:srgbClr val="B8512F"/>
            </a:solidFill>
            <a:prstDash val="solid"/>
          </a:ln>
        </p:spPr>
      </p:sp>
      <p:sp>
        <p:nvSpPr>
          <p:cNvPr id="14" name="C17_win_h"/>
          <p:cNvSpPr txBox="1"/>
          <p:nvPr/>
        </p:nvSpPr>
        <p:spPr>
          <a:xfrm>
            <a:off x="6858000" y="1737360"/>
            <a:ext cx="4599432" cy="292608"/>
          </a:xfrm>
          <a:prstGeom prst="rect">
            <a:avLst/>
          </a:prstGeom>
          <a:noFill/>
          <a:ln/>
        </p:spPr>
        <p:txBody>
          <a:bodyPr wrap="square" lIns="0" tIns="0" rIns="0" bIns="0" rtlCol="0" anchor="t"/>
          <a:lstStyle/>
          <a:p>
            <a:pPr indent="0" marL="0">
              <a:buNone/>
            </a:pPr>
            <a:r>
              <a:rPr lang="en-US" sz="1250" b="1" spc="150" kern="0" dirty="0">
                <a:solidFill>
                  <a:srgbClr val="B8512F"/>
                </a:solidFill>
                <a:latin typeface="Calibri" pitchFamily="34" charset="0"/>
                <a:ea typeface="Calibri" pitchFamily="34" charset="-122"/>
                <a:cs typeface="Calibri" pitchFamily="34" charset="-120"/>
              </a:rPr>
              <a:t>WHERE MODELS WIN &amp; STRUGGLE</a:t>
            </a:r>
            <a:endParaRPr lang="en-US" sz="1250" dirty="0"/>
          </a:p>
        </p:txBody>
      </p:sp>
      <p:sp>
        <p:nvSpPr>
          <p:cNvPr id="15" name="C17_win_b"/>
          <p:cNvSpPr txBox="1"/>
          <p:nvPr/>
        </p:nvSpPr>
        <p:spPr>
          <a:xfrm>
            <a:off x="6858000" y="2121408"/>
            <a:ext cx="4599432" cy="3986784"/>
          </a:xfrm>
          <a:prstGeom prst="rect">
            <a:avLst/>
          </a:prstGeom>
          <a:noFill/>
          <a:ln/>
        </p:spPr>
        <p:txBody>
          <a:bodyPr wrap="square" lIns="0" tIns="0" rIns="0" bIns="0" rtlCol="0" anchor="t"/>
          <a:lstStyle/>
          <a:p>
            <a:pPr indent="0" marL="0">
              <a:lnSpc>
                <a:spcPct val="105000"/>
              </a:lnSpc>
              <a:spcAft>
                <a:spcPts val="1600"/>
              </a:spcAft>
              <a:buNone/>
            </a:pPr>
            <a:r>
              <a:rPr lang="en-US" sz="1850" dirty="0">
                <a:solidFill>
                  <a:srgbClr val="26221E"/>
                </a:solidFill>
                <a:latin typeface="Calibri" pitchFamily="34" charset="0"/>
                <a:ea typeface="Calibri" pitchFamily="34" charset="-122"/>
                <a:cs typeface="Calibri" pitchFamily="34" charset="-120"/>
              </a:rPr>
              <a:t>Take-off (first 20%): Lasso achieves R² = 0.84–0.86 and tracks the transition drop from 1.22 m to 1.0 m.</a:t>
            </a:r>
            <a:endParaRPr lang="en-US" sz="1850" dirty="0"/>
          </a:p>
          <a:p>
            <a:pPr indent="0" marL="0">
              <a:lnSpc>
                <a:spcPct val="105000"/>
              </a:lnSpc>
              <a:spcAft>
                <a:spcPts val="1600"/>
              </a:spcAft>
              <a:buNone/>
            </a:pPr>
            <a:r>
              <a:rPr lang="en-US" sz="1850" dirty="0">
                <a:solidFill>
                  <a:srgbClr val="26221E"/>
                </a:solidFill>
                <a:latin typeface="Calibri" pitchFamily="34" charset="0"/>
                <a:ea typeface="Calibri" pitchFamily="34" charset="-122"/>
                <a:cs typeface="Calibri" pitchFamily="34" charset="-120"/>
              </a:rPr>
              <a:t>Cruising (remaining 80%): R² = 0.10–0.17. Drift fluctuates only 1–2 cm due to turbulent motor vibration; smooth linear predictions cannot track sub-cm micro-chatter.</a:t>
            </a:r>
            <a:endParaRPr lang="en-US" sz="1850" dirty="0"/>
          </a:p>
          <a:p>
            <a:pPr indent="0" marL="0">
              <a:lnSpc>
                <a:spcPct val="105000"/>
              </a:lnSpc>
              <a:spcAft>
                <a:spcPts val="1600"/>
              </a:spcAft>
              <a:buNone/>
            </a:pPr>
            <a:r>
              <a:rPr lang="en-US" sz="1850" dirty="0">
                <a:solidFill>
                  <a:srgbClr val="26221E"/>
                </a:solidFill>
                <a:latin typeface="Calibri" pitchFamily="34" charset="0"/>
                <a:ea typeface="Calibri" pitchFamily="34" charset="-122"/>
                <a:cs typeface="Calibri" pitchFamily="34" charset="-120"/>
              </a:rPr>
              <a:t>Lasso still beats baseline in MAE: 2.12 vs 2.57 cm.</a:t>
            </a:r>
            <a:endParaRPr lang="en-US" sz="1850" dirty="0"/>
          </a:p>
        </p:txBody>
      </p:sp>
    </p:spTree>
  </p:cSld>
  <p:clrMapOvr>
    <a:masterClrMapping/>
  </p:clrMapOvr>
  <mc:AlternateContent xmlns:mc="http://schemas.openxmlformats.org/markup-compatibility/2006">
    <mc:Choice xmlns:p14="http://schemas.microsoft.com/office/powerpoint/2010/main" Requires="p14">
      <p:transition spd="slow" p14:dur="900">
        <p14:pan dir="r"/>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52" fill="hold">
                            <p:stCondLst>
                              <p:cond delay="0"/>
                            </p:stCondLst>
                            <p:childTnLst>
                              <p:par>
                                <p:cTn id="6" presetID="10" presetClass="entr" presetSubtype="0" fill="hold" nodeType="withEffect">
                                  <p:stCondLst>
                                    <p:cond delay="8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10" presetID="10" presetClass="entr" presetSubtype="0" fill="hold" nodeType="withEffect">
                                  <p:stCondLst>
                                    <p:cond delay="12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anim calcmode="lin" valueType="num">
                                      <p:cBhvr additive="base">
                                        <p:cTn id="9" dur="450" fill="hold"/>
                                        <p:tgtEl>
                                          <p:spTgt spid="3"/>
                                        </p:tgtEl>
                                        <p:attrNameLst>
                                          <p:attrName>ppt_y</p:attrName>
                                        </p:attrNameLst>
                                      </p:cBhvr>
                                      <p:tavLst>
                                        <p:tav tm="0">
                                          <p:val>
                                            <p:strVal val="#ppt_y+0.05"/>
                                          </p:val>
                                        </p:tav>
                                        <p:tav tm="100000">
                                          <p:val>
                                            <p:strVal val="#ppt_y"/>
                                          </p:val>
                                        </p:tav>
                                      </p:tavLst>
                                    </p:anim>
                                  </p:childTnLst>
                                </p:cTn>
                              </p:par>
                              <p:par>
                                <p:cTn id="13" presetID="22" presetClass="entr" presetSubtype="8" fill="hold"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450"/>
                                        <p:tgtEl>
                                          <p:spTgt spid="5"/>
                                        </p:tgtEl>
                                      </p:cBhvr>
                                    </p:animEffect>
                                  </p:childTnLst>
                                </p:cTn>
                              </p:par>
                              <p:par>
                                <p:cTn id="16" presetID="10" presetClass="entr" presetSubtype="0" fill="hold" nodeType="withEffect">
                                  <p:stCondLst>
                                    <p:cond delay="3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9" presetID="10" presetClass="entr" presetSubtype="0" fill="hold" nodeType="withEffect">
                                  <p:stCondLst>
                                    <p:cond delay="30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23" presetID="10" presetClass="entr" presetSubtype="0" fill="hold" nodeType="withEffect">
                                  <p:stCondLst>
                                    <p:cond delay="90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anim calcmode="lin" valueType="num">
                                      <p:cBhvr additive="base">
                                        <p:cTn id="22" dur="450" fill="hold"/>
                                        <p:tgtEl>
                                          <p:spTgt spid="8"/>
                                        </p:tgtEl>
                                        <p:attrNameLst>
                                          <p:attrName>ppt_y</p:attrName>
                                        </p:attrNameLst>
                                      </p:cBhvr>
                                      <p:tavLst>
                                        <p:tav tm="0">
                                          <p:val>
                                            <p:strVal val="#ppt_y+0.05"/>
                                          </p:val>
                                        </p:tav>
                                        <p:tav tm="100000">
                                          <p:val>
                                            <p:strVal val="#ppt_y"/>
                                          </p:val>
                                        </p:tav>
                                      </p:tavLst>
                                    </p:anim>
                                  </p:childTnLst>
                                </p:cTn>
                              </p:par>
                              <p:par>
                                <p:cTn id="27" presetID="10" presetClass="entr" presetSubtype="0" fill="hold" nodeType="withEffect">
                                  <p:stCondLst>
                                    <p:cond delay="9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anim calcmode="lin" valueType="num">
                                      <p:cBhvr additive="base">
                                        <p:cTn id="26" dur="450" fill="hold"/>
                                        <p:tgtEl>
                                          <p:spTgt spid="9"/>
                                        </p:tgtEl>
                                        <p:attrNameLst>
                                          <p:attrName>ppt_y</p:attrName>
                                        </p:attrNameLst>
                                      </p:cBhvr>
                                      <p:tavLst>
                                        <p:tav tm="0">
                                          <p:val>
                                            <p:strVal val="#ppt_y+0.05"/>
                                          </p:val>
                                        </p:tav>
                                        <p:tav tm="100000">
                                          <p:val>
                                            <p:strVal val="#ppt_y"/>
                                          </p:val>
                                        </p:tav>
                                      </p:tavLst>
                                    </p:anim>
                                  </p:childTnLst>
                                </p:cTn>
                              </p:par>
                              <p:par>
                                <p:cTn id="31" presetID="10" presetClass="entr" presetSubtype="0" fill="hold" nodeType="withEffect">
                                  <p:stCondLst>
                                    <p:cond delay="90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anim calcmode="lin" valueType="num">
                                      <p:cBhvr additive="base">
                                        <p:cTn id="30" dur="450" fill="hold"/>
                                        <p:tgtEl>
                                          <p:spTgt spid="10"/>
                                        </p:tgtEl>
                                        <p:attrNameLst>
                                          <p:attrName>ppt_y</p:attrName>
                                        </p:attrNameLst>
                                      </p:cBhvr>
                                      <p:tavLst>
                                        <p:tav tm="0">
                                          <p:val>
                                            <p:strVal val="#ppt_y+0.05"/>
                                          </p:val>
                                        </p:tav>
                                        <p:tav tm="100000">
                                          <p:val>
                                            <p:strVal val="#ppt_y"/>
                                          </p:val>
                                        </p:tav>
                                      </p:tavLst>
                                    </p:anim>
                                  </p:childTnLst>
                                </p:cTn>
                              </p:par>
                              <p:par>
                                <p:cTn id="35" presetID="10" presetClass="entr" presetSubtype="0" fill="hold" nodeType="withEffect">
                                  <p:stCondLst>
                                    <p:cond delay="90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50"/>
                                        <p:tgtEl>
                                          <p:spTgt spid="11"/>
                                        </p:tgtEl>
                                      </p:cBhvr>
                                    </p:animEffect>
                                    <p:anim calcmode="lin" valueType="num">
                                      <p:cBhvr additive="base">
                                        <p:cTn id="34" dur="450" fill="hold"/>
                                        <p:tgtEl>
                                          <p:spTgt spid="11"/>
                                        </p:tgtEl>
                                        <p:attrNameLst>
                                          <p:attrName>ppt_y</p:attrName>
                                        </p:attrNameLst>
                                      </p:cBhvr>
                                      <p:tavLst>
                                        <p:tav tm="0">
                                          <p:val>
                                            <p:strVal val="#ppt_y+0.05"/>
                                          </p:val>
                                        </p:tav>
                                        <p:tav tm="100000">
                                          <p:val>
                                            <p:strVal val="#ppt_y"/>
                                          </p:val>
                                        </p:tav>
                                      </p:tavLst>
                                    </p:anim>
                                  </p:childTnLst>
                                </p:cTn>
                              </p:par>
                              <p:par>
                                <p:cTn id="39" presetID="10" presetClass="entr" presetSubtype="0" fill="hold" nodeType="withEffect">
                                  <p:stCondLst>
                                    <p:cond delay="60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50"/>
                                        <p:tgtEl>
                                          <p:spTgt spid="12"/>
                                        </p:tgtEl>
                                      </p:cBhvr>
                                    </p:animEffect>
                                    <p:anim calcmode="lin" valueType="num">
                                      <p:cBhvr additive="base">
                                        <p:cTn id="38" dur="450" fill="hold"/>
                                        <p:tgtEl>
                                          <p:spTgt spid="12"/>
                                        </p:tgtEl>
                                        <p:attrNameLst>
                                          <p:attrName>ppt_y</p:attrName>
                                        </p:attrNameLst>
                                      </p:cBhvr>
                                      <p:tavLst>
                                        <p:tav tm="0">
                                          <p:val>
                                            <p:strVal val="#ppt_y+0.05"/>
                                          </p:val>
                                        </p:tav>
                                        <p:tav tm="100000">
                                          <p:val>
                                            <p:strVal val="#ppt_y"/>
                                          </p:val>
                                        </p:tav>
                                      </p:tavLst>
                                    </p:anim>
                                  </p:childTnLst>
                                </p:cTn>
                              </p:par>
                              <p:par>
                                <p:cTn id="43" presetID="10" presetClass="entr" presetSubtype="0" fill="hold" nodeType="withEffect">
                                  <p:stCondLst>
                                    <p:cond delay="60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450"/>
                                        <p:tgtEl>
                                          <p:spTgt spid="13"/>
                                        </p:tgtEl>
                                      </p:cBhvr>
                                    </p:animEffect>
                                    <p:anim calcmode="lin" valueType="num">
                                      <p:cBhvr additive="base">
                                        <p:cTn id="42" dur="450" fill="hold"/>
                                        <p:tgtEl>
                                          <p:spTgt spid="13"/>
                                        </p:tgtEl>
                                        <p:attrNameLst>
                                          <p:attrName>ppt_y</p:attrName>
                                        </p:attrNameLst>
                                      </p:cBhvr>
                                      <p:tavLst>
                                        <p:tav tm="0">
                                          <p:val>
                                            <p:strVal val="#ppt_y+0.05"/>
                                          </p:val>
                                        </p:tav>
                                        <p:tav tm="100000">
                                          <p:val>
                                            <p:strVal val="#ppt_y"/>
                                          </p:val>
                                        </p:tav>
                                      </p:tavLst>
                                    </p:anim>
                                  </p:childTnLst>
                                </p:cTn>
                              </p:par>
                              <p:par>
                                <p:cTn id="47" presetID="10" presetClass="entr" presetSubtype="0" fill="hold" nodeType="withEffect">
                                  <p:stCondLst>
                                    <p:cond delay="60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450"/>
                                        <p:tgtEl>
                                          <p:spTgt spid="14"/>
                                        </p:tgtEl>
                                      </p:cBhvr>
                                    </p:animEffect>
                                    <p:anim calcmode="lin" valueType="num">
                                      <p:cBhvr additive="base">
                                        <p:cTn id="46" dur="450" fill="hold"/>
                                        <p:tgtEl>
                                          <p:spTgt spid="14"/>
                                        </p:tgtEl>
                                        <p:attrNameLst>
                                          <p:attrName>ppt_y</p:attrName>
                                        </p:attrNameLst>
                                      </p:cBhvr>
                                      <p:tavLst>
                                        <p:tav tm="0">
                                          <p:val>
                                            <p:strVal val="#ppt_y+0.05"/>
                                          </p:val>
                                        </p:tav>
                                        <p:tav tm="100000">
                                          <p:val>
                                            <p:strVal val="#ppt_y"/>
                                          </p:val>
                                        </p:tav>
                                      </p:tavLst>
                                    </p:anim>
                                  </p:childTnLst>
                                </p:cTn>
                              </p:par>
                              <p:par>
                                <p:cTn id="51" presetID="10" presetClass="entr" presetSubtype="0" fill="hold" nodeType="withEffect">
                                  <p:stCondLst>
                                    <p:cond delay="60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450"/>
                                        <p:tgtEl>
                                          <p:spTgt spid="15"/>
                                        </p:tgtEl>
                                      </p:cBhvr>
                                    </p:animEffect>
                                    <p:anim calcmode="lin" valueType="num">
                                      <p:cBhvr additive="base">
                                        <p:cTn id="50" dur="450" fill="hold"/>
                                        <p:tgtEl>
                                          <p:spTgt spid="15"/>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NUM"/>
          <p:cNvSpPr txBox="1"/>
          <p:nvPr/>
        </p:nvSpPr>
        <p:spPr>
          <a:xfrm>
            <a:off x="7498080" y="365760"/>
            <a:ext cx="4206240" cy="5669280"/>
          </a:xfrm>
          <a:prstGeom prst="rect">
            <a:avLst/>
          </a:prstGeom>
          <a:noFill/>
          <a:ln/>
        </p:spPr>
        <p:txBody>
          <a:bodyPr wrap="square" lIns="0" tIns="0" rIns="0" bIns="0" rtlCol="0" anchor="ctr"/>
          <a:lstStyle/>
          <a:p>
            <a:pPr algn="r" indent="0" marL="0">
              <a:buNone/>
            </a:pPr>
            <a:r>
              <a:rPr lang="en-US" sz="21000" b="1" dirty="0">
                <a:solidFill>
                  <a:srgbClr val="2F5B4D"/>
                </a:solidFill>
                <a:latin typeface="Cambria" pitchFamily="34" charset="0"/>
                <a:ea typeface="Cambria" pitchFamily="34" charset="-122"/>
                <a:cs typeface="Cambria" pitchFamily="34" charset="-120"/>
              </a:rPr>
              <a:t>06</a:t>
            </a:r>
            <a:endParaRPr lang="en-US" sz="21000" dirty="0"/>
          </a:p>
        </p:txBody>
      </p:sp>
      <p:sp>
        <p:nvSpPr>
          <p:cNvPr id="3" name="DK"/>
          <p:cNvSpPr txBox="1"/>
          <p:nvPr/>
        </p:nvSpPr>
        <p:spPr>
          <a:xfrm>
            <a:off x="822960" y="1874520"/>
            <a:ext cx="4572000" cy="365760"/>
          </a:xfrm>
          <a:prstGeom prst="rect">
            <a:avLst/>
          </a:prstGeom>
          <a:noFill/>
          <a:ln/>
        </p:spPr>
        <p:txBody>
          <a:bodyPr wrap="square" lIns="0" tIns="0" rIns="0" bIns="0" rtlCol="0" anchor="t"/>
          <a:lstStyle/>
          <a:p>
            <a:pPr indent="0" marL="0">
              <a:buNone/>
            </a:pPr>
            <a:r>
              <a:rPr lang="en-US" sz="1600" b="1" spc="500" kern="0" dirty="0">
                <a:solidFill>
                  <a:srgbClr val="E3A83A"/>
                </a:solidFill>
                <a:latin typeface="Calibri" pitchFamily="34" charset="0"/>
                <a:ea typeface="Calibri" pitchFamily="34" charset="-122"/>
                <a:cs typeface="Calibri" pitchFamily="34" charset="-120"/>
              </a:rPr>
              <a:t>SECTION 06</a:t>
            </a:r>
            <a:endParaRPr lang="en-US" sz="1600" dirty="0"/>
          </a:p>
        </p:txBody>
      </p:sp>
      <p:sp>
        <p:nvSpPr>
          <p:cNvPr id="4" name="DT"/>
          <p:cNvSpPr txBox="1"/>
          <p:nvPr/>
        </p:nvSpPr>
        <p:spPr>
          <a:xfrm>
            <a:off x="822960" y="2377440"/>
            <a:ext cx="6766560" cy="1737360"/>
          </a:xfrm>
          <a:prstGeom prst="rect">
            <a:avLst/>
          </a:prstGeom>
          <a:noFill/>
          <a:ln/>
        </p:spPr>
        <p:txBody>
          <a:bodyPr wrap="square" lIns="0" tIns="0" rIns="0" bIns="0" rtlCol="0" anchor="t"/>
          <a:lstStyle/>
          <a:p>
            <a:pPr indent="0" marL="0">
              <a:buNone/>
            </a:pPr>
            <a:r>
              <a:rPr lang="en-US" sz="4400" b="1" dirty="0">
                <a:solidFill>
                  <a:srgbClr val="F4EEE3"/>
                </a:solidFill>
                <a:latin typeface="Cambria" pitchFamily="34" charset="0"/>
                <a:ea typeface="Cambria" pitchFamily="34" charset="-122"/>
                <a:cs typeface="Cambria" pitchFamily="34" charset="-120"/>
              </a:rPr>
              <a:t>Research Foundations, Team &amp; Phase 2 Outlook</a:t>
            </a:r>
            <a:endParaRPr lang="en-US" sz="4400" dirty="0"/>
          </a:p>
        </p:txBody>
      </p:sp>
      <p:sp>
        <p:nvSpPr>
          <p:cNvPr id="5" name="DBAR"/>
          <p:cNvSpPr/>
          <p:nvPr/>
        </p:nvSpPr>
        <p:spPr>
          <a:xfrm>
            <a:off x="822960" y="4224528"/>
            <a:ext cx="1188720" cy="64008"/>
          </a:xfrm>
          <a:prstGeom prst="rect">
            <a:avLst/>
          </a:prstGeom>
          <a:solidFill>
            <a:srgbClr val="E3A83A"/>
          </a:solidFill>
          <a:ln w="12700">
            <a:solidFill>
              <a:srgbClr val="E3A83A"/>
            </a:solidFill>
            <a:prstDash val="solid"/>
          </a:ln>
        </p:spPr>
      </p:sp>
      <p:sp>
        <p:nvSpPr>
          <p:cNvPr id="6" name="DS"/>
          <p:cNvSpPr txBox="1"/>
          <p:nvPr/>
        </p:nvSpPr>
        <p:spPr>
          <a:xfrm>
            <a:off x="822960" y="4526280"/>
            <a:ext cx="7498080" cy="914400"/>
          </a:xfrm>
          <a:prstGeom prst="rect">
            <a:avLst/>
          </a:prstGeom>
          <a:noFill/>
          <a:ln/>
        </p:spPr>
        <p:txBody>
          <a:bodyPr wrap="square" lIns="0" tIns="0" rIns="0" bIns="0" rtlCol="0" anchor="t"/>
          <a:lstStyle/>
          <a:p>
            <a:pPr indent="0" marL="0">
              <a:buNone/>
            </a:pPr>
            <a:r>
              <a:rPr lang="en-US" sz="2100" dirty="0">
                <a:solidFill>
                  <a:srgbClr val="D9CDB8"/>
                </a:solidFill>
                <a:latin typeface="Calibri" pitchFamily="34" charset="0"/>
                <a:ea typeface="Calibri" pitchFamily="34" charset="-122"/>
                <a:cs typeface="Calibri" pitchFamily="34" charset="-120"/>
              </a:rPr>
              <a:t>System Rigor, Team Matrix, and Deep Learning Trajectory Correction</a:t>
            </a:r>
            <a:endParaRPr lang="en-US" sz="2100" dirty="0"/>
          </a:p>
        </p:txBody>
      </p:sp>
      <p:sp>
        <p:nvSpPr>
          <p:cNvPr id="7" name="DF"/>
          <p:cNvSpPr txBox="1"/>
          <p:nvPr/>
        </p:nvSpPr>
        <p:spPr>
          <a:xfrm>
            <a:off x="822960" y="6400800"/>
            <a:ext cx="8229600" cy="256032"/>
          </a:xfrm>
          <a:prstGeom prst="rect">
            <a:avLst/>
          </a:prstGeom>
          <a:noFill/>
          <a:ln/>
        </p:spPr>
        <p:txBody>
          <a:bodyPr wrap="square" lIns="0" tIns="0" rIns="0" bIns="0" rtlCol="0" anchor="t"/>
          <a:lstStyle/>
          <a:p>
            <a:pPr indent="0" marL="0">
              <a:buNone/>
            </a:pPr>
            <a:r>
              <a:rPr lang="en-US" sz="1000" b="1" spc="200" kern="0" dirty="0">
                <a:solidFill>
                  <a:srgbClr val="9FB3A8"/>
                </a:solidFill>
                <a:latin typeface="Calibri" pitchFamily="34" charset="0"/>
                <a:ea typeface="Calibri" pitchFamily="34" charset="-122"/>
                <a:cs typeface="Calibri" pitchFamily="34" charset="-120"/>
              </a:rPr>
              <a:t>DRIFT-SENSE  •  AUTONOMOUS ROBOTICS &amp; FLIGHT TELEMETRY</a:t>
            </a:r>
            <a:endParaRPr lang="en-US" sz="1000" dirty="0"/>
          </a:p>
        </p:txBody>
      </p:sp>
      <p:sp>
        <p:nvSpPr>
          <p:cNvPr id="8" name="DP"/>
          <p:cNvSpPr txBox="1"/>
          <p:nvPr/>
        </p:nvSpPr>
        <p:spPr>
          <a:xfrm>
            <a:off x="10881360" y="6400800"/>
            <a:ext cx="758952" cy="256032"/>
          </a:xfrm>
          <a:prstGeom prst="rect">
            <a:avLst/>
          </a:prstGeom>
          <a:noFill/>
          <a:ln/>
        </p:spPr>
        <p:txBody>
          <a:bodyPr wrap="square" lIns="0" tIns="0" rIns="0" bIns="0" rtlCol="0" anchor="t"/>
          <a:lstStyle/>
          <a:p>
            <a:pPr algn="r" indent="0" marL="0">
              <a:buNone/>
            </a:pPr>
            <a:r>
              <a:rPr lang="en-US" sz="1100" b="1" dirty="0">
                <a:solidFill>
                  <a:srgbClr val="9FB3A8"/>
                </a:solidFill>
                <a:latin typeface="Calibri" pitchFamily="34" charset="0"/>
                <a:ea typeface="Calibri" pitchFamily="34" charset="-122"/>
                <a:cs typeface="Calibri" pitchFamily="34" charset="-120"/>
              </a:rPr>
              <a:t>19</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900">
        <p14:doors dir="ver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21" fill="hold">
                            <p:stCondLst>
                              <p:cond delay="0"/>
                            </p:stCondLst>
                            <p:childTnLst>
                              <p:par>
                                <p:cTn id="6" presetID="10" presetClass="entr" presetSubtype="0" fill="hold" nodeType="withEffect">
                                  <p:stCondLst>
                                    <p:cond delay="15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700"/>
                                        <p:tgtEl>
                                          <p:spTgt spid="2"/>
                                        </p:tgtEl>
                                      </p:cBhvr>
                                    </p:animEffect>
                                  </p:childTnLst>
                                </p:cTn>
                              </p:par>
                              <p:par>
                                <p:cTn id="9" presetID="10" presetClass="entr" presetSubtype="0" fill="hold" nodeType="withEffect">
                                  <p:stCondLst>
                                    <p:cond delay="30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childTnLst>
                                </p:cTn>
                              </p:par>
                              <p:par>
                                <p:cTn id="13" presetID="10" presetClass="entr" presetSubtype="0" fill="hold" nodeType="withEffect">
                                  <p:stCondLst>
                                    <p:cond delay="42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450"/>
                                        <p:tgtEl>
                                          <p:spTgt spid="4"/>
                                        </p:tgtEl>
                                      </p:cBhvr>
                                    </p:animEffect>
                                    <p:anim calcmode="lin" valueType="num">
                                      <p:cBhvr additive="base">
                                        <p:cTn id="12" dur="450" fill="hold"/>
                                        <p:tgtEl>
                                          <p:spTgt spid="4"/>
                                        </p:tgtEl>
                                        <p:attrNameLst>
                                          <p:attrName>ppt_y</p:attrName>
                                        </p:attrNameLst>
                                      </p:cBhvr>
                                      <p:tavLst>
                                        <p:tav tm="0">
                                          <p:val>
                                            <p:strVal val="#ppt_y+0.05"/>
                                          </p:val>
                                        </p:tav>
                                        <p:tav tm="100000">
                                          <p:val>
                                            <p:strVal val="#ppt_y"/>
                                          </p:val>
                                        </p:tav>
                                      </p:tavLst>
                                    </p:anim>
                                  </p:childTnLst>
                                </p:cTn>
                              </p:par>
                              <p:par>
                                <p:cTn id="16" presetID="22" presetClass="entr" presetSubtype="8" fill="hold" nodeType="withEffect">
                                  <p:stCondLst>
                                    <p:cond delay="70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450"/>
                                        <p:tgtEl>
                                          <p:spTgt spid="5"/>
                                        </p:tgtEl>
                                      </p:cBhvr>
                                    </p:animEffect>
                                  </p:childTnLst>
                                </p:cTn>
                              </p:par>
                              <p:par>
                                <p:cTn id="20" presetID="10" presetClass="entr" presetSubtype="0" fill="hold" nodeType="withEffect">
                                  <p:stCondLst>
                                    <p:cond delay="85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50"/>
                                        <p:tgtEl>
                                          <p:spTgt spid="6"/>
                                        </p:tgtEl>
                                      </p:cBhvr>
                                    </p:animEffect>
                                    <p:anim calcmode="lin" valueType="num">
                                      <p:cBhvr additive="base">
                                        <p:cTn id="19" dur="450" fill="hold"/>
                                        <p:tgtEl>
                                          <p:spTgt spid="6"/>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19"/>
          <p:cNvSpPr txBox="1"/>
          <p:nvPr/>
        </p:nvSpPr>
        <p:spPr>
          <a:xfrm>
            <a:off x="548640" y="310896"/>
            <a:ext cx="9144000" cy="256032"/>
          </a:xfrm>
          <a:prstGeom prst="rect">
            <a:avLst/>
          </a:prstGeom>
          <a:noFill/>
          <a:ln/>
        </p:spPr>
        <p:txBody>
          <a:bodyPr wrap="square" lIns="0" tIns="0" rIns="0" bIns="0" rtlCol="0" anchor="t"/>
          <a:lstStyle/>
          <a:p>
            <a:pPr indent="0" marL="0">
              <a:buNone/>
            </a:pPr>
            <a:r>
              <a:rPr lang="en-US" sz="1150" b="1" spc="250" kern="0" dirty="0">
                <a:solidFill>
                  <a:srgbClr val="B8512F"/>
                </a:solidFill>
                <a:latin typeface="Calibri" pitchFamily="34" charset="0"/>
                <a:ea typeface="Calibri" pitchFamily="34" charset="-122"/>
                <a:cs typeface="Calibri" pitchFamily="34" charset="-120"/>
              </a:rPr>
              <a:t>SECTION 06 • REPRODUCIBILITY &amp; FUTURE OUTLOOK</a:t>
            </a:r>
            <a:endParaRPr lang="en-US" sz="1150" dirty="0"/>
          </a:p>
        </p:txBody>
      </p:sp>
      <p:sp>
        <p:nvSpPr>
          <p:cNvPr id="3" name="TTL19"/>
          <p:cNvSpPr txBox="1"/>
          <p:nvPr/>
        </p:nvSpPr>
        <p:spPr>
          <a:xfrm>
            <a:off x="548640" y="603504"/>
            <a:ext cx="11091672" cy="658368"/>
          </a:xfrm>
          <a:prstGeom prst="rect">
            <a:avLst/>
          </a:prstGeom>
          <a:noFill/>
          <a:ln/>
        </p:spPr>
        <p:txBody>
          <a:bodyPr wrap="square" lIns="0" tIns="0" rIns="0" bIns="0" rtlCol="0" anchor="ctr"/>
          <a:lstStyle/>
          <a:p>
            <a:pPr indent="0" marL="0">
              <a:buNone/>
            </a:pPr>
            <a:r>
              <a:rPr lang="en-US" sz="2700" b="1" dirty="0">
                <a:solidFill>
                  <a:srgbClr val="26221E"/>
                </a:solidFill>
                <a:latin typeface="Cambria" pitchFamily="34" charset="0"/>
                <a:ea typeface="Cambria" pitchFamily="34" charset="-122"/>
                <a:cs typeface="Cambria" pitchFamily="34" charset="-120"/>
              </a:rPr>
              <a:t>Software Rigor, Research Literature &amp; Phase 2 Roadmap</a:t>
            </a:r>
            <a:endParaRPr lang="en-US" sz="2700" dirty="0"/>
          </a:p>
        </p:txBody>
      </p:sp>
      <p:sp>
        <p:nvSpPr>
          <p:cNvPr id="4" name="PG19"/>
          <p:cNvSpPr txBox="1"/>
          <p:nvPr/>
        </p:nvSpPr>
        <p:spPr>
          <a:xfrm>
            <a:off x="10881360" y="6473952"/>
            <a:ext cx="758952" cy="228600"/>
          </a:xfrm>
          <a:prstGeom prst="rect">
            <a:avLst/>
          </a:prstGeom>
          <a:noFill/>
          <a:ln/>
        </p:spPr>
        <p:txBody>
          <a:bodyPr wrap="square" lIns="0" tIns="0" rIns="0" bIns="0" rtlCol="0" anchor="t"/>
          <a:lstStyle/>
          <a:p>
            <a:pPr algn="r" indent="0" marL="0">
              <a:buNone/>
            </a:pPr>
            <a:r>
              <a:rPr lang="en-US" sz="1100" b="1" dirty="0">
                <a:solidFill>
                  <a:srgbClr val="6F675C"/>
                </a:solidFill>
                <a:latin typeface="Calibri" pitchFamily="34" charset="0"/>
                <a:ea typeface="Calibri" pitchFamily="34" charset="-122"/>
                <a:cs typeface="Calibri" pitchFamily="34" charset="-120"/>
              </a:rPr>
              <a:t>20</a:t>
            </a:r>
            <a:endParaRPr lang="en-US" sz="1100" dirty="0"/>
          </a:p>
        </p:txBody>
      </p:sp>
      <p:sp>
        <p:nvSpPr>
          <p:cNvPr id="5" name="RULE19"/>
          <p:cNvSpPr/>
          <p:nvPr/>
        </p:nvSpPr>
        <p:spPr>
          <a:xfrm>
            <a:off x="548640" y="1280160"/>
            <a:ext cx="822960" cy="41148"/>
          </a:xfrm>
          <a:prstGeom prst="rect">
            <a:avLst/>
          </a:prstGeom>
          <a:solidFill>
            <a:srgbClr val="B8512F"/>
          </a:solidFill>
          <a:ln w="12700">
            <a:solidFill>
              <a:srgbClr val="B8512F"/>
            </a:solidFill>
            <a:prstDash val="solid"/>
          </a:ln>
        </p:spPr>
      </p:sp>
      <p:sp>
        <p:nvSpPr>
          <p:cNvPr id="6" name="C19_pt"/>
          <p:cNvSpPr/>
          <p:nvPr/>
        </p:nvSpPr>
        <p:spPr>
          <a:xfrm>
            <a:off x="548640" y="1554480"/>
            <a:ext cx="3520440" cy="2834640"/>
          </a:xfrm>
          <a:prstGeom prst="roundRect">
            <a:avLst>
              <a:gd name="adj" fmla="val 2258"/>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7" name="C19_pt_a"/>
          <p:cNvSpPr/>
          <p:nvPr/>
        </p:nvSpPr>
        <p:spPr>
          <a:xfrm>
            <a:off x="548640" y="1700784"/>
            <a:ext cx="64008" cy="2542032"/>
          </a:xfrm>
          <a:prstGeom prst="rect">
            <a:avLst/>
          </a:prstGeom>
          <a:solidFill>
            <a:srgbClr val="B8512F"/>
          </a:solidFill>
          <a:ln w="12700">
            <a:solidFill>
              <a:srgbClr val="B8512F"/>
            </a:solidFill>
            <a:prstDash val="solid"/>
          </a:ln>
        </p:spPr>
      </p:sp>
      <p:sp>
        <p:nvSpPr>
          <p:cNvPr id="8" name="C19_pt_h"/>
          <p:cNvSpPr txBox="1"/>
          <p:nvPr/>
        </p:nvSpPr>
        <p:spPr>
          <a:xfrm>
            <a:off x="822960" y="1737360"/>
            <a:ext cx="3063240" cy="292608"/>
          </a:xfrm>
          <a:prstGeom prst="rect">
            <a:avLst/>
          </a:prstGeom>
          <a:noFill/>
          <a:ln/>
        </p:spPr>
        <p:txBody>
          <a:bodyPr wrap="square" lIns="0" tIns="0" rIns="0" bIns="0" rtlCol="0" anchor="t"/>
          <a:lstStyle/>
          <a:p>
            <a:pPr indent="0" marL="0">
              <a:buNone/>
            </a:pPr>
            <a:r>
              <a:rPr lang="en-US" sz="1250" b="1" spc="150" kern="0" dirty="0">
                <a:solidFill>
                  <a:srgbClr val="B8512F"/>
                </a:solidFill>
                <a:latin typeface="Calibri" pitchFamily="34" charset="0"/>
                <a:ea typeface="Calibri" pitchFamily="34" charset="-122"/>
                <a:cs typeface="Calibri" pitchFamily="34" charset="-120"/>
              </a:rPr>
              <a:t>AUTOMATED PYTEST VERIFICATION</a:t>
            </a:r>
            <a:endParaRPr lang="en-US" sz="1250" dirty="0"/>
          </a:p>
        </p:txBody>
      </p:sp>
      <p:sp>
        <p:nvSpPr>
          <p:cNvPr id="9" name="C19_pt_b"/>
          <p:cNvSpPr txBox="1"/>
          <p:nvPr/>
        </p:nvSpPr>
        <p:spPr>
          <a:xfrm>
            <a:off x="822960" y="2121408"/>
            <a:ext cx="3063240" cy="2157984"/>
          </a:xfrm>
          <a:prstGeom prst="rect">
            <a:avLst/>
          </a:prstGeom>
          <a:noFill/>
          <a:ln/>
        </p:spPr>
        <p:txBody>
          <a:bodyPr wrap="square" lIns="0" tIns="0" rIns="0" bIns="0" rtlCol="0" anchor="t"/>
          <a:lstStyle/>
          <a:p>
            <a:pPr indent="0" marL="0">
              <a:lnSpc>
                <a:spcPct val="105000"/>
              </a:lnSpc>
              <a:spcAft>
                <a:spcPts val="700"/>
              </a:spcAft>
              <a:buNone/>
            </a:pPr>
            <a:r>
              <a:rPr lang="en-US" sz="1350" dirty="0">
                <a:solidFill>
                  <a:srgbClr val="26221E"/>
                </a:solidFill>
                <a:latin typeface="Calibri" pitchFamily="34" charset="0"/>
                <a:ea typeface="Calibri" pitchFamily="34" charset="-122"/>
                <a:cs typeface="Calibri" pitchFamily="34" charset="-120"/>
              </a:rPr>
              <a:t>test_no_leakage.py: asserts zero sequence overlap in folds.</a:t>
            </a:r>
            <a:endParaRPr lang="en-US" sz="1350" dirty="0"/>
          </a:p>
          <a:p>
            <a:pPr indent="0" marL="0">
              <a:lnSpc>
                <a:spcPct val="105000"/>
              </a:lnSpc>
              <a:spcAft>
                <a:spcPts val="700"/>
              </a:spcAft>
              <a:buNone/>
            </a:pPr>
            <a:r>
              <a:rPr lang="en-US" sz="1350" dirty="0">
                <a:solidFill>
                  <a:srgbClr val="26221E"/>
                </a:solidFill>
                <a:latin typeface="Calibri" pitchFamily="34" charset="0"/>
                <a:ea typeface="Calibri" pitchFamily="34" charset="-122"/>
                <a:cs typeface="Calibri" pitchFamily="34" charset="-120"/>
              </a:rPr>
              <a:t>test_windowing.py: guarantees exactly 400 rows and zero NaNs per window.</a:t>
            </a:r>
            <a:endParaRPr lang="en-US" sz="1350" dirty="0"/>
          </a:p>
          <a:p>
            <a:pPr indent="0" marL="0">
              <a:lnSpc>
                <a:spcPct val="105000"/>
              </a:lnSpc>
              <a:spcAft>
                <a:spcPts val="700"/>
              </a:spcAft>
              <a:buNone/>
            </a:pPr>
            <a:r>
              <a:rPr lang="en-US" sz="1350" dirty="0">
                <a:solidFill>
                  <a:srgbClr val="26221E"/>
                </a:solidFill>
                <a:latin typeface="Calibri" pitchFamily="34" charset="0"/>
                <a:ea typeface="Calibri" pitchFamily="34" charset="-122"/>
                <a:cs typeface="Calibri" pitchFamily="34" charset="-120"/>
              </a:rPr>
              <a:t>test_label_sanity.py: confirms error grows monotonically from 0.25 s to 2.0 s.</a:t>
            </a:r>
            <a:endParaRPr lang="en-US" sz="1350" dirty="0"/>
          </a:p>
        </p:txBody>
      </p:sp>
      <p:sp>
        <p:nvSpPr>
          <p:cNvPr id="10" name="C19_lit"/>
          <p:cNvSpPr/>
          <p:nvPr/>
        </p:nvSpPr>
        <p:spPr>
          <a:xfrm>
            <a:off x="4224528" y="1554480"/>
            <a:ext cx="3520440" cy="2834640"/>
          </a:xfrm>
          <a:prstGeom prst="roundRect">
            <a:avLst>
              <a:gd name="adj" fmla="val 2258"/>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11" name="C19_lit_a"/>
          <p:cNvSpPr/>
          <p:nvPr/>
        </p:nvSpPr>
        <p:spPr>
          <a:xfrm>
            <a:off x="4224528" y="1700784"/>
            <a:ext cx="64008" cy="2542032"/>
          </a:xfrm>
          <a:prstGeom prst="rect">
            <a:avLst/>
          </a:prstGeom>
          <a:solidFill>
            <a:srgbClr val="2E5A4C"/>
          </a:solidFill>
          <a:ln w="12700">
            <a:solidFill>
              <a:srgbClr val="2E5A4C"/>
            </a:solidFill>
            <a:prstDash val="solid"/>
          </a:ln>
        </p:spPr>
      </p:sp>
      <p:sp>
        <p:nvSpPr>
          <p:cNvPr id="12" name="C19_lit_h"/>
          <p:cNvSpPr txBox="1"/>
          <p:nvPr/>
        </p:nvSpPr>
        <p:spPr>
          <a:xfrm>
            <a:off x="4498848" y="1737360"/>
            <a:ext cx="3063240" cy="292608"/>
          </a:xfrm>
          <a:prstGeom prst="rect">
            <a:avLst/>
          </a:prstGeom>
          <a:noFill/>
          <a:ln/>
        </p:spPr>
        <p:txBody>
          <a:bodyPr wrap="square" lIns="0" tIns="0" rIns="0" bIns="0" rtlCol="0" anchor="t"/>
          <a:lstStyle/>
          <a:p>
            <a:pPr indent="0" marL="0">
              <a:buNone/>
            </a:pPr>
            <a:r>
              <a:rPr lang="en-US" sz="1250" b="1" spc="150" kern="0" dirty="0">
                <a:solidFill>
                  <a:srgbClr val="2E5A4C"/>
                </a:solidFill>
                <a:latin typeface="Calibri" pitchFamily="34" charset="0"/>
                <a:ea typeface="Calibri" pitchFamily="34" charset="-122"/>
                <a:cs typeface="Calibri" pitchFamily="34" charset="-120"/>
              </a:rPr>
              <a:t>LITERATURE FOUNDATIONS</a:t>
            </a:r>
            <a:endParaRPr lang="en-US" sz="1250" dirty="0"/>
          </a:p>
        </p:txBody>
      </p:sp>
      <p:sp>
        <p:nvSpPr>
          <p:cNvPr id="13" name="C19_lit_b"/>
          <p:cNvSpPr txBox="1"/>
          <p:nvPr/>
        </p:nvSpPr>
        <p:spPr>
          <a:xfrm>
            <a:off x="4498848" y="2121408"/>
            <a:ext cx="3063240" cy="2157984"/>
          </a:xfrm>
          <a:prstGeom prst="rect">
            <a:avLst/>
          </a:prstGeom>
          <a:noFill/>
          <a:ln/>
        </p:spPr>
        <p:txBody>
          <a:bodyPr wrap="square" lIns="0" tIns="0" rIns="0" bIns="0" rtlCol="0" anchor="t"/>
          <a:lstStyle/>
          <a:p>
            <a:pPr indent="0" marL="0">
              <a:lnSpc>
                <a:spcPct val="105000"/>
              </a:lnSpc>
              <a:spcAft>
                <a:spcPts val="700"/>
              </a:spcAft>
              <a:buNone/>
            </a:pPr>
            <a:r>
              <a:rPr lang="en-US" sz="1350" dirty="0">
                <a:solidFill>
                  <a:srgbClr val="26221E"/>
                </a:solidFill>
                <a:latin typeface="Calibri" pitchFamily="34" charset="0"/>
                <a:ea typeface="Calibri" pitchFamily="34" charset="-122"/>
                <a:cs typeface="Calibri" pitchFamily="34" charset="-120"/>
              </a:rPr>
              <a:t>Burri et al. (IJRR 2016): EuRoC MAV ground-truth benchmark.</a:t>
            </a:r>
            <a:endParaRPr lang="en-US" sz="1350" dirty="0"/>
          </a:p>
          <a:p>
            <a:pPr indent="0" marL="0">
              <a:lnSpc>
                <a:spcPct val="105000"/>
              </a:lnSpc>
              <a:spcAft>
                <a:spcPts val="700"/>
              </a:spcAft>
              <a:buNone/>
            </a:pPr>
            <a:r>
              <a:rPr lang="en-US" sz="1350" dirty="0">
                <a:solidFill>
                  <a:srgbClr val="26221E"/>
                </a:solidFill>
                <a:latin typeface="Calibri" pitchFamily="34" charset="0"/>
                <a:ea typeface="Calibri" pitchFamily="34" charset="-122"/>
                <a:cs typeface="Calibri" pitchFamily="34" charset="-120"/>
              </a:rPr>
              <a:t>Mourikis &amp; Roumeliotis (ICRA 2007): MSCKF VIO drift formulation.</a:t>
            </a:r>
            <a:endParaRPr lang="en-US" sz="1350" dirty="0"/>
          </a:p>
          <a:p>
            <a:pPr indent="0" marL="0">
              <a:lnSpc>
                <a:spcPct val="105000"/>
              </a:lnSpc>
              <a:spcAft>
                <a:spcPts val="700"/>
              </a:spcAft>
              <a:buNone/>
            </a:pPr>
            <a:r>
              <a:rPr lang="en-US" sz="1350" dirty="0">
                <a:solidFill>
                  <a:srgbClr val="26221E"/>
                </a:solidFill>
                <a:latin typeface="Calibri" pitchFamily="34" charset="0"/>
                <a:ea typeface="Calibri" pitchFamily="34" charset="-122"/>
                <a:cs typeface="Calibri" pitchFamily="34" charset="-120"/>
              </a:rPr>
              <a:t>Tibshirani (JRSS 1996): Lasso regression for sparse feature selection.</a:t>
            </a:r>
            <a:endParaRPr lang="en-US" sz="1350" dirty="0"/>
          </a:p>
        </p:txBody>
      </p:sp>
      <p:sp>
        <p:nvSpPr>
          <p:cNvPr id="14" name="IMG20"/>
          <p:cNvSpPr/>
          <p:nvPr/>
        </p:nvSpPr>
        <p:spPr>
          <a:xfrm>
            <a:off x="7909560" y="1554480"/>
            <a:ext cx="3730752" cy="2834640"/>
          </a:xfrm>
          <a:prstGeom prst="roundRect">
            <a:avLst>
              <a:gd name="adj" fmla="val 2258"/>
            </a:avLst>
          </a:prstGeom>
          <a:solidFill>
            <a:srgbClr val="FFFFFF"/>
          </a:solidFill>
          <a:ln w="9525">
            <a:solidFill>
              <a:srgbClr val="DED4C2"/>
            </a:solidFill>
            <a:prstDash val="solid"/>
          </a:ln>
          <a:effectLst>
            <a:outerShdw sx="100000" sy="100000" kx="0" ky="0" algn="bl" rotWithShape="0" blurRad="88900" dist="25400" dir="5400000">
              <a:srgbClr val="6B5A3C">
                <a:alpha val="14000"/>
              </a:srgbClr>
            </a:outerShdw>
          </a:effectLst>
        </p:spPr>
      </p:sp>
      <p:pic>
        <p:nvPicPr>
          <p:cNvPr id="15" name="IMG20_i" descr="Lasso alpha sweep">    </p:cNvPr>
          <p:cNvPicPr>
            <a:picLocks noChangeAspect="1"/>
          </p:cNvPicPr>
          <p:nvPr/>
        </p:nvPicPr>
        <p:blipFill>
          <a:blip r:embed="rId1"/>
          <a:stretch>
            <a:fillRect/>
          </a:stretch>
        </p:blipFill>
        <p:spPr>
          <a:xfrm>
            <a:off x="8037576" y="1854926"/>
            <a:ext cx="3474720" cy="2233749"/>
          </a:xfrm>
          <a:prstGeom prst="rect">
            <a:avLst/>
          </a:prstGeom>
        </p:spPr>
      </p:pic>
      <p:sp>
        <p:nvSpPr>
          <p:cNvPr id="16" name="C20r"/>
          <p:cNvSpPr/>
          <p:nvPr/>
        </p:nvSpPr>
        <p:spPr>
          <a:xfrm>
            <a:off x="548640" y="4553712"/>
            <a:ext cx="11091672" cy="1664208"/>
          </a:xfrm>
          <a:prstGeom prst="roundRect">
            <a:avLst>
              <a:gd name="adj" fmla="val 3846"/>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17" name="C20r_a"/>
          <p:cNvSpPr/>
          <p:nvPr/>
        </p:nvSpPr>
        <p:spPr>
          <a:xfrm>
            <a:off x="548640" y="4700016"/>
            <a:ext cx="64008" cy="1371600"/>
          </a:xfrm>
          <a:prstGeom prst="rect">
            <a:avLst/>
          </a:prstGeom>
          <a:solidFill>
            <a:srgbClr val="7A4A66"/>
          </a:solidFill>
          <a:ln w="12700">
            <a:solidFill>
              <a:srgbClr val="7A4A66"/>
            </a:solidFill>
            <a:prstDash val="solid"/>
          </a:ln>
        </p:spPr>
      </p:sp>
      <p:sp>
        <p:nvSpPr>
          <p:cNvPr id="18" name="C20r_h"/>
          <p:cNvSpPr txBox="1"/>
          <p:nvPr/>
        </p:nvSpPr>
        <p:spPr>
          <a:xfrm>
            <a:off x="822960" y="4718304"/>
            <a:ext cx="9144000" cy="274320"/>
          </a:xfrm>
          <a:prstGeom prst="rect">
            <a:avLst/>
          </a:prstGeom>
          <a:noFill/>
          <a:ln/>
        </p:spPr>
        <p:txBody>
          <a:bodyPr wrap="square" lIns="0" tIns="0" rIns="0" bIns="0" rtlCol="0" anchor="t"/>
          <a:lstStyle/>
          <a:p>
            <a:pPr indent="0" marL="0">
              <a:buNone/>
            </a:pPr>
            <a:r>
              <a:rPr lang="en-US" sz="1250" b="1" spc="150" kern="0" dirty="0">
                <a:solidFill>
                  <a:srgbClr val="7A4A66"/>
                </a:solidFill>
                <a:latin typeface="Calibri" pitchFamily="34" charset="0"/>
                <a:ea typeface="Calibri" pitchFamily="34" charset="-122"/>
                <a:cs typeface="Calibri" pitchFamily="34" charset="-120"/>
              </a:rPr>
              <a:t>PHASE 2 DEEP LEARNING ROADMAP (END-SEMESTER)</a:t>
            </a:r>
            <a:endParaRPr lang="en-US" sz="1250" dirty="0"/>
          </a:p>
        </p:txBody>
      </p:sp>
      <p:sp>
        <p:nvSpPr>
          <p:cNvPr id="19" name="C20r_b1"/>
          <p:cNvSpPr txBox="1"/>
          <p:nvPr/>
        </p:nvSpPr>
        <p:spPr>
          <a:xfrm>
            <a:off x="822960" y="5120640"/>
            <a:ext cx="5120640" cy="1051560"/>
          </a:xfrm>
          <a:prstGeom prst="rect">
            <a:avLst/>
          </a:prstGeom>
          <a:noFill/>
          <a:ln/>
        </p:spPr>
        <p:txBody>
          <a:bodyPr wrap="square" lIns="0" tIns="0" rIns="0" bIns="0" rtlCol="0" anchor="t"/>
          <a:lstStyle/>
          <a:p>
            <a:pPr indent="0" marL="0">
              <a:spcAft>
                <a:spcPts val="500"/>
              </a:spcAft>
              <a:buNone/>
            </a:pPr>
            <a:r>
              <a:rPr lang="en-US" sz="1300" dirty="0">
                <a:solidFill>
                  <a:srgbClr val="26221E"/>
                </a:solidFill>
                <a:latin typeface="Calibri" pitchFamily="34" charset="0"/>
                <a:ea typeface="Calibri" pitchFamily="34" charset="-122"/>
                <a:cs typeface="Calibri" pitchFamily="34" charset="-120"/>
              </a:rPr>
              <a:t>1. Scale to all 11 EuRoC sequences (Medium &amp; Difficult aggressive flights).</a:t>
            </a:r>
            <a:endParaRPr lang="en-US" sz="1300" dirty="0"/>
          </a:p>
          <a:p>
            <a:pPr indent="0" marL="0">
              <a:buNone/>
            </a:pPr>
            <a:r>
              <a:rPr lang="en-US" sz="1300" dirty="0">
                <a:solidFill>
                  <a:srgbClr val="26221E"/>
                </a:solidFill>
                <a:latin typeface="Calibri" pitchFamily="34" charset="0"/>
                <a:ea typeface="Calibri" pitchFamily="34" charset="-122"/>
                <a:cs typeface="Calibri" pitchFamily="34" charset="-120"/>
              </a:rPr>
              <a:t>2. Train 1D-CNNs and LSTMs directly on raw (N, 400, 6) window tensors.</a:t>
            </a:r>
            <a:endParaRPr lang="en-US" sz="1300" dirty="0"/>
          </a:p>
        </p:txBody>
      </p:sp>
      <p:sp>
        <p:nvSpPr>
          <p:cNvPr id="20" name="C20r_b2"/>
          <p:cNvSpPr txBox="1"/>
          <p:nvPr/>
        </p:nvSpPr>
        <p:spPr>
          <a:xfrm>
            <a:off x="6172200" y="5120640"/>
            <a:ext cx="5303520" cy="1051560"/>
          </a:xfrm>
          <a:prstGeom prst="rect">
            <a:avLst/>
          </a:prstGeom>
          <a:noFill/>
          <a:ln/>
        </p:spPr>
        <p:txBody>
          <a:bodyPr wrap="square" lIns="0" tIns="0" rIns="0" bIns="0" rtlCol="0" anchor="t"/>
          <a:lstStyle/>
          <a:p>
            <a:pPr indent="0" marL="0">
              <a:spcAft>
                <a:spcPts val="500"/>
              </a:spcAft>
              <a:buNone/>
            </a:pPr>
            <a:r>
              <a:rPr lang="en-US" sz="1300" dirty="0">
                <a:solidFill>
                  <a:srgbClr val="26221E"/>
                </a:solidFill>
                <a:latin typeface="Calibri" pitchFamily="34" charset="0"/>
                <a:ea typeface="Calibri" pitchFamily="34" charset="-122"/>
                <a:cs typeface="Calibri" pitchFamily="34" charset="-120"/>
              </a:rPr>
              <a:t>3. Build a Hybrid ML-DL model fusing physics features with neural embeddings.</a:t>
            </a:r>
            <a:endParaRPr lang="en-US" sz="1300" dirty="0"/>
          </a:p>
          <a:p>
            <a:pPr indent="0" marL="0">
              <a:buNone/>
            </a:pPr>
            <a:r>
              <a:rPr lang="en-US" sz="1300" dirty="0">
                <a:solidFill>
                  <a:srgbClr val="26221E"/>
                </a:solidFill>
                <a:latin typeface="Calibri" pitchFamily="34" charset="0"/>
                <a:ea typeface="Calibri" pitchFamily="34" charset="-122"/>
                <a:cs typeface="Calibri" pitchFamily="34" charset="-120"/>
              </a:rPr>
              <a:t>4. Closed-loop trajectory correction evaluated via Absolute Trajectory Error (ATE) using the evo library.</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900">
        <p14:pan dir="r"/>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2" fill="hold">
                            <p:stCondLst>
                              <p:cond delay="0"/>
                            </p:stCondLst>
                            <p:childTnLst>
                              <p:par>
                                <p:cTn id="6" presetID="10" presetClass="entr" presetSubtype="0" fill="hold" nodeType="withEffect">
                                  <p:stCondLst>
                                    <p:cond delay="8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10" presetID="10" presetClass="entr" presetSubtype="0" fill="hold" nodeType="withEffect">
                                  <p:stCondLst>
                                    <p:cond delay="12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anim calcmode="lin" valueType="num">
                                      <p:cBhvr additive="base">
                                        <p:cTn id="9" dur="450" fill="hold"/>
                                        <p:tgtEl>
                                          <p:spTgt spid="3"/>
                                        </p:tgtEl>
                                        <p:attrNameLst>
                                          <p:attrName>ppt_y</p:attrName>
                                        </p:attrNameLst>
                                      </p:cBhvr>
                                      <p:tavLst>
                                        <p:tav tm="0">
                                          <p:val>
                                            <p:strVal val="#ppt_y+0.05"/>
                                          </p:val>
                                        </p:tav>
                                        <p:tav tm="100000">
                                          <p:val>
                                            <p:strVal val="#ppt_y"/>
                                          </p:val>
                                        </p:tav>
                                      </p:tavLst>
                                    </p:anim>
                                  </p:childTnLst>
                                </p:cTn>
                              </p:par>
                              <p:par>
                                <p:cTn id="13" presetID="22" presetClass="entr" presetSubtype="8" fill="hold"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450"/>
                                        <p:tgtEl>
                                          <p:spTgt spid="5"/>
                                        </p:tgtEl>
                                      </p:cBhvr>
                                    </p:animEffect>
                                  </p:childTnLst>
                                </p:cTn>
                              </p:par>
                              <p:par>
                                <p:cTn id="17" presetID="10" presetClass="entr" presetSubtype="0" fill="hold" nodeType="withEffect">
                                  <p:stCondLst>
                                    <p:cond delay="3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anim calcmode="lin" valueType="num">
                                      <p:cBhvr additive="base">
                                        <p:cTn id="16" dur="450" fill="hold"/>
                                        <p:tgtEl>
                                          <p:spTgt spid="6"/>
                                        </p:tgtEl>
                                        <p:attrNameLst>
                                          <p:attrName>ppt_y</p:attrName>
                                        </p:attrNameLst>
                                      </p:cBhvr>
                                      <p:tavLst>
                                        <p:tav tm="0">
                                          <p:val>
                                            <p:strVal val="#ppt_y+0.05"/>
                                          </p:val>
                                        </p:tav>
                                        <p:tav tm="100000">
                                          <p:val>
                                            <p:strVal val="#ppt_y"/>
                                          </p:val>
                                        </p:tav>
                                      </p:tavLst>
                                    </p:anim>
                                  </p:childTnLst>
                                </p:cTn>
                              </p:par>
                              <p:par>
                                <p:cTn id="21" presetID="10" presetClass="entr" presetSubtype="0" fill="hold" nodeType="withEffect">
                                  <p:stCondLst>
                                    <p:cond delay="3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anim calcmode="lin" valueType="num">
                                      <p:cBhvr additive="base">
                                        <p:cTn id="20" dur="450" fill="hold"/>
                                        <p:tgtEl>
                                          <p:spTgt spid="7"/>
                                        </p:tgtEl>
                                        <p:attrNameLst>
                                          <p:attrName>ppt_y</p:attrName>
                                        </p:attrNameLst>
                                      </p:cBhvr>
                                      <p:tavLst>
                                        <p:tav tm="0">
                                          <p:val>
                                            <p:strVal val="#ppt_y+0.05"/>
                                          </p:val>
                                        </p:tav>
                                        <p:tav tm="100000">
                                          <p:val>
                                            <p:strVal val="#ppt_y"/>
                                          </p:val>
                                        </p:tav>
                                      </p:tavLst>
                                    </p:anim>
                                  </p:childTnLst>
                                </p:cTn>
                              </p:par>
                              <p:par>
                                <p:cTn id="25" presetID="10" presetClass="entr" presetSubtype="0" fill="hold" nodeType="withEffect">
                                  <p:stCondLst>
                                    <p:cond delay="30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50"/>
                                        <p:tgtEl>
                                          <p:spTgt spid="8"/>
                                        </p:tgtEl>
                                      </p:cBhvr>
                                    </p:animEffect>
                                    <p:anim calcmode="lin" valueType="num">
                                      <p:cBhvr additive="base">
                                        <p:cTn id="24" dur="450" fill="hold"/>
                                        <p:tgtEl>
                                          <p:spTgt spid="8"/>
                                        </p:tgtEl>
                                        <p:attrNameLst>
                                          <p:attrName>ppt_y</p:attrName>
                                        </p:attrNameLst>
                                      </p:cBhvr>
                                      <p:tavLst>
                                        <p:tav tm="0">
                                          <p:val>
                                            <p:strVal val="#ppt_y+0.05"/>
                                          </p:val>
                                        </p:tav>
                                        <p:tav tm="100000">
                                          <p:val>
                                            <p:strVal val="#ppt_y"/>
                                          </p:val>
                                        </p:tav>
                                      </p:tavLst>
                                    </p:anim>
                                  </p:childTnLst>
                                </p:cTn>
                              </p:par>
                              <p:par>
                                <p:cTn id="29" presetID="10" presetClass="entr" presetSubtype="0" fill="hold" nodeType="withEffect">
                                  <p:stCondLst>
                                    <p:cond delay="3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anim calcmode="lin" valueType="num">
                                      <p:cBhvr additive="base">
                                        <p:cTn id="28" dur="450" fill="hold"/>
                                        <p:tgtEl>
                                          <p:spTgt spid="9"/>
                                        </p:tgtEl>
                                        <p:attrNameLst>
                                          <p:attrName>ppt_y</p:attrName>
                                        </p:attrNameLst>
                                      </p:cBhvr>
                                      <p:tavLst>
                                        <p:tav tm="0">
                                          <p:val>
                                            <p:strVal val="#ppt_y+0.05"/>
                                          </p:val>
                                        </p:tav>
                                        <p:tav tm="100000">
                                          <p:val>
                                            <p:strVal val="#ppt_y"/>
                                          </p:val>
                                        </p:tav>
                                      </p:tavLst>
                                    </p:anim>
                                  </p:childTnLst>
                                </p:cTn>
                              </p:par>
                              <p:par>
                                <p:cTn id="33" presetID="10" presetClass="entr" presetSubtype="0" fill="hold" nodeType="withEffect">
                                  <p:stCondLst>
                                    <p:cond delay="48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anim calcmode="lin" valueType="num">
                                      <p:cBhvr additive="base">
                                        <p:cTn id="32" dur="450" fill="hold"/>
                                        <p:tgtEl>
                                          <p:spTgt spid="10"/>
                                        </p:tgtEl>
                                        <p:attrNameLst>
                                          <p:attrName>ppt_y</p:attrName>
                                        </p:attrNameLst>
                                      </p:cBhvr>
                                      <p:tavLst>
                                        <p:tav tm="0">
                                          <p:val>
                                            <p:strVal val="#ppt_y+0.05"/>
                                          </p:val>
                                        </p:tav>
                                        <p:tav tm="100000">
                                          <p:val>
                                            <p:strVal val="#ppt_y"/>
                                          </p:val>
                                        </p:tav>
                                      </p:tavLst>
                                    </p:anim>
                                  </p:childTnLst>
                                </p:cTn>
                              </p:par>
                              <p:par>
                                <p:cTn id="37" presetID="10" presetClass="entr" presetSubtype="0" fill="hold" nodeType="withEffect">
                                  <p:stCondLst>
                                    <p:cond delay="48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450"/>
                                        <p:tgtEl>
                                          <p:spTgt spid="11"/>
                                        </p:tgtEl>
                                      </p:cBhvr>
                                    </p:animEffect>
                                    <p:anim calcmode="lin" valueType="num">
                                      <p:cBhvr additive="base">
                                        <p:cTn id="36" dur="450" fill="hold"/>
                                        <p:tgtEl>
                                          <p:spTgt spid="11"/>
                                        </p:tgtEl>
                                        <p:attrNameLst>
                                          <p:attrName>ppt_y</p:attrName>
                                        </p:attrNameLst>
                                      </p:cBhvr>
                                      <p:tavLst>
                                        <p:tav tm="0">
                                          <p:val>
                                            <p:strVal val="#ppt_y+0.05"/>
                                          </p:val>
                                        </p:tav>
                                        <p:tav tm="100000">
                                          <p:val>
                                            <p:strVal val="#ppt_y"/>
                                          </p:val>
                                        </p:tav>
                                      </p:tavLst>
                                    </p:anim>
                                  </p:childTnLst>
                                </p:cTn>
                              </p:par>
                              <p:par>
                                <p:cTn id="41" presetID="10" presetClass="entr" presetSubtype="0" fill="hold" nodeType="withEffect">
                                  <p:stCondLst>
                                    <p:cond delay="48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450"/>
                                        <p:tgtEl>
                                          <p:spTgt spid="12"/>
                                        </p:tgtEl>
                                      </p:cBhvr>
                                    </p:animEffect>
                                    <p:anim calcmode="lin" valueType="num">
                                      <p:cBhvr additive="base">
                                        <p:cTn id="40" dur="450" fill="hold"/>
                                        <p:tgtEl>
                                          <p:spTgt spid="12"/>
                                        </p:tgtEl>
                                        <p:attrNameLst>
                                          <p:attrName>ppt_y</p:attrName>
                                        </p:attrNameLst>
                                      </p:cBhvr>
                                      <p:tavLst>
                                        <p:tav tm="0">
                                          <p:val>
                                            <p:strVal val="#ppt_y+0.05"/>
                                          </p:val>
                                        </p:tav>
                                        <p:tav tm="100000">
                                          <p:val>
                                            <p:strVal val="#ppt_y"/>
                                          </p:val>
                                        </p:tav>
                                      </p:tavLst>
                                    </p:anim>
                                  </p:childTnLst>
                                </p:cTn>
                              </p:par>
                              <p:par>
                                <p:cTn id="45" presetID="10" presetClass="entr" presetSubtype="0" fill="hold" nodeType="withEffect">
                                  <p:stCondLst>
                                    <p:cond delay="48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450"/>
                                        <p:tgtEl>
                                          <p:spTgt spid="13"/>
                                        </p:tgtEl>
                                      </p:cBhvr>
                                    </p:animEffect>
                                    <p:anim calcmode="lin" valueType="num">
                                      <p:cBhvr additive="base">
                                        <p:cTn id="44" dur="450" fill="hold"/>
                                        <p:tgtEl>
                                          <p:spTgt spid="13"/>
                                        </p:tgtEl>
                                        <p:attrNameLst>
                                          <p:attrName>ppt_y</p:attrName>
                                        </p:attrNameLst>
                                      </p:cBhvr>
                                      <p:tavLst>
                                        <p:tav tm="0">
                                          <p:val>
                                            <p:strVal val="#ppt_y+0.05"/>
                                          </p:val>
                                        </p:tav>
                                        <p:tav tm="100000">
                                          <p:val>
                                            <p:strVal val="#ppt_y"/>
                                          </p:val>
                                        </p:tav>
                                      </p:tavLst>
                                    </p:anim>
                                  </p:childTnLst>
                                </p:cTn>
                              </p:par>
                              <p:par>
                                <p:cTn id="48" presetID="10" presetClass="entr" presetSubtype="0" fill="hold" nodeType="withEffect">
                                  <p:stCondLst>
                                    <p:cond delay="66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450"/>
                                        <p:tgtEl>
                                          <p:spTgt spid="14"/>
                                        </p:tgtEl>
                                      </p:cBhvr>
                                    </p:animEffect>
                                  </p:childTnLst>
                                </p:cTn>
                              </p:par>
                              <p:par>
                                <p:cTn id="51" presetID="10" presetClass="entr" presetSubtype="0" fill="hold" nodeType="withEffect">
                                  <p:stCondLst>
                                    <p:cond delay="66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450"/>
                                        <p:tgtEl>
                                          <p:spTgt spid="15"/>
                                        </p:tgtEl>
                                      </p:cBhvr>
                                    </p:animEffect>
                                  </p:childTnLst>
                                </p:cTn>
                              </p:par>
                              <p:par>
                                <p:cTn id="55" presetID="10" presetClass="entr" presetSubtype="0" fill="hold" nodeType="withEffect">
                                  <p:stCondLst>
                                    <p:cond delay="86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450"/>
                                        <p:tgtEl>
                                          <p:spTgt spid="16"/>
                                        </p:tgtEl>
                                      </p:cBhvr>
                                    </p:animEffect>
                                    <p:anim calcmode="lin" valueType="num">
                                      <p:cBhvr additive="base">
                                        <p:cTn id="54" dur="450" fill="hold"/>
                                        <p:tgtEl>
                                          <p:spTgt spid="16"/>
                                        </p:tgtEl>
                                        <p:attrNameLst>
                                          <p:attrName>ppt_y</p:attrName>
                                        </p:attrNameLst>
                                      </p:cBhvr>
                                      <p:tavLst>
                                        <p:tav tm="0">
                                          <p:val>
                                            <p:strVal val="#ppt_y+0.05"/>
                                          </p:val>
                                        </p:tav>
                                        <p:tav tm="100000">
                                          <p:val>
                                            <p:strVal val="#ppt_y"/>
                                          </p:val>
                                        </p:tav>
                                      </p:tavLst>
                                    </p:anim>
                                  </p:childTnLst>
                                </p:cTn>
                              </p:par>
                              <p:par>
                                <p:cTn id="59" presetID="10" presetClass="entr" presetSubtype="0" fill="hold" nodeType="withEffect">
                                  <p:stCondLst>
                                    <p:cond delay="86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450"/>
                                        <p:tgtEl>
                                          <p:spTgt spid="17"/>
                                        </p:tgtEl>
                                      </p:cBhvr>
                                    </p:animEffect>
                                    <p:anim calcmode="lin" valueType="num">
                                      <p:cBhvr additive="base">
                                        <p:cTn id="58" dur="450" fill="hold"/>
                                        <p:tgtEl>
                                          <p:spTgt spid="17"/>
                                        </p:tgtEl>
                                        <p:attrNameLst>
                                          <p:attrName>ppt_y</p:attrName>
                                        </p:attrNameLst>
                                      </p:cBhvr>
                                      <p:tavLst>
                                        <p:tav tm="0">
                                          <p:val>
                                            <p:strVal val="#ppt_y+0.05"/>
                                          </p:val>
                                        </p:tav>
                                        <p:tav tm="100000">
                                          <p:val>
                                            <p:strVal val="#ppt_y"/>
                                          </p:val>
                                        </p:tav>
                                      </p:tavLst>
                                    </p:anim>
                                  </p:childTnLst>
                                </p:cTn>
                              </p:par>
                              <p:par>
                                <p:cTn id="63" presetID="10" presetClass="entr" presetSubtype="0" fill="hold" nodeType="withEffect">
                                  <p:stCondLst>
                                    <p:cond delay="860"/>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450"/>
                                        <p:tgtEl>
                                          <p:spTgt spid="18"/>
                                        </p:tgtEl>
                                      </p:cBhvr>
                                    </p:animEffect>
                                    <p:anim calcmode="lin" valueType="num">
                                      <p:cBhvr additive="base">
                                        <p:cTn id="62" dur="450" fill="hold"/>
                                        <p:tgtEl>
                                          <p:spTgt spid="18"/>
                                        </p:tgtEl>
                                        <p:attrNameLst>
                                          <p:attrName>ppt_y</p:attrName>
                                        </p:attrNameLst>
                                      </p:cBhvr>
                                      <p:tavLst>
                                        <p:tav tm="0">
                                          <p:val>
                                            <p:strVal val="#ppt_y+0.05"/>
                                          </p:val>
                                        </p:tav>
                                        <p:tav tm="100000">
                                          <p:val>
                                            <p:strVal val="#ppt_y"/>
                                          </p:val>
                                        </p:tav>
                                      </p:tavLst>
                                    </p:anim>
                                  </p:childTnLst>
                                </p:cTn>
                              </p:par>
                              <p:par>
                                <p:cTn id="67" presetID="10" presetClass="entr" presetSubtype="0" fill="hold" nodeType="withEffect">
                                  <p:stCondLst>
                                    <p:cond delay="860"/>
                                  </p:stCondLst>
                                  <p:childTnLst>
                                    <p:set>
                                      <p:cBhvr>
                                        <p:cTn id="64" dur="1" fill="hold">
                                          <p:stCondLst>
                                            <p:cond delay="0"/>
                                          </p:stCondLst>
                                        </p:cTn>
                                        <p:tgtEl>
                                          <p:spTgt spid="19"/>
                                        </p:tgtEl>
                                        <p:attrNameLst>
                                          <p:attrName>style.visibility</p:attrName>
                                        </p:attrNameLst>
                                      </p:cBhvr>
                                      <p:to>
                                        <p:strVal val="visible"/>
                                      </p:to>
                                    </p:set>
                                    <p:animEffect transition="in" filter="fade">
                                      <p:cBhvr>
                                        <p:cTn id="65" dur="450"/>
                                        <p:tgtEl>
                                          <p:spTgt spid="19"/>
                                        </p:tgtEl>
                                      </p:cBhvr>
                                    </p:animEffect>
                                    <p:anim calcmode="lin" valueType="num">
                                      <p:cBhvr additive="base">
                                        <p:cTn id="66" dur="450" fill="hold"/>
                                        <p:tgtEl>
                                          <p:spTgt spid="19"/>
                                        </p:tgtEl>
                                        <p:attrNameLst>
                                          <p:attrName>ppt_y</p:attrName>
                                        </p:attrNameLst>
                                      </p:cBhvr>
                                      <p:tavLst>
                                        <p:tav tm="0">
                                          <p:val>
                                            <p:strVal val="#ppt_y+0.05"/>
                                          </p:val>
                                        </p:tav>
                                        <p:tav tm="100000">
                                          <p:val>
                                            <p:strVal val="#ppt_y"/>
                                          </p:val>
                                        </p:tav>
                                      </p:tavLst>
                                    </p:anim>
                                  </p:childTnLst>
                                </p:cTn>
                              </p:par>
                              <p:par>
                                <p:cTn id="71" presetID="10" presetClass="entr" presetSubtype="0" fill="hold" nodeType="withEffect">
                                  <p:stCondLst>
                                    <p:cond delay="860"/>
                                  </p:stCondLst>
                                  <p:childTnLst>
                                    <p:set>
                                      <p:cBhvr>
                                        <p:cTn id="68" dur="1" fill="hold">
                                          <p:stCondLst>
                                            <p:cond delay="0"/>
                                          </p:stCondLst>
                                        </p:cTn>
                                        <p:tgtEl>
                                          <p:spTgt spid="20"/>
                                        </p:tgtEl>
                                        <p:attrNameLst>
                                          <p:attrName>style.visibility</p:attrName>
                                        </p:attrNameLst>
                                      </p:cBhvr>
                                      <p:to>
                                        <p:strVal val="visible"/>
                                      </p:to>
                                    </p:set>
                                    <p:animEffect transition="in" filter="fade">
                                      <p:cBhvr>
                                        <p:cTn id="69" dur="450"/>
                                        <p:tgtEl>
                                          <p:spTgt spid="20"/>
                                        </p:tgtEl>
                                      </p:cBhvr>
                                    </p:animEffect>
                                    <p:anim calcmode="lin" valueType="num">
                                      <p:cBhvr additive="base">
                                        <p:cTn id="70" dur="450" fill="hold"/>
                                        <p:tgtEl>
                                          <p:spTgt spid="20"/>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20"/>
          <p:cNvSpPr txBox="1"/>
          <p:nvPr/>
        </p:nvSpPr>
        <p:spPr>
          <a:xfrm>
            <a:off x="548640" y="310896"/>
            <a:ext cx="9144000" cy="256032"/>
          </a:xfrm>
          <a:prstGeom prst="rect">
            <a:avLst/>
          </a:prstGeom>
          <a:noFill/>
          <a:ln/>
        </p:spPr>
        <p:txBody>
          <a:bodyPr wrap="square" lIns="0" tIns="0" rIns="0" bIns="0" rtlCol="0" anchor="t"/>
          <a:lstStyle/>
          <a:p>
            <a:pPr indent="0" marL="0">
              <a:buNone/>
            </a:pPr>
            <a:r>
              <a:rPr lang="en-US" sz="1150" b="1" spc="250" kern="0" dirty="0">
                <a:solidFill>
                  <a:srgbClr val="B8512F"/>
                </a:solidFill>
                <a:latin typeface="Calibri" pitchFamily="34" charset="0"/>
                <a:ea typeface="Calibri" pitchFamily="34" charset="-122"/>
                <a:cs typeface="Calibri" pitchFamily="34" charset="-120"/>
              </a:rPr>
              <a:t>SECTION 06 • PROJECT REPORT</a:t>
            </a:r>
            <a:endParaRPr lang="en-US" sz="1150" dirty="0"/>
          </a:p>
        </p:txBody>
      </p:sp>
      <p:sp>
        <p:nvSpPr>
          <p:cNvPr id="3" name="TTL20"/>
          <p:cNvSpPr txBox="1"/>
          <p:nvPr/>
        </p:nvSpPr>
        <p:spPr>
          <a:xfrm>
            <a:off x="548640" y="603504"/>
            <a:ext cx="11091672" cy="658368"/>
          </a:xfrm>
          <a:prstGeom prst="rect">
            <a:avLst/>
          </a:prstGeom>
          <a:noFill/>
          <a:ln/>
        </p:spPr>
        <p:txBody>
          <a:bodyPr wrap="square" lIns="0" tIns="0" rIns="0" bIns="0" rtlCol="0" anchor="ctr"/>
          <a:lstStyle/>
          <a:p>
            <a:pPr indent="0" marL="0">
              <a:buNone/>
            </a:pPr>
            <a:r>
              <a:rPr lang="en-US" sz="2700" b="1" dirty="0">
                <a:solidFill>
                  <a:srgbClr val="26221E"/>
                </a:solidFill>
                <a:latin typeface="Cambria" pitchFamily="34" charset="0"/>
                <a:ea typeface="Cambria" pitchFamily="34" charset="-122"/>
                <a:cs typeface="Cambria" pitchFamily="34" charset="-120"/>
              </a:rPr>
              <a:t>The Full Project Report</a:t>
            </a:r>
            <a:endParaRPr lang="en-US" sz="2700" dirty="0"/>
          </a:p>
        </p:txBody>
      </p:sp>
      <p:sp>
        <p:nvSpPr>
          <p:cNvPr id="4" name="RULE20"/>
          <p:cNvSpPr/>
          <p:nvPr/>
        </p:nvSpPr>
        <p:spPr>
          <a:xfrm>
            <a:off x="548640" y="1280160"/>
            <a:ext cx="822960" cy="41148"/>
          </a:xfrm>
          <a:prstGeom prst="rect">
            <a:avLst/>
          </a:prstGeom>
          <a:solidFill>
            <a:srgbClr val="B8512F"/>
          </a:solidFill>
          <a:ln w="12700">
            <a:solidFill>
              <a:srgbClr val="B8512F"/>
            </a:solidFill>
            <a:prstDash val="solid"/>
          </a:ln>
        </p:spPr>
      </p:sp>
      <p:sp>
        <p:nvSpPr>
          <p:cNvPr id="5" name="PG20"/>
          <p:cNvSpPr txBox="1"/>
          <p:nvPr/>
        </p:nvSpPr>
        <p:spPr>
          <a:xfrm>
            <a:off x="10881360" y="6473952"/>
            <a:ext cx="758952" cy="228600"/>
          </a:xfrm>
          <a:prstGeom prst="rect">
            <a:avLst/>
          </a:prstGeom>
          <a:noFill/>
          <a:ln/>
        </p:spPr>
        <p:txBody>
          <a:bodyPr wrap="square" lIns="0" tIns="0" rIns="0" bIns="0" rtlCol="0" anchor="t"/>
          <a:lstStyle/>
          <a:p>
            <a:pPr algn="r" indent="0" marL="0">
              <a:buNone/>
            </a:pPr>
            <a:r>
              <a:rPr lang="en-US" sz="1100" b="1" dirty="0">
                <a:solidFill>
                  <a:srgbClr val="6F675C"/>
                </a:solidFill>
                <a:latin typeface="Calibri" pitchFamily="34" charset="0"/>
                <a:ea typeface="Calibri" pitchFamily="34" charset="-122"/>
                <a:cs typeface="Calibri" pitchFamily="34" charset="-120"/>
              </a:rPr>
              <a:t>21</a:t>
            </a:r>
            <a:endParaRPr lang="en-US" sz="1100" dirty="0"/>
          </a:p>
        </p:txBody>
      </p:sp>
      <p:sp>
        <p:nvSpPr>
          <p:cNvPr id="6" name="R_card"/>
          <p:cNvSpPr/>
          <p:nvPr/>
        </p:nvSpPr>
        <p:spPr>
          <a:xfrm>
            <a:off x="548640" y="1554480"/>
            <a:ext cx="6583680" cy="4663440"/>
          </a:xfrm>
          <a:prstGeom prst="roundRect">
            <a:avLst>
              <a:gd name="adj" fmla="val 1373"/>
            </a:avLst>
          </a:prstGeom>
          <a:solidFill>
            <a:srgbClr val="FFFCF6"/>
          </a:solidFill>
          <a:ln w="9525">
            <a:solidFill>
              <a:srgbClr val="DED4C2"/>
            </a:solidFill>
            <a:prstDash val="solid"/>
          </a:ln>
          <a:effectLst>
            <a:outerShdw sx="100000" sy="100000" kx="0" ky="0" algn="bl" rotWithShape="0" blurRad="88900" dist="25400" dir="5400000">
              <a:srgbClr val="6B5A3C">
                <a:alpha val="14000"/>
              </a:srgbClr>
            </a:outerShdw>
          </a:effectLst>
        </p:spPr>
      </p:sp>
      <p:sp>
        <p:nvSpPr>
          <p:cNvPr id="7" name="R_card_a"/>
          <p:cNvSpPr/>
          <p:nvPr/>
        </p:nvSpPr>
        <p:spPr>
          <a:xfrm>
            <a:off x="548640" y="1700784"/>
            <a:ext cx="64008" cy="4370832"/>
          </a:xfrm>
          <a:prstGeom prst="rect">
            <a:avLst/>
          </a:prstGeom>
          <a:solidFill>
            <a:srgbClr val="B8512F"/>
          </a:solidFill>
          <a:ln w="12700">
            <a:solidFill>
              <a:srgbClr val="B8512F"/>
            </a:solidFill>
            <a:prstDash val="solid"/>
          </a:ln>
        </p:spPr>
      </p:sp>
      <p:sp>
        <p:nvSpPr>
          <p:cNvPr id="8" name="R_h"/>
          <p:cNvSpPr txBox="1"/>
          <p:nvPr/>
        </p:nvSpPr>
        <p:spPr>
          <a:xfrm>
            <a:off x="868680" y="1783080"/>
            <a:ext cx="5943600" cy="274320"/>
          </a:xfrm>
          <a:prstGeom prst="rect">
            <a:avLst/>
          </a:prstGeom>
          <a:noFill/>
          <a:ln/>
        </p:spPr>
        <p:txBody>
          <a:bodyPr wrap="square" lIns="0" tIns="0" rIns="0" bIns="0" rtlCol="0" anchor="t"/>
          <a:lstStyle/>
          <a:p>
            <a:pPr indent="0" marL="0">
              <a:buNone/>
            </a:pPr>
            <a:r>
              <a:rPr lang="en-US" sz="1250" b="1" spc="150" kern="0" dirty="0">
                <a:solidFill>
                  <a:srgbClr val="B8512F"/>
                </a:solidFill>
                <a:latin typeface="Calibri" pitchFamily="34" charset="0"/>
                <a:ea typeface="Calibri" pitchFamily="34" charset="-122"/>
                <a:cs typeface="Calibri" pitchFamily="34" charset="-120"/>
              </a:rPr>
              <a:t>IEEE-STYLE PROJECT REPORT</a:t>
            </a:r>
            <a:endParaRPr lang="en-US" sz="1250" dirty="0"/>
          </a:p>
        </p:txBody>
      </p:sp>
      <p:sp>
        <p:nvSpPr>
          <p:cNvPr id="9" name="R_t"/>
          <p:cNvSpPr txBox="1"/>
          <p:nvPr/>
        </p:nvSpPr>
        <p:spPr>
          <a:xfrm>
            <a:off x="868680" y="2148840"/>
            <a:ext cx="5989320" cy="1188720"/>
          </a:xfrm>
          <a:prstGeom prst="rect">
            <a:avLst/>
          </a:prstGeom>
          <a:noFill/>
          <a:ln/>
        </p:spPr>
        <p:txBody>
          <a:bodyPr wrap="square" lIns="0" tIns="0" rIns="0" bIns="0" rtlCol="0" anchor="t"/>
          <a:lstStyle/>
          <a:p>
            <a:pPr indent="0" marL="0">
              <a:buNone/>
            </a:pPr>
            <a:r>
              <a:rPr lang="en-US" sz="2400" b="1" dirty="0">
                <a:solidFill>
                  <a:srgbClr val="26221E"/>
                </a:solidFill>
                <a:latin typeface="Cambria" pitchFamily="34" charset="0"/>
                <a:ea typeface="Cambria" pitchFamily="34" charset="-122"/>
                <a:cs typeface="Cambria" pitchFamily="34" charset="-120"/>
              </a:rPr>
              <a:t>Drift-Sense: Machine-Learning Estimation of Short-Window IMU Position Drift</a:t>
            </a:r>
            <a:endParaRPr lang="en-US" sz="2400" dirty="0"/>
          </a:p>
        </p:txBody>
      </p:sp>
      <p:sp>
        <p:nvSpPr>
          <p:cNvPr id="10" name="R_l"/>
          <p:cNvSpPr txBox="1"/>
          <p:nvPr/>
        </p:nvSpPr>
        <p:spPr>
          <a:xfrm>
            <a:off x="868680" y="3429000"/>
            <a:ext cx="5989320" cy="1371600"/>
          </a:xfrm>
          <a:prstGeom prst="rect">
            <a:avLst/>
          </a:prstGeom>
          <a:noFill/>
          <a:ln/>
        </p:spPr>
        <p:txBody>
          <a:bodyPr wrap="square" lIns="0" tIns="0" rIns="0" bIns="0" rtlCol="0" anchor="t"/>
          <a:lstStyle/>
          <a:p>
            <a:pPr indent="0" marL="0">
              <a:spcAft>
                <a:spcPts val="500"/>
              </a:spcAft>
              <a:buNone/>
            </a:pPr>
            <a:r>
              <a:rPr lang="en-US" sz="1400" dirty="0">
                <a:solidFill>
                  <a:srgbClr val="6F675C"/>
                </a:solidFill>
                <a:latin typeface="Calibri" pitchFamily="34" charset="0"/>
                <a:ea typeface="Calibri" pitchFamily="34" charset="-122"/>
                <a:cs typeface="Calibri" pitchFamily="34" charset="-120"/>
              </a:rPr>
              <a:t>Problem statement and objectives  •  Dataset and preparation</a:t>
            </a:r>
            <a:endParaRPr lang="en-US" sz="1400" dirty="0"/>
          </a:p>
          <a:p>
            <a:pPr indent="0" marL="0">
              <a:spcAft>
                <a:spcPts val="500"/>
              </a:spcAft>
              <a:buNone/>
            </a:pPr>
            <a:r>
              <a:rPr lang="en-US" sz="1400" dirty="0">
                <a:solidFill>
                  <a:srgbClr val="6F675C"/>
                </a:solidFill>
                <a:latin typeface="Calibri" pitchFamily="34" charset="0"/>
                <a:ea typeface="Calibri" pitchFamily="34" charset="-122"/>
                <a:cs typeface="Calibri" pitchFamily="34" charset="-120"/>
              </a:rPr>
              <a:t>System architecture  •  Drift label construction</a:t>
            </a:r>
            <a:endParaRPr lang="en-US" sz="1400" dirty="0"/>
          </a:p>
          <a:p>
            <a:pPr indent="0" marL="0">
              <a:spcAft>
                <a:spcPts val="500"/>
              </a:spcAft>
              <a:buNone/>
            </a:pPr>
            <a:r>
              <a:rPr lang="en-US" sz="1400" dirty="0">
                <a:solidFill>
                  <a:srgbClr val="6F675C"/>
                </a:solidFill>
                <a:latin typeface="Calibri" pitchFamily="34" charset="0"/>
                <a:ea typeface="Calibri" pitchFamily="34" charset="-122"/>
                <a:cs typeface="Calibri" pitchFamily="34" charset="-120"/>
              </a:rPr>
              <a:t>Feature engineering  •  Models and evaluation</a:t>
            </a:r>
            <a:endParaRPr lang="en-US" sz="1400" dirty="0"/>
          </a:p>
          <a:p>
            <a:pPr indent="0" marL="0">
              <a:buNone/>
            </a:pPr>
            <a:r>
              <a:rPr lang="en-US" sz="1400" dirty="0">
                <a:solidFill>
                  <a:srgbClr val="6F675C"/>
                </a:solidFill>
                <a:latin typeface="Calibri" pitchFamily="34" charset="0"/>
                <a:ea typeface="Calibri" pitchFamily="34" charset="-122"/>
                <a:cs typeface="Calibri" pitchFamily="34" charset="-120"/>
              </a:rPr>
              <a:t>Results  •  Final model  •  Limitations and references</a:t>
            </a:r>
            <a:endParaRPr lang="en-US" sz="1400" dirty="0"/>
          </a:p>
        </p:txBody>
      </p:sp>
      <p:sp>
        <p:nvSpPr>
          <p:cNvPr id="11" name="R_btn">
            <a:hlinkClick r:id="rId1" tooltip="Open the Drift-Sense project report"/>
          </p:cNvPr>
          <p:cNvSpPr/>
          <p:nvPr/>
        </p:nvSpPr>
        <p:spPr>
          <a:xfrm>
            <a:off x="868680" y="5074920"/>
            <a:ext cx="3291840" cy="731520"/>
          </a:xfrm>
          <a:prstGeom prst="roundRect">
            <a:avLst>
              <a:gd name="adj" fmla="val 12500"/>
            </a:avLst>
          </a:prstGeom>
          <a:solidFill>
            <a:srgbClr val="B8512F"/>
          </a:solidFill>
          <a:ln>
            <a:solidFill>
              <a:srgbClr val="B8512F"/>
            </a:solid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Open the report  →</a:t>
            </a:r>
            <a:endParaRPr lang="en-US" sz="2000" dirty="0"/>
          </a:p>
        </p:txBody>
      </p:sp>
      <p:sp>
        <p:nvSpPr>
          <p:cNvPr id="12" name="R_hint"/>
          <p:cNvSpPr txBox="1"/>
          <p:nvPr/>
        </p:nvSpPr>
        <p:spPr>
          <a:xfrm>
            <a:off x="4343400" y="5285232"/>
            <a:ext cx="2651760" cy="457200"/>
          </a:xfrm>
          <a:prstGeom prst="rect">
            <a:avLst/>
          </a:prstGeom>
          <a:noFill/>
          <a:ln/>
        </p:spPr>
        <p:txBody>
          <a:bodyPr wrap="square" lIns="0" tIns="0" rIns="0" bIns="0" rtlCol="0" anchor="t"/>
          <a:lstStyle/>
          <a:p>
            <a:pPr indent="0" marL="0">
              <a:buNone/>
            </a:pPr>
            <a:r>
              <a:rPr lang="en-US" sz="1150" i="1" dirty="0">
                <a:solidFill>
                  <a:srgbClr val="6F675C"/>
                </a:solidFill>
                <a:latin typeface="Calibri" pitchFamily="34" charset="0"/>
                <a:ea typeface="Calibri" pitchFamily="34" charset="-122"/>
                <a:cs typeface="Calibri" pitchFamily="34" charset="-120"/>
              </a:rPr>
              <a:t>Click the button or the report cover to open it</a:t>
            </a:r>
            <a:endParaRPr lang="en-US" sz="1150" dirty="0"/>
          </a:p>
        </p:txBody>
      </p:sp>
      <p:sp>
        <p:nvSpPr>
          <p:cNvPr id="13" name="R_frame"/>
          <p:cNvSpPr/>
          <p:nvPr/>
        </p:nvSpPr>
        <p:spPr>
          <a:xfrm>
            <a:off x="7635240" y="1554480"/>
            <a:ext cx="4005072" cy="4663440"/>
          </a:xfrm>
          <a:prstGeom prst="roundRect">
            <a:avLst>
              <a:gd name="adj" fmla="val 1598"/>
            </a:avLst>
          </a:prstGeom>
          <a:solidFill>
            <a:srgbClr val="EAE1CF"/>
          </a:solidFill>
          <a:ln w="9525">
            <a:solidFill>
              <a:srgbClr val="DED4C2"/>
            </a:solidFill>
            <a:prstDash val="solid"/>
          </a:ln>
        </p:spPr>
      </p:sp>
      <p:pic>
        <p:nvPicPr>
          <p:cNvPr id="14" name="R_cover" descr="First page of the project report">
            <a:hlinkClick r:id="rId3" tooltip="Open the Drift-Sense project report"/>
          </p:cNvPr>
          <p:cNvPicPr>
            <a:picLocks noChangeAspect="1"/>
          </p:cNvPicPr>
          <p:nvPr/>
        </p:nvPicPr>
        <p:blipFill>
          <a:blip r:embed="rId2"/>
          <a:stretch>
            <a:fillRect/>
          </a:stretch>
        </p:blipFill>
        <p:spPr>
          <a:xfrm>
            <a:off x="7941564" y="1691640"/>
            <a:ext cx="3392424" cy="43891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00">
        <p14:pan dir="r"/>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9" fill="hold">
                            <p:stCondLst>
                              <p:cond delay="0"/>
                            </p:stCondLst>
                            <p:childTnLst>
                              <p:par>
                                <p:cTn id="6" presetID="10" presetClass="entr" presetSubtype="0" fill="hold" nodeType="withEffect">
                                  <p:stCondLst>
                                    <p:cond delay="8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10" presetID="10" presetClass="entr" presetSubtype="0" fill="hold" nodeType="withEffect">
                                  <p:stCondLst>
                                    <p:cond delay="12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anim calcmode="lin" valueType="num">
                                      <p:cBhvr additive="base">
                                        <p:cTn id="9" dur="450" fill="hold"/>
                                        <p:tgtEl>
                                          <p:spTgt spid="3"/>
                                        </p:tgtEl>
                                        <p:attrNameLst>
                                          <p:attrName>ppt_y</p:attrName>
                                        </p:attrNameLst>
                                      </p:cBhvr>
                                      <p:tavLst>
                                        <p:tav tm="0">
                                          <p:val>
                                            <p:strVal val="#ppt_y+0.05"/>
                                          </p:val>
                                        </p:tav>
                                        <p:tav tm="100000">
                                          <p:val>
                                            <p:strVal val="#ppt_y"/>
                                          </p:val>
                                        </p:tav>
                                      </p:tavLst>
                                    </p:anim>
                                  </p:childTnLst>
                                </p:cTn>
                              </p:par>
                              <p:par>
                                <p:cTn id="13" presetID="22" presetClass="entr" presetSubtype="8" fill="hold" nodeType="withEffect">
                                  <p:stCondLst>
                                    <p:cond delay="25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450"/>
                                        <p:tgtEl>
                                          <p:spTgt spid="4"/>
                                        </p:tgtEl>
                                      </p:cBhvr>
                                    </p:animEffect>
                                  </p:childTnLst>
                                </p:cTn>
                              </p:par>
                              <p:par>
                                <p:cTn id="17" presetID="10" presetClass="entr" presetSubtype="0" fill="hold" nodeType="withEffect">
                                  <p:stCondLst>
                                    <p:cond delay="3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anim calcmode="lin" valueType="num">
                                      <p:cBhvr additive="base">
                                        <p:cTn id="16" dur="450" fill="hold"/>
                                        <p:tgtEl>
                                          <p:spTgt spid="6"/>
                                        </p:tgtEl>
                                        <p:attrNameLst>
                                          <p:attrName>ppt_y</p:attrName>
                                        </p:attrNameLst>
                                      </p:cBhvr>
                                      <p:tavLst>
                                        <p:tav tm="0">
                                          <p:val>
                                            <p:strVal val="#ppt_y+0.05"/>
                                          </p:val>
                                        </p:tav>
                                        <p:tav tm="100000">
                                          <p:val>
                                            <p:strVal val="#ppt_y"/>
                                          </p:val>
                                        </p:tav>
                                      </p:tavLst>
                                    </p:anim>
                                  </p:childTnLst>
                                </p:cTn>
                              </p:par>
                              <p:par>
                                <p:cTn id="21" presetID="10" presetClass="entr" presetSubtype="0" fill="hold" nodeType="withEffect">
                                  <p:stCondLst>
                                    <p:cond delay="3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anim calcmode="lin" valueType="num">
                                      <p:cBhvr additive="base">
                                        <p:cTn id="20" dur="450" fill="hold"/>
                                        <p:tgtEl>
                                          <p:spTgt spid="7"/>
                                        </p:tgtEl>
                                        <p:attrNameLst>
                                          <p:attrName>ppt_y</p:attrName>
                                        </p:attrNameLst>
                                      </p:cBhvr>
                                      <p:tavLst>
                                        <p:tav tm="0">
                                          <p:val>
                                            <p:strVal val="#ppt_y+0.05"/>
                                          </p:val>
                                        </p:tav>
                                        <p:tav tm="100000">
                                          <p:val>
                                            <p:strVal val="#ppt_y"/>
                                          </p:val>
                                        </p:tav>
                                      </p:tavLst>
                                    </p:anim>
                                  </p:childTnLst>
                                </p:cTn>
                              </p:par>
                              <p:par>
                                <p:cTn id="25" presetID="10" presetClass="entr" presetSubtype="0" fill="hold" nodeType="withEffect">
                                  <p:stCondLst>
                                    <p:cond delay="30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50"/>
                                        <p:tgtEl>
                                          <p:spTgt spid="8"/>
                                        </p:tgtEl>
                                      </p:cBhvr>
                                    </p:animEffect>
                                    <p:anim calcmode="lin" valueType="num">
                                      <p:cBhvr additive="base">
                                        <p:cTn id="24" dur="450" fill="hold"/>
                                        <p:tgtEl>
                                          <p:spTgt spid="8"/>
                                        </p:tgtEl>
                                        <p:attrNameLst>
                                          <p:attrName>ppt_y</p:attrName>
                                        </p:attrNameLst>
                                      </p:cBhvr>
                                      <p:tavLst>
                                        <p:tav tm="0">
                                          <p:val>
                                            <p:strVal val="#ppt_y+0.05"/>
                                          </p:val>
                                        </p:tav>
                                        <p:tav tm="100000">
                                          <p:val>
                                            <p:strVal val="#ppt_y"/>
                                          </p:val>
                                        </p:tav>
                                      </p:tavLst>
                                    </p:anim>
                                  </p:childTnLst>
                                </p:cTn>
                              </p:par>
                              <p:par>
                                <p:cTn id="29" presetID="10" presetClass="entr" presetSubtype="0" fill="hold" nodeType="withEffect">
                                  <p:stCondLst>
                                    <p:cond delay="3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50"/>
                                        <p:tgtEl>
                                          <p:spTgt spid="9"/>
                                        </p:tgtEl>
                                      </p:cBhvr>
                                    </p:animEffect>
                                    <p:anim calcmode="lin" valueType="num">
                                      <p:cBhvr additive="base">
                                        <p:cTn id="28" dur="450" fill="hold"/>
                                        <p:tgtEl>
                                          <p:spTgt spid="9"/>
                                        </p:tgtEl>
                                        <p:attrNameLst>
                                          <p:attrName>ppt_y</p:attrName>
                                        </p:attrNameLst>
                                      </p:cBhvr>
                                      <p:tavLst>
                                        <p:tav tm="0">
                                          <p:val>
                                            <p:strVal val="#ppt_y+0.05"/>
                                          </p:val>
                                        </p:tav>
                                        <p:tav tm="100000">
                                          <p:val>
                                            <p:strVal val="#ppt_y"/>
                                          </p:val>
                                        </p:tav>
                                      </p:tavLst>
                                    </p:anim>
                                  </p:childTnLst>
                                </p:cTn>
                              </p:par>
                              <p:par>
                                <p:cTn id="33" presetID="10" presetClass="entr" presetSubtype="0" fill="hold" nodeType="withEffect">
                                  <p:stCondLst>
                                    <p:cond delay="44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anim calcmode="lin" valueType="num">
                                      <p:cBhvr additive="base">
                                        <p:cTn id="32" dur="450" fill="hold"/>
                                        <p:tgtEl>
                                          <p:spTgt spid="10"/>
                                        </p:tgtEl>
                                        <p:attrNameLst>
                                          <p:attrName>ppt_y</p:attrName>
                                        </p:attrNameLst>
                                      </p:cBhvr>
                                      <p:tavLst>
                                        <p:tav tm="0">
                                          <p:val>
                                            <p:strVal val="#ppt_y+0.05"/>
                                          </p:val>
                                        </p:tav>
                                        <p:tav tm="100000">
                                          <p:val>
                                            <p:strVal val="#ppt_y"/>
                                          </p:val>
                                        </p:tav>
                                      </p:tavLst>
                                    </p:anim>
                                  </p:childTnLst>
                                </p:cTn>
                              </p:par>
                              <p:par>
                                <p:cTn id="37" presetID="10" presetClass="entr" presetSubtype="0" fill="hold" nodeType="withEffect">
                                  <p:stCondLst>
                                    <p:cond delay="58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450"/>
                                        <p:tgtEl>
                                          <p:spTgt spid="11"/>
                                        </p:tgtEl>
                                      </p:cBhvr>
                                    </p:animEffect>
                                    <p:anim calcmode="lin" valueType="num">
                                      <p:cBhvr additive="base">
                                        <p:cTn id="36" dur="450" fill="hold"/>
                                        <p:tgtEl>
                                          <p:spTgt spid="11"/>
                                        </p:tgtEl>
                                        <p:attrNameLst>
                                          <p:attrName>ppt_y</p:attrName>
                                        </p:attrNameLst>
                                      </p:cBhvr>
                                      <p:tavLst>
                                        <p:tav tm="0">
                                          <p:val>
                                            <p:strVal val="#ppt_y+0.05"/>
                                          </p:val>
                                        </p:tav>
                                        <p:tav tm="100000">
                                          <p:val>
                                            <p:strVal val="#ppt_y"/>
                                          </p:val>
                                        </p:tav>
                                      </p:tavLst>
                                    </p:anim>
                                  </p:childTnLst>
                                </p:cTn>
                              </p:par>
                              <p:par>
                                <p:cTn id="41" presetID="10" presetClass="entr" presetSubtype="0" fill="hold" nodeType="withEffect">
                                  <p:stCondLst>
                                    <p:cond delay="72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450"/>
                                        <p:tgtEl>
                                          <p:spTgt spid="12"/>
                                        </p:tgtEl>
                                      </p:cBhvr>
                                    </p:animEffect>
                                    <p:anim calcmode="lin" valueType="num">
                                      <p:cBhvr additive="base">
                                        <p:cTn id="40" dur="450" fill="hold"/>
                                        <p:tgtEl>
                                          <p:spTgt spid="12"/>
                                        </p:tgtEl>
                                        <p:attrNameLst>
                                          <p:attrName>ppt_y</p:attrName>
                                        </p:attrNameLst>
                                      </p:cBhvr>
                                      <p:tavLst>
                                        <p:tav tm="0">
                                          <p:val>
                                            <p:strVal val="#ppt_y+0.05"/>
                                          </p:val>
                                        </p:tav>
                                        <p:tav tm="100000">
                                          <p:val>
                                            <p:strVal val="#ppt_y"/>
                                          </p:val>
                                        </p:tav>
                                      </p:tavLst>
                                    </p:anim>
                                  </p:childTnLst>
                                </p:cTn>
                              </p:par>
                              <p:par>
                                <p:cTn id="44" presetID="10" presetClass="entr" presetSubtype="0" fill="hold" nodeType="withEffect">
                                  <p:stCondLst>
                                    <p:cond delay="60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450"/>
                                        <p:tgtEl>
                                          <p:spTgt spid="13"/>
                                        </p:tgtEl>
                                      </p:cBhvr>
                                    </p:animEffect>
                                  </p:childTnLst>
                                </p:cTn>
                              </p:par>
                              <p:par>
                                <p:cTn id="48" presetID="10" presetClass="entr" presetSubtype="0" fill="hold" nodeType="withEffect">
                                  <p:stCondLst>
                                    <p:cond delay="70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450"/>
                                        <p:tgtEl>
                                          <p:spTgt spid="14"/>
                                        </p:tgtEl>
                                      </p:cBhvr>
                                    </p:animEffect>
                                    <p:anim calcmode="lin" valueType="num">
                                      <p:cBhvr additive="base">
                                        <p:cTn id="47" dur="450" fill="hold"/>
                                        <p:tgtEl>
                                          <p:spTgt spid="14"/>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21"/>
          <p:cNvSpPr txBox="1"/>
          <p:nvPr/>
        </p:nvSpPr>
        <p:spPr>
          <a:xfrm>
            <a:off x="548640" y="310896"/>
            <a:ext cx="9144000" cy="256032"/>
          </a:xfrm>
          <a:prstGeom prst="rect">
            <a:avLst/>
          </a:prstGeom>
          <a:noFill/>
          <a:ln/>
        </p:spPr>
        <p:txBody>
          <a:bodyPr wrap="square" lIns="0" tIns="0" rIns="0" bIns="0" rtlCol="0" anchor="t"/>
          <a:lstStyle/>
          <a:p>
            <a:pPr indent="0" marL="0">
              <a:buNone/>
            </a:pPr>
            <a:r>
              <a:rPr lang="en-US" sz="1150" b="1" spc="250" kern="0" dirty="0">
                <a:solidFill>
                  <a:srgbClr val="B8512F"/>
                </a:solidFill>
                <a:latin typeface="Calibri" pitchFamily="34" charset="0"/>
                <a:ea typeface="Calibri" pitchFamily="34" charset="-122"/>
                <a:cs typeface="Calibri" pitchFamily="34" charset="-120"/>
              </a:rPr>
              <a:t>SECTION 06 • RUBRIC ITEM 7 INDIVIDUAL ASSESSMENT</a:t>
            </a:r>
            <a:endParaRPr lang="en-US" sz="1150" dirty="0"/>
          </a:p>
        </p:txBody>
      </p:sp>
      <p:sp>
        <p:nvSpPr>
          <p:cNvPr id="3" name="TTL21"/>
          <p:cNvSpPr txBox="1"/>
          <p:nvPr/>
        </p:nvSpPr>
        <p:spPr>
          <a:xfrm>
            <a:off x="548640" y="603504"/>
            <a:ext cx="11091672" cy="658368"/>
          </a:xfrm>
          <a:prstGeom prst="rect">
            <a:avLst/>
          </a:prstGeom>
          <a:noFill/>
          <a:ln/>
        </p:spPr>
        <p:txBody>
          <a:bodyPr wrap="square" lIns="0" tIns="0" rIns="0" bIns="0" rtlCol="0" anchor="ctr"/>
          <a:lstStyle/>
          <a:p>
            <a:pPr indent="0" marL="0">
              <a:buNone/>
            </a:pPr>
            <a:r>
              <a:rPr lang="en-US" sz="2700" b="1" dirty="0">
                <a:solidFill>
                  <a:srgbClr val="26221E"/>
                </a:solidFill>
                <a:latin typeface="Cambria" pitchFamily="34" charset="0"/>
                <a:ea typeface="Cambria" pitchFamily="34" charset="-122"/>
                <a:cs typeface="Cambria" pitchFamily="34" charset="-120"/>
              </a:rPr>
              <a:t>Team Contributions &amp; Final Concluding Statement</a:t>
            </a:r>
            <a:endParaRPr lang="en-US" sz="2700" dirty="0"/>
          </a:p>
        </p:txBody>
      </p:sp>
      <p:sp>
        <p:nvSpPr>
          <p:cNvPr id="4" name="PG21"/>
          <p:cNvSpPr txBox="1"/>
          <p:nvPr/>
        </p:nvSpPr>
        <p:spPr>
          <a:xfrm>
            <a:off x="10881360" y="6473952"/>
            <a:ext cx="758952" cy="228600"/>
          </a:xfrm>
          <a:prstGeom prst="rect">
            <a:avLst/>
          </a:prstGeom>
          <a:noFill/>
          <a:ln/>
        </p:spPr>
        <p:txBody>
          <a:bodyPr wrap="square" lIns="0" tIns="0" rIns="0" bIns="0" rtlCol="0" anchor="t"/>
          <a:lstStyle/>
          <a:p>
            <a:pPr algn="r" indent="0" marL="0">
              <a:buNone/>
            </a:pPr>
            <a:r>
              <a:rPr lang="en-US" sz="1100" b="1" dirty="0">
                <a:solidFill>
                  <a:srgbClr val="6F675C"/>
                </a:solidFill>
                <a:latin typeface="Calibri" pitchFamily="34" charset="0"/>
                <a:ea typeface="Calibri" pitchFamily="34" charset="-122"/>
                <a:cs typeface="Calibri" pitchFamily="34" charset="-120"/>
              </a:rPr>
              <a:t>22</a:t>
            </a:r>
            <a:endParaRPr lang="en-US" sz="1100" dirty="0"/>
          </a:p>
        </p:txBody>
      </p:sp>
      <p:sp>
        <p:nvSpPr>
          <p:cNvPr id="5" name="RULE21"/>
          <p:cNvSpPr/>
          <p:nvPr/>
        </p:nvSpPr>
        <p:spPr>
          <a:xfrm>
            <a:off x="548640" y="1280160"/>
            <a:ext cx="822960" cy="41148"/>
          </a:xfrm>
          <a:prstGeom prst="rect">
            <a:avLst/>
          </a:prstGeom>
          <a:solidFill>
            <a:srgbClr val="B8512F"/>
          </a:solidFill>
          <a:ln w="12700">
            <a:solidFill>
              <a:srgbClr val="B8512F"/>
            </a:solidFill>
            <a:prstDash val="solid"/>
          </a:ln>
        </p:spPr>
      </p:sp>
      <p:graphicFrame>
        <p:nvGraphicFramePr>
          <p:cNvPr id="23" name="T21"/>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148840"/>
                <a:gridCol w="1325880"/>
                <a:gridCol w="2788920"/>
                <a:gridCol w="4828032"/>
              </a:tblGrid>
              <a:tr h="384048">
                <a:tc>
                  <a:txBody>
                    <a:bodyPr/>
                    <a:lstStyle/>
                    <a:p>
                      <a:pPr algn="l" indent="0" marL="0">
                        <a:buNone/>
                      </a:pPr>
                      <a:r>
                        <a:rPr lang="en-US" sz="1250" b="1" dirty="0">
                          <a:solidFill>
                            <a:srgbClr val="F4EEE3"/>
                          </a:solidFill>
                          <a:latin typeface="Calibri" pitchFamily="34" charset="0"/>
                          <a:ea typeface="Calibri" pitchFamily="34" charset="-122"/>
                          <a:cs typeface="Calibri" pitchFamily="34" charset="-120"/>
                        </a:rPr>
                        <a:t>Team Member</a:t>
                      </a:r>
                      <a:endParaRPr lang="en-US" sz="1250" dirty="0">
                        <a:latin typeface="Calibri" charset="0"/>
                        <a:ea typeface="Calibri" charset="0"/>
                        <a:cs typeface="Calibri" charset="0"/>
                      </a:endParaRPr>
                    </a:p>
                  </a:txBody>
                  <a:tcPr marL="109728" marR="109728"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26221E"/>
                    </a:solidFill>
                  </a:tcPr>
                </a:tc>
                <a:tc>
                  <a:txBody>
                    <a:bodyPr/>
                    <a:lstStyle/>
                    <a:p>
                      <a:pPr algn="l" indent="0" marL="0">
                        <a:buNone/>
                      </a:pPr>
                      <a:r>
                        <a:rPr lang="en-US" sz="1250" b="1" dirty="0">
                          <a:solidFill>
                            <a:srgbClr val="F4EEE3"/>
                          </a:solidFill>
                          <a:latin typeface="Calibri" pitchFamily="34" charset="0"/>
                          <a:ea typeface="Calibri" pitchFamily="34" charset="-122"/>
                          <a:cs typeface="Calibri" pitchFamily="34" charset="-120"/>
                        </a:rPr>
                        <a:t>Roll Number</a:t>
                      </a:r>
                      <a:endParaRPr lang="en-US" sz="1250" dirty="0">
                        <a:latin typeface="Calibri" charset="0"/>
                        <a:ea typeface="Calibri" charset="0"/>
                        <a:cs typeface="Calibri" charset="0"/>
                      </a:endParaRPr>
                    </a:p>
                  </a:txBody>
                  <a:tcPr marL="109728" marR="109728"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26221E"/>
                    </a:solidFill>
                  </a:tcPr>
                </a:tc>
                <a:tc>
                  <a:txBody>
                    <a:bodyPr/>
                    <a:lstStyle/>
                    <a:p>
                      <a:pPr algn="l" indent="0" marL="0">
                        <a:buNone/>
                      </a:pPr>
                      <a:r>
                        <a:rPr lang="en-US" sz="1250" b="1" dirty="0">
                          <a:solidFill>
                            <a:srgbClr val="F4EEE3"/>
                          </a:solidFill>
                          <a:latin typeface="Calibri" pitchFamily="34" charset="0"/>
                          <a:ea typeface="Calibri" pitchFamily="34" charset="-122"/>
                          <a:cs typeface="Calibri" pitchFamily="34" charset="-120"/>
                        </a:rPr>
                        <a:t>Subsystem Role</a:t>
                      </a:r>
                      <a:endParaRPr lang="en-US" sz="1250" dirty="0">
                        <a:latin typeface="Calibri" charset="0"/>
                        <a:ea typeface="Calibri" charset="0"/>
                        <a:cs typeface="Calibri" charset="0"/>
                      </a:endParaRPr>
                    </a:p>
                  </a:txBody>
                  <a:tcPr marL="109728" marR="109728"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26221E"/>
                    </a:solidFill>
                  </a:tcPr>
                </a:tc>
                <a:tc>
                  <a:txBody>
                    <a:bodyPr/>
                    <a:lstStyle/>
                    <a:p>
                      <a:pPr algn="l" indent="0" marL="0">
                        <a:buNone/>
                      </a:pPr>
                      <a:r>
                        <a:rPr lang="en-US" sz="1250" b="1" dirty="0">
                          <a:solidFill>
                            <a:srgbClr val="F4EEE3"/>
                          </a:solidFill>
                          <a:latin typeface="Calibri" pitchFamily="34" charset="0"/>
                          <a:ea typeface="Calibri" pitchFamily="34" charset="-122"/>
                          <a:cs typeface="Calibri" pitchFamily="34" charset="-120"/>
                        </a:rPr>
                        <a:t>Key Phase 1 Deliverables</a:t>
                      </a:r>
                      <a:endParaRPr lang="en-US" sz="1250" dirty="0">
                        <a:latin typeface="Calibri" charset="0"/>
                        <a:ea typeface="Calibri" charset="0"/>
                        <a:cs typeface="Calibri" charset="0"/>
                      </a:endParaRPr>
                    </a:p>
                  </a:txBody>
                  <a:tcPr marL="109728" marR="109728"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26221E"/>
                    </a:solidFill>
                  </a:tcPr>
                </a:tc>
              </a:tr>
              <a:tr h="512064">
                <a:tc>
                  <a:txBody>
                    <a:bodyPr/>
                    <a:lstStyle/>
                    <a:p>
                      <a:pPr algn="l" indent="0" marL="0">
                        <a:buNone/>
                      </a:pPr>
                      <a:r>
                        <a:rPr lang="en-US" sz="1250" b="1" dirty="0">
                          <a:solidFill>
                            <a:srgbClr val="26221E"/>
                          </a:solidFill>
                          <a:latin typeface="Calibri" pitchFamily="34" charset="0"/>
                          <a:ea typeface="Calibri" pitchFamily="34" charset="-122"/>
                          <a:cs typeface="Calibri" pitchFamily="34" charset="-120"/>
                        </a:rPr>
                        <a:t>Guru Manohar Gupta</a:t>
                      </a:r>
                      <a:endParaRPr lang="en-US" sz="1250" dirty="0">
                        <a:latin typeface="Calibri" charset="0"/>
                        <a:ea typeface="Calibri" charset="0"/>
                        <a:cs typeface="Calibri" charset="0"/>
                      </a:endParaRPr>
                    </a:p>
                  </a:txBody>
                  <a:tcPr marL="109728" marR="109728"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FFCF6"/>
                    </a:solidFill>
                  </a:tcPr>
                </a:tc>
                <a:tc>
                  <a:txBody>
                    <a:bodyPr/>
                    <a:lstStyle/>
                    <a:p>
                      <a:pPr algn="l" indent="0" marL="0">
                        <a:buNone/>
                      </a:pPr>
                      <a:r>
                        <a:rPr lang="en-US" sz="1250" b="1" dirty="0">
                          <a:solidFill>
                            <a:srgbClr val="26221E"/>
                          </a:solidFill>
                          <a:latin typeface="Calibri" pitchFamily="34" charset="0"/>
                          <a:ea typeface="Calibri" pitchFamily="34" charset="-122"/>
                          <a:cs typeface="Calibri" pitchFamily="34" charset="-120"/>
                        </a:rPr>
                        <a:t>2401010125</a:t>
                      </a:r>
                      <a:endParaRPr lang="en-US" sz="1250" dirty="0">
                        <a:latin typeface="Calibri" charset="0"/>
                        <a:ea typeface="Calibri" charset="0"/>
                        <a:cs typeface="Calibri" charset="0"/>
                      </a:endParaRPr>
                    </a:p>
                  </a:txBody>
                  <a:tcPr marL="109728" marR="109728"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FFCF6"/>
                    </a:solidFill>
                  </a:tcPr>
                </a:tc>
                <a:tc>
                  <a:txBody>
                    <a:bodyPr/>
                    <a:lstStyle/>
                    <a:p>
                      <a:pPr algn="l" indent="0" marL="0">
                        <a:buNone/>
                      </a:pPr>
                      <a:r>
                        <a:rPr lang="en-US" sz="1250" b="1" dirty="0">
                          <a:solidFill>
                            <a:srgbClr val="2E5A4C"/>
                          </a:solidFill>
                          <a:latin typeface="Calibri" pitchFamily="34" charset="0"/>
                          <a:ea typeface="Calibri" pitchFamily="34" charset="-122"/>
                          <a:cs typeface="Calibri" pitchFamily="34" charset="-120"/>
                        </a:rPr>
                        <a:t>Team Lead &amp; Preprocessing</a:t>
                      </a:r>
                      <a:endParaRPr lang="en-US" sz="1250" dirty="0">
                        <a:latin typeface="Calibri" charset="0"/>
                        <a:ea typeface="Calibri" charset="0"/>
                        <a:cs typeface="Calibri" charset="0"/>
                      </a:endParaRPr>
                    </a:p>
                  </a:txBody>
                  <a:tcPr marL="109728" marR="109728"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FFCF6"/>
                    </a:solidFill>
                  </a:tcPr>
                </a:tc>
                <a:tc>
                  <a:txBody>
                    <a:bodyPr/>
                    <a:lstStyle/>
                    <a:p>
                      <a:pPr algn="l" indent="0" marL="0">
                        <a:buNone/>
                      </a:pPr>
                      <a:r>
                        <a:rPr lang="en-US" sz="1250" dirty="0">
                          <a:solidFill>
                            <a:srgbClr val="26221E"/>
                          </a:solidFill>
                          <a:latin typeface="Calibri" pitchFamily="34" charset="0"/>
                          <a:ea typeface="Calibri" pitchFamily="34" charset="-122"/>
                          <a:cs typeface="Calibri" pitchFamily="34" charset="-120"/>
                        </a:rPr>
                        <a:t>Pipeline architecture, align.py synchronization, sliding windows, coordinate calibration.</a:t>
                      </a:r>
                      <a:endParaRPr lang="en-US" sz="1250" dirty="0">
                        <a:latin typeface="Calibri" charset="0"/>
                        <a:ea typeface="Calibri" charset="0"/>
                        <a:cs typeface="Calibri" charset="0"/>
                      </a:endParaRPr>
                    </a:p>
                  </a:txBody>
                  <a:tcPr marL="109728" marR="109728"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FFCF6"/>
                    </a:solidFill>
                  </a:tcPr>
                </a:tc>
              </a:tr>
              <a:tr h="512064">
                <a:tc>
                  <a:txBody>
                    <a:bodyPr/>
                    <a:lstStyle/>
                    <a:p>
                      <a:pPr algn="l" indent="0" marL="0">
                        <a:buNone/>
                      </a:pPr>
                      <a:r>
                        <a:rPr lang="en-US" sz="1250" b="1" dirty="0">
                          <a:solidFill>
                            <a:srgbClr val="26221E"/>
                          </a:solidFill>
                          <a:latin typeface="Calibri" pitchFamily="34" charset="0"/>
                          <a:ea typeface="Calibri" pitchFamily="34" charset="-122"/>
                          <a:cs typeface="Calibri" pitchFamily="34" charset="-120"/>
                        </a:rPr>
                        <a:t>Harsith Priyan S</a:t>
                      </a:r>
                      <a:endParaRPr lang="en-US" sz="1250" dirty="0">
                        <a:latin typeface="Calibri" charset="0"/>
                        <a:ea typeface="Calibri" charset="0"/>
                        <a:cs typeface="Calibri" charset="0"/>
                      </a:endParaRPr>
                    </a:p>
                  </a:txBody>
                  <a:tcPr marL="109728" marR="109728"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8F2E6"/>
                    </a:solidFill>
                  </a:tcPr>
                </a:tc>
                <a:tc>
                  <a:txBody>
                    <a:bodyPr/>
                    <a:lstStyle/>
                    <a:p>
                      <a:pPr algn="l" indent="0" marL="0">
                        <a:buNone/>
                      </a:pPr>
                      <a:r>
                        <a:rPr lang="en-US" sz="1250" b="1" dirty="0">
                          <a:solidFill>
                            <a:srgbClr val="26221E"/>
                          </a:solidFill>
                          <a:latin typeface="Calibri" pitchFamily="34" charset="0"/>
                          <a:ea typeface="Calibri" pitchFamily="34" charset="-122"/>
                          <a:cs typeface="Calibri" pitchFamily="34" charset="-120"/>
                        </a:rPr>
                        <a:t>2401010398</a:t>
                      </a:r>
                      <a:endParaRPr lang="en-US" sz="1250" dirty="0">
                        <a:latin typeface="Calibri" charset="0"/>
                        <a:ea typeface="Calibri" charset="0"/>
                        <a:cs typeface="Calibri" charset="0"/>
                      </a:endParaRPr>
                    </a:p>
                  </a:txBody>
                  <a:tcPr marL="109728" marR="109728"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8F2E6"/>
                    </a:solidFill>
                  </a:tcPr>
                </a:tc>
                <a:tc>
                  <a:txBody>
                    <a:bodyPr/>
                    <a:lstStyle/>
                    <a:p>
                      <a:pPr algn="l" indent="0" marL="0">
                        <a:buNone/>
                      </a:pPr>
                      <a:r>
                        <a:rPr lang="en-US" sz="1250" b="1" dirty="0">
                          <a:solidFill>
                            <a:srgbClr val="2E5A4C"/>
                          </a:solidFill>
                          <a:latin typeface="Calibri" pitchFamily="34" charset="0"/>
                          <a:ea typeface="Calibri" pitchFamily="34" charset="-122"/>
                          <a:cs typeface="Calibri" pitchFamily="34" charset="-120"/>
                        </a:rPr>
                        <a:t>EDA Analysis</a:t>
                      </a:r>
                      <a:endParaRPr lang="en-US" sz="1250" dirty="0">
                        <a:latin typeface="Calibri" charset="0"/>
                        <a:ea typeface="Calibri" charset="0"/>
                        <a:cs typeface="Calibri" charset="0"/>
                      </a:endParaRPr>
                    </a:p>
                  </a:txBody>
                  <a:tcPr marL="109728" marR="109728"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8F2E6"/>
                    </a:solidFill>
                  </a:tcPr>
                </a:tc>
                <a:tc>
                  <a:txBody>
                    <a:bodyPr/>
                    <a:lstStyle/>
                    <a:p>
                      <a:pPr algn="l" indent="0" marL="0">
                        <a:buNone/>
                      </a:pPr>
                      <a:r>
                        <a:rPr lang="en-US" sz="1250" dirty="0">
                          <a:solidFill>
                            <a:srgbClr val="26221E"/>
                          </a:solidFill>
                          <a:latin typeface="Calibri" pitchFamily="34" charset="0"/>
                          <a:ea typeface="Calibri" pitchFamily="34" charset="-122"/>
                          <a:cs typeface="Calibri" pitchFamily="34" charset="-120"/>
                        </a:rPr>
                        <a:t>Speed/trajectory comparisons, signal quality, target distribution, zero-leakage split.</a:t>
                      </a:r>
                      <a:endParaRPr lang="en-US" sz="1250" dirty="0">
                        <a:latin typeface="Calibri" charset="0"/>
                        <a:ea typeface="Calibri" charset="0"/>
                        <a:cs typeface="Calibri" charset="0"/>
                      </a:endParaRPr>
                    </a:p>
                  </a:txBody>
                  <a:tcPr marL="109728" marR="109728"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8F2E6"/>
                    </a:solidFill>
                  </a:tcPr>
                </a:tc>
              </a:tr>
              <a:tr h="512064">
                <a:tc>
                  <a:txBody>
                    <a:bodyPr/>
                    <a:lstStyle/>
                    <a:p>
                      <a:pPr algn="l" indent="0" marL="0">
                        <a:buNone/>
                      </a:pPr>
                      <a:r>
                        <a:rPr lang="en-US" sz="1250" b="1" dirty="0">
                          <a:solidFill>
                            <a:srgbClr val="26221E"/>
                          </a:solidFill>
                          <a:latin typeface="Calibri" pitchFamily="34" charset="0"/>
                          <a:ea typeface="Calibri" pitchFamily="34" charset="-122"/>
                          <a:cs typeface="Calibri" pitchFamily="34" charset="-120"/>
                        </a:rPr>
                        <a:t>Pranavi Mathur</a:t>
                      </a:r>
                      <a:endParaRPr lang="en-US" sz="1250" dirty="0">
                        <a:latin typeface="Calibri" charset="0"/>
                        <a:ea typeface="Calibri" charset="0"/>
                        <a:cs typeface="Calibri" charset="0"/>
                      </a:endParaRPr>
                    </a:p>
                  </a:txBody>
                  <a:tcPr marL="109728" marR="109728"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FFCF6"/>
                    </a:solidFill>
                  </a:tcPr>
                </a:tc>
                <a:tc>
                  <a:txBody>
                    <a:bodyPr/>
                    <a:lstStyle/>
                    <a:p>
                      <a:pPr algn="l" indent="0" marL="0">
                        <a:buNone/>
                      </a:pPr>
                      <a:r>
                        <a:rPr lang="en-US" sz="1250" b="1" dirty="0">
                          <a:solidFill>
                            <a:srgbClr val="26221E"/>
                          </a:solidFill>
                          <a:latin typeface="Calibri" pitchFamily="34" charset="0"/>
                          <a:ea typeface="Calibri" pitchFamily="34" charset="-122"/>
                          <a:cs typeface="Calibri" pitchFamily="34" charset="-120"/>
                        </a:rPr>
                        <a:t>2401020046</a:t>
                      </a:r>
                      <a:endParaRPr lang="en-US" sz="1250" dirty="0">
                        <a:latin typeface="Calibri" charset="0"/>
                        <a:ea typeface="Calibri" charset="0"/>
                        <a:cs typeface="Calibri" charset="0"/>
                      </a:endParaRPr>
                    </a:p>
                  </a:txBody>
                  <a:tcPr marL="109728" marR="109728"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FFCF6"/>
                    </a:solidFill>
                  </a:tcPr>
                </a:tc>
                <a:tc>
                  <a:txBody>
                    <a:bodyPr/>
                    <a:lstStyle/>
                    <a:p>
                      <a:pPr algn="l" indent="0" marL="0">
                        <a:buNone/>
                      </a:pPr>
                      <a:r>
                        <a:rPr lang="en-US" sz="1250" b="1" dirty="0">
                          <a:solidFill>
                            <a:srgbClr val="2E5A4C"/>
                          </a:solidFill>
                          <a:latin typeface="Calibri" pitchFamily="34" charset="0"/>
                          <a:ea typeface="Calibri" pitchFamily="34" charset="-122"/>
                          <a:cs typeface="Calibri" pitchFamily="34" charset="-120"/>
                        </a:rPr>
                        <a:t>Feature Engineering</a:t>
                      </a:r>
                      <a:endParaRPr lang="en-US" sz="1250" dirty="0">
                        <a:latin typeface="Calibri" charset="0"/>
                        <a:ea typeface="Calibri" charset="0"/>
                        <a:cs typeface="Calibri" charset="0"/>
                      </a:endParaRPr>
                    </a:p>
                  </a:txBody>
                  <a:tcPr marL="109728" marR="109728"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FFCF6"/>
                    </a:solidFill>
                  </a:tcPr>
                </a:tc>
                <a:tc>
                  <a:txBody>
                    <a:bodyPr/>
                    <a:lstStyle/>
                    <a:p>
                      <a:pPr algn="l" indent="0" marL="0">
                        <a:buNone/>
                      </a:pPr>
                      <a:r>
                        <a:rPr lang="en-US" sz="1250" dirty="0">
                          <a:solidFill>
                            <a:srgbClr val="26221E"/>
                          </a:solidFill>
                          <a:latin typeface="Calibri" pitchFamily="34" charset="0"/>
                          <a:ea typeface="Calibri" pitchFamily="34" charset="-122"/>
                          <a:cs typeface="Calibri" pitchFamily="34" charset="-120"/>
                        </a:rPr>
                        <a:t>104 features: time, mean-removed FFT, cross-axis/jerk; feature dictionary and scaling.</a:t>
                      </a:r>
                      <a:endParaRPr lang="en-US" sz="1250" dirty="0">
                        <a:latin typeface="Calibri" charset="0"/>
                        <a:ea typeface="Calibri" charset="0"/>
                        <a:cs typeface="Calibri" charset="0"/>
                      </a:endParaRPr>
                    </a:p>
                  </a:txBody>
                  <a:tcPr marL="109728" marR="109728"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FFCF6"/>
                    </a:solidFill>
                  </a:tcPr>
                </a:tc>
              </a:tr>
              <a:tr h="512064">
                <a:tc>
                  <a:txBody>
                    <a:bodyPr/>
                    <a:lstStyle/>
                    <a:p>
                      <a:pPr algn="l" indent="0" marL="0">
                        <a:buNone/>
                      </a:pPr>
                      <a:r>
                        <a:rPr lang="en-US" sz="1250" b="1" dirty="0">
                          <a:solidFill>
                            <a:srgbClr val="26221E"/>
                          </a:solidFill>
                          <a:latin typeface="Calibri" pitchFamily="34" charset="0"/>
                          <a:ea typeface="Calibri" pitchFamily="34" charset="-122"/>
                          <a:cs typeface="Calibri" pitchFamily="34" charset="-120"/>
                        </a:rPr>
                        <a:t>Yatin Singh</a:t>
                      </a:r>
                      <a:endParaRPr lang="en-US" sz="1250" dirty="0">
                        <a:latin typeface="Calibri" charset="0"/>
                        <a:ea typeface="Calibri" charset="0"/>
                        <a:cs typeface="Calibri" charset="0"/>
                      </a:endParaRPr>
                    </a:p>
                  </a:txBody>
                  <a:tcPr marL="109728" marR="109728"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8F2E6"/>
                    </a:solidFill>
                  </a:tcPr>
                </a:tc>
                <a:tc>
                  <a:txBody>
                    <a:bodyPr/>
                    <a:lstStyle/>
                    <a:p>
                      <a:pPr algn="l" indent="0" marL="0">
                        <a:buNone/>
                      </a:pPr>
                      <a:r>
                        <a:rPr lang="en-US" sz="1250" b="1" dirty="0">
                          <a:solidFill>
                            <a:srgbClr val="26221E"/>
                          </a:solidFill>
                          <a:latin typeface="Calibri" pitchFamily="34" charset="0"/>
                          <a:ea typeface="Calibri" pitchFamily="34" charset="-122"/>
                          <a:cs typeface="Calibri" pitchFamily="34" charset="-120"/>
                        </a:rPr>
                        <a:t>2401010243</a:t>
                      </a:r>
                      <a:endParaRPr lang="en-US" sz="1250" dirty="0">
                        <a:latin typeface="Calibri" charset="0"/>
                        <a:ea typeface="Calibri" charset="0"/>
                        <a:cs typeface="Calibri" charset="0"/>
                      </a:endParaRPr>
                    </a:p>
                  </a:txBody>
                  <a:tcPr marL="109728" marR="109728"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8F2E6"/>
                    </a:solidFill>
                  </a:tcPr>
                </a:tc>
                <a:tc>
                  <a:txBody>
                    <a:bodyPr/>
                    <a:lstStyle/>
                    <a:p>
                      <a:pPr algn="l" indent="0" marL="0">
                        <a:buNone/>
                      </a:pPr>
                      <a:r>
                        <a:rPr lang="en-US" sz="1250" b="1" dirty="0">
                          <a:solidFill>
                            <a:srgbClr val="2E5A4C"/>
                          </a:solidFill>
                          <a:latin typeface="Calibri" pitchFamily="34" charset="0"/>
                          <a:ea typeface="Calibri" pitchFamily="34" charset="-122"/>
                          <a:cs typeface="Calibri" pitchFamily="34" charset="-120"/>
                        </a:rPr>
                        <a:t>Model Development &amp; Evaluation</a:t>
                      </a:r>
                      <a:endParaRPr lang="en-US" sz="1250" dirty="0">
                        <a:latin typeface="Calibri" charset="0"/>
                        <a:ea typeface="Calibri" charset="0"/>
                        <a:cs typeface="Calibri" charset="0"/>
                      </a:endParaRPr>
                    </a:p>
                  </a:txBody>
                  <a:tcPr marL="109728" marR="109728"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8F2E6"/>
                    </a:solidFill>
                  </a:tcPr>
                </a:tc>
                <a:tc>
                  <a:txBody>
                    <a:bodyPr/>
                    <a:lstStyle/>
                    <a:p>
                      <a:pPr algn="l" indent="0" marL="0">
                        <a:buNone/>
                      </a:pPr>
                      <a:r>
                        <a:rPr lang="en-US" sz="1250" dirty="0">
                          <a:solidFill>
                            <a:srgbClr val="26221E"/>
                          </a:solidFill>
                          <a:latin typeface="Calibri" pitchFamily="34" charset="0"/>
                          <a:ea typeface="Calibri" pitchFamily="34" charset="-122"/>
                          <a:cs typeface="Calibri" pitchFamily="34" charset="-120"/>
                        </a:rPr>
                        <a:t>Baseline/OLS/Ridge/Lasso, 5-block Time CV, Median Rule, segment failure analysis.</a:t>
                      </a:r>
                      <a:endParaRPr lang="en-US" sz="1250" dirty="0">
                        <a:latin typeface="Calibri" charset="0"/>
                        <a:ea typeface="Calibri" charset="0"/>
                        <a:cs typeface="Calibri" charset="0"/>
                      </a:endParaRPr>
                    </a:p>
                  </a:txBody>
                  <a:tcPr marL="109728" marR="109728"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8F2E6"/>
                    </a:solidFill>
                  </a:tcPr>
                </a:tc>
              </a:tr>
              <a:tr h="512064">
                <a:tc>
                  <a:txBody>
                    <a:bodyPr/>
                    <a:lstStyle/>
                    <a:p>
                      <a:pPr algn="l" indent="0" marL="0">
                        <a:buNone/>
                      </a:pPr>
                      <a:r>
                        <a:rPr lang="en-US" sz="1250" b="1" dirty="0">
                          <a:solidFill>
                            <a:srgbClr val="26221E"/>
                          </a:solidFill>
                          <a:latin typeface="Calibri" pitchFamily="34" charset="0"/>
                          <a:ea typeface="Calibri" pitchFamily="34" charset="-122"/>
                          <a:cs typeface="Calibri" pitchFamily="34" charset="-120"/>
                        </a:rPr>
                        <a:t>Dadi Dinesh</a:t>
                      </a:r>
                      <a:endParaRPr lang="en-US" sz="1250" dirty="0">
                        <a:latin typeface="Calibri" charset="0"/>
                        <a:ea typeface="Calibri" charset="0"/>
                        <a:cs typeface="Calibri" charset="0"/>
                      </a:endParaRPr>
                    </a:p>
                  </a:txBody>
                  <a:tcPr marL="109728" marR="109728"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FFCF6"/>
                    </a:solidFill>
                  </a:tcPr>
                </a:tc>
                <a:tc>
                  <a:txBody>
                    <a:bodyPr/>
                    <a:lstStyle/>
                    <a:p>
                      <a:pPr algn="l" indent="0" marL="0">
                        <a:buNone/>
                      </a:pPr>
                      <a:r>
                        <a:rPr lang="en-US" sz="1250" b="1" dirty="0">
                          <a:solidFill>
                            <a:srgbClr val="26221E"/>
                          </a:solidFill>
                          <a:latin typeface="Calibri" pitchFamily="34" charset="0"/>
                          <a:ea typeface="Calibri" pitchFamily="34" charset="-122"/>
                          <a:cs typeface="Calibri" pitchFamily="34" charset="-120"/>
                        </a:rPr>
                        <a:t>2401010136</a:t>
                      </a:r>
                      <a:endParaRPr lang="en-US" sz="1250" dirty="0">
                        <a:latin typeface="Calibri" charset="0"/>
                        <a:ea typeface="Calibri" charset="0"/>
                        <a:cs typeface="Calibri" charset="0"/>
                      </a:endParaRPr>
                    </a:p>
                  </a:txBody>
                  <a:tcPr marL="109728" marR="109728"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FFCF6"/>
                    </a:solidFill>
                  </a:tcPr>
                </a:tc>
                <a:tc>
                  <a:txBody>
                    <a:bodyPr/>
                    <a:lstStyle/>
                    <a:p>
                      <a:pPr algn="l" indent="0" marL="0">
                        <a:buNone/>
                      </a:pPr>
                      <a:r>
                        <a:rPr lang="en-US" sz="1250" b="1" dirty="0">
                          <a:solidFill>
                            <a:srgbClr val="2E5A4C"/>
                          </a:solidFill>
                          <a:latin typeface="Calibri" pitchFamily="34" charset="0"/>
                          <a:ea typeface="Calibri" pitchFamily="34" charset="-122"/>
                          <a:cs typeface="Calibri" pitchFamily="34" charset="-120"/>
                        </a:rPr>
                        <a:t>Dataset, Report, PPT &amp; Research</a:t>
                      </a:r>
                      <a:endParaRPr lang="en-US" sz="1250" dirty="0">
                        <a:latin typeface="Calibri" charset="0"/>
                        <a:ea typeface="Calibri" charset="0"/>
                        <a:cs typeface="Calibri" charset="0"/>
                      </a:endParaRPr>
                    </a:p>
                  </a:txBody>
                  <a:tcPr marL="109728" marR="109728"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FFCF6"/>
                    </a:solidFill>
                  </a:tcPr>
                </a:tc>
                <a:tc>
                  <a:txBody>
                    <a:bodyPr/>
                    <a:lstStyle/>
                    <a:p>
                      <a:pPr algn="l" indent="0" marL="0">
                        <a:buNone/>
                      </a:pPr>
                      <a:r>
                        <a:rPr lang="en-US" sz="1250" dirty="0">
                          <a:solidFill>
                            <a:srgbClr val="26221E"/>
                          </a:solidFill>
                          <a:latin typeface="Calibri" pitchFamily="34" charset="0"/>
                          <a:ea typeface="Calibri" pitchFamily="34" charset="-122"/>
                          <a:cs typeface="Calibri" pitchFamily="34" charset="-120"/>
                        </a:rPr>
                        <a:t>EuRoC/MSCKF literature, IEEE LaTeX report, slide deck, CI pytest suite.</a:t>
                      </a:r>
                      <a:endParaRPr lang="en-US" sz="1250" dirty="0">
                        <a:latin typeface="Calibri" charset="0"/>
                        <a:ea typeface="Calibri" charset="0"/>
                        <a:cs typeface="Calibri" charset="0"/>
                      </a:endParaRPr>
                    </a:p>
                  </a:txBody>
                  <a:tcPr marL="109728" marR="109728" marT="0" marB="0" anchor="ctr">
                    <a:lnL w="9525" cap="flat" cmpd="sng" algn="ctr">
                      <a:solidFill>
                        <a:srgbClr val="DED4C2"/>
                      </a:solidFill>
                      <a:prstDash val="solid"/>
                      <a:round/>
                      <a:headEnd type="none" w="med" len="med"/>
                      <a:tailEnd type="none" w="med" len="med"/>
                    </a:lnL>
                    <a:lnR w="9525" cap="flat" cmpd="sng" algn="ctr">
                      <a:solidFill>
                        <a:srgbClr val="DED4C2"/>
                      </a:solidFill>
                      <a:prstDash val="solid"/>
                      <a:round/>
                      <a:headEnd type="none" w="med" len="med"/>
                      <a:tailEnd type="none" w="med" len="med"/>
                    </a:lnR>
                    <a:lnT w="9525" cap="flat" cmpd="sng" algn="ctr">
                      <a:solidFill>
                        <a:srgbClr val="DED4C2"/>
                      </a:solidFill>
                      <a:prstDash val="solid"/>
                      <a:round/>
                      <a:headEnd type="none" w="med" len="med"/>
                      <a:tailEnd type="none" w="med" len="med"/>
                    </a:lnT>
                    <a:lnB w="9525" cap="flat" cmpd="sng" algn="ctr">
                      <a:solidFill>
                        <a:srgbClr val="DED4C2"/>
                      </a:solidFill>
                      <a:prstDash val="solid"/>
                      <a:round/>
                      <a:headEnd type="none" w="med" len="med"/>
                      <a:tailEnd type="none" w="med" len="med"/>
                    </a:lnB>
                    <a:solidFill>
                      <a:srgbClr val="FFFCF6"/>
                    </a:solidFill>
                  </a:tcPr>
                </a:tc>
              </a:tr>
            </a:tbl>
          </a:graphicData>
        </a:graphic>
      </p:graphicFrame>
      <p:sp>
        <p:nvSpPr>
          <p:cNvPr id="7" name="Q_card"/>
          <p:cNvSpPr/>
          <p:nvPr/>
        </p:nvSpPr>
        <p:spPr>
          <a:xfrm>
            <a:off x="548640" y="4572000"/>
            <a:ext cx="11091672" cy="1325880"/>
          </a:xfrm>
          <a:prstGeom prst="roundRect">
            <a:avLst>
              <a:gd name="adj" fmla="val 4828"/>
            </a:avLst>
          </a:prstGeom>
          <a:solidFill>
            <a:srgbClr val="2E5A4C"/>
          </a:solidFill>
          <a:ln w="12700">
            <a:solidFill>
              <a:srgbClr val="2E5A4C"/>
            </a:solidFill>
            <a:prstDash val="solid"/>
          </a:ln>
          <a:effectLst>
            <a:outerShdw sx="100000" sy="100000" kx="0" ky="0" algn="bl" rotWithShape="0" blurRad="88900" dist="25400" dir="5400000">
              <a:srgbClr val="6B5A3C">
                <a:alpha val="14000"/>
              </a:srgbClr>
            </a:outerShdw>
          </a:effectLst>
        </p:spPr>
      </p:sp>
      <p:sp>
        <p:nvSpPr>
          <p:cNvPr id="8" name="Q_h"/>
          <p:cNvSpPr txBox="1"/>
          <p:nvPr/>
        </p:nvSpPr>
        <p:spPr>
          <a:xfrm>
            <a:off x="868680" y="4700016"/>
            <a:ext cx="5486400" cy="256032"/>
          </a:xfrm>
          <a:prstGeom prst="rect">
            <a:avLst/>
          </a:prstGeom>
          <a:noFill/>
          <a:ln/>
        </p:spPr>
        <p:txBody>
          <a:bodyPr wrap="square" lIns="0" tIns="0" rIns="0" bIns="0" rtlCol="0" anchor="t"/>
          <a:lstStyle/>
          <a:p>
            <a:pPr indent="0" marL="0">
              <a:buNone/>
            </a:pPr>
            <a:r>
              <a:rPr lang="en-US" sz="1200" b="1" spc="200" kern="0" dirty="0">
                <a:solidFill>
                  <a:srgbClr val="E3A83A"/>
                </a:solidFill>
                <a:latin typeface="Calibri" pitchFamily="34" charset="0"/>
                <a:ea typeface="Calibri" pitchFamily="34" charset="-122"/>
                <a:cs typeface="Calibri" pitchFamily="34" charset="-120"/>
              </a:rPr>
              <a:t>CLOSING NOTE</a:t>
            </a:r>
            <a:endParaRPr lang="en-US" sz="1200" dirty="0"/>
          </a:p>
        </p:txBody>
      </p:sp>
      <p:sp>
        <p:nvSpPr>
          <p:cNvPr id="9" name="Q_b"/>
          <p:cNvSpPr txBox="1"/>
          <p:nvPr/>
        </p:nvSpPr>
        <p:spPr>
          <a:xfrm>
            <a:off x="868680" y="5029200"/>
            <a:ext cx="10469880" cy="822960"/>
          </a:xfrm>
          <a:prstGeom prst="rect">
            <a:avLst/>
          </a:prstGeom>
          <a:noFill/>
          <a:ln/>
        </p:spPr>
        <p:txBody>
          <a:bodyPr wrap="square" lIns="0" tIns="0" rIns="0" bIns="0" rtlCol="0" anchor="t"/>
          <a:lstStyle/>
          <a:p>
            <a:pPr indent="0" marL="0">
              <a:lnSpc>
                <a:spcPct val="105000"/>
              </a:lnSpc>
              <a:buNone/>
            </a:pPr>
            <a:r>
              <a:rPr lang="en-US" sz="1350" i="1" dirty="0">
                <a:solidFill>
                  <a:srgbClr val="F4EEE3"/>
                </a:solidFill>
                <a:latin typeface="Cambria" pitchFamily="34" charset="0"/>
                <a:ea typeface="Cambria" pitchFamily="34" charset="-122"/>
                <a:cs typeface="Cambria" pitchFamily="34" charset="-120"/>
              </a:rPr>
              <a:t>“By bridging fundamental Newtonian strapdown mechanics with regularized machine learning, Drift-Sense proves that dead-reckoning drift is not unpredictable noise—it is a physically structured signal that can be estimated to within 2.50 cm on completely unseen flights. We are fully prepared for your questions. Thank you!”</a:t>
            </a:r>
            <a:endParaRPr lang="en-US" sz="1350" dirty="0"/>
          </a:p>
        </p:txBody>
      </p:sp>
      <p:sp>
        <p:nvSpPr>
          <p:cNvPr id="10" name="Q_cue"/>
          <p:cNvSpPr txBox="1"/>
          <p:nvPr/>
        </p:nvSpPr>
        <p:spPr>
          <a:xfrm>
            <a:off x="548640" y="5989320"/>
            <a:ext cx="11091672" cy="365760"/>
          </a:xfrm>
          <a:prstGeom prst="rect">
            <a:avLst/>
          </a:prstGeom>
          <a:noFill/>
          <a:ln/>
        </p:spPr>
        <p:txBody>
          <a:bodyPr wrap="square" lIns="0" tIns="0" rIns="0" bIns="0" rtlCol="0" anchor="t"/>
          <a:lstStyle/>
          <a:p>
            <a:pPr indent="0" marL="0">
              <a:buNone/>
            </a:pPr>
            <a:r>
              <a:rPr lang="en-US" sz="1150" i="1" dirty="0">
                <a:solidFill>
                  <a:srgbClr val="6F675C"/>
                </a:solidFill>
                <a:latin typeface="Calibri" pitchFamily="34" charset="0"/>
                <a:ea typeface="Calibri" pitchFamily="34" charset="-122"/>
                <a:cs typeface="Calibri" pitchFamily="34" charset="-120"/>
              </a:rPr>
              <a:t>Speaker cue: Here is our complete team contribution matrix across all five core areas. Each member has taken full ownership of their subsystem, and we look forward to defending our work in the viva. Thank you!</a:t>
            </a:r>
            <a:endParaRPr lang="en-US" sz="1150" dirty="0"/>
          </a:p>
        </p:txBody>
      </p:sp>
    </p:spTree>
  </p:cSld>
  <p:clrMapOvr>
    <a:masterClrMapping/>
  </p:clrMapOvr>
  <mc:AlternateContent xmlns:mc="http://schemas.openxmlformats.org/markup-compatibility/2006">
    <mc:Choice xmlns:p14="http://schemas.microsoft.com/office/powerpoint/2010/main" Requires="p14">
      <p:transition spd="slow" p14:dur="900">
        <p14:ripple dir="center"/>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2" fill="hold">
                            <p:stCondLst>
                              <p:cond delay="0"/>
                            </p:stCondLst>
                            <p:childTnLst>
                              <p:par>
                                <p:cTn id="6" presetID="10" presetClass="entr" presetSubtype="0" fill="hold" nodeType="withEffect">
                                  <p:stCondLst>
                                    <p:cond delay="8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450"/>
                                        <p:tgtEl>
                                          <p:spTgt spid="2"/>
                                        </p:tgtEl>
                                      </p:cBhvr>
                                    </p:animEffect>
                                  </p:childTnLst>
                                </p:cTn>
                              </p:par>
                              <p:par>
                                <p:cTn id="10" presetID="10" presetClass="entr" presetSubtype="0" fill="hold" nodeType="withEffect">
                                  <p:stCondLst>
                                    <p:cond delay="120"/>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450"/>
                                        <p:tgtEl>
                                          <p:spTgt spid="3"/>
                                        </p:tgtEl>
                                      </p:cBhvr>
                                    </p:animEffect>
                                    <p:anim calcmode="lin" valueType="num">
                                      <p:cBhvr additive="base">
                                        <p:cTn id="9" dur="450" fill="hold"/>
                                        <p:tgtEl>
                                          <p:spTgt spid="3"/>
                                        </p:tgtEl>
                                        <p:attrNameLst>
                                          <p:attrName>ppt_y</p:attrName>
                                        </p:attrNameLst>
                                      </p:cBhvr>
                                      <p:tavLst>
                                        <p:tav tm="0">
                                          <p:val>
                                            <p:strVal val="#ppt_y+0.05"/>
                                          </p:val>
                                        </p:tav>
                                        <p:tav tm="100000">
                                          <p:val>
                                            <p:strVal val="#ppt_y"/>
                                          </p:val>
                                        </p:tav>
                                      </p:tavLst>
                                    </p:anim>
                                  </p:childTnLst>
                                </p:cTn>
                              </p:par>
                              <p:par>
                                <p:cTn id="13" presetID="22" presetClass="entr" presetSubtype="8" fill="hold"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450"/>
                                        <p:tgtEl>
                                          <p:spTgt spid="5"/>
                                        </p:tgtEl>
                                      </p:cBhvr>
                                    </p:animEffect>
                                  </p:childTnLst>
                                </p:cTn>
                              </p:par>
                              <p:par>
                                <p:cTn id="16" presetID="22" presetClass="entr" presetSubtype="8" fill="hold" nodeType="withEffect">
                                  <p:stCondLst>
                                    <p:cond delay="350"/>
                                  </p:stCondLst>
                                  <p:childTnLst>
                                    <p:set>
                                      <p:cBhvr>
                                        <p:cTn id="14" dur="1" fill="hold">
                                          <p:stCondLst>
                                            <p:cond delay="0"/>
                                          </p:stCondLst>
                                        </p:cTn>
                                        <p:tgtEl>
                                          <p:spTgt spid="23"/>
                                        </p:tgtEl>
                                        <p:attrNameLst>
                                          <p:attrName>style.visibility</p:attrName>
                                        </p:attrNameLst>
                                      </p:cBhvr>
                                      <p:to>
                                        <p:strVal val="visible"/>
                                      </p:to>
                                    </p:set>
                                    <p:animEffect transition="in" filter="wipe(left)">
                                      <p:cBhvr>
                                        <p:cTn id="15" dur="800"/>
                                        <p:tgtEl>
                                          <p:spTgt spid="23"/>
                                        </p:tgtEl>
                                      </p:cBhvr>
                                    </p:animEffect>
                                  </p:childTnLst>
                                </p:cTn>
                              </p:par>
                              <p:par>
                                <p:cTn id="20" presetID="10" presetClass="entr" presetSubtype="0" fill="hold" nodeType="withEffect">
                                  <p:stCondLst>
                                    <p:cond delay="120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anim calcmode="lin" valueType="num">
                                      <p:cBhvr additive="base">
                                        <p:cTn id="19" dur="450" fill="hold"/>
                                        <p:tgtEl>
                                          <p:spTgt spid="7"/>
                                        </p:tgtEl>
                                        <p:attrNameLst>
                                          <p:attrName>ppt_y</p:attrName>
                                        </p:attrNameLst>
                                      </p:cBhvr>
                                      <p:tavLst>
                                        <p:tav tm="0">
                                          <p:val>
                                            <p:strVal val="#ppt_y+0.05"/>
                                          </p:val>
                                        </p:tav>
                                        <p:tav tm="100000">
                                          <p:val>
                                            <p:strVal val="#ppt_y"/>
                                          </p:val>
                                        </p:tav>
                                      </p:tavLst>
                                    </p:anim>
                                  </p:childTnLst>
                                </p:cTn>
                              </p:par>
                              <p:par>
                                <p:cTn id="24" presetID="10" presetClass="entr" presetSubtype="0" fill="hold" nodeType="withEffect">
                                  <p:stCondLst>
                                    <p:cond delay="12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anim calcmode="lin" valueType="num">
                                      <p:cBhvr additive="base">
                                        <p:cTn id="23" dur="450" fill="hold"/>
                                        <p:tgtEl>
                                          <p:spTgt spid="8"/>
                                        </p:tgtEl>
                                        <p:attrNameLst>
                                          <p:attrName>ppt_y</p:attrName>
                                        </p:attrNameLst>
                                      </p:cBhvr>
                                      <p:tavLst>
                                        <p:tav tm="0">
                                          <p:val>
                                            <p:strVal val="#ppt_y+0.05"/>
                                          </p:val>
                                        </p:tav>
                                        <p:tav tm="100000">
                                          <p:val>
                                            <p:strVal val="#ppt_y"/>
                                          </p:val>
                                        </p:tav>
                                      </p:tavLst>
                                    </p:anim>
                                  </p:childTnLst>
                                </p:cTn>
                              </p:par>
                              <p:par>
                                <p:cTn id="28" presetID="10" presetClass="entr" presetSubtype="0" fill="hold" nodeType="withEffect">
                                  <p:stCondLst>
                                    <p:cond delay="12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anim calcmode="lin" valueType="num">
                                      <p:cBhvr additive="base">
                                        <p:cTn id="27" dur="450" fill="hold"/>
                                        <p:tgtEl>
                                          <p:spTgt spid="9"/>
                                        </p:tgtEl>
                                        <p:attrNameLst>
                                          <p:attrName>ppt_y</p:attrName>
                                        </p:attrNameLst>
                                      </p:cBhvr>
                                      <p:tavLst>
                                        <p:tav tm="0">
                                          <p:val>
                                            <p:strVal val="#ppt_y+0.05"/>
                                          </p:val>
                                        </p:tav>
                                        <p:tav tm="100000">
                                          <p:val>
                                            <p:strVal val="#ppt_y"/>
                                          </p:val>
                                        </p:tav>
                                      </p:tavLst>
                                    </p:anim>
                                  </p:childTnLst>
                                </p:cTn>
                              </p:par>
                              <p:par>
                                <p:cTn id="31" presetID="10" presetClass="entr" presetSubtype="0" fill="hold" nodeType="withEffect">
                                  <p:stCondLst>
                                    <p:cond delay="150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rift Sense Field Notes">
  <a:themeElements>
    <a:clrScheme name="Drift Sense Field Notes">
      <a:dk1>
        <a:srgbClr val="26221E"/>
      </a:dk1>
      <a:lt1>
        <a:srgbClr val="F4EEE3"/>
      </a:lt1>
      <a:dk2>
        <a:srgbClr val="2B2622"/>
      </a:dk2>
      <a:lt2>
        <a:srgbClr val="D9CDB8"/>
      </a:lt2>
      <a:accent1>
        <a:srgbClr val="B8512F"/>
      </a:accent1>
      <a:accent2>
        <a:srgbClr val="2E5A4C"/>
      </a:accent2>
      <a:accent3>
        <a:srgbClr val="B07A12"/>
      </a:accent3>
      <a:accent4>
        <a:srgbClr val="7A4A66"/>
      </a:accent4>
      <a:accent5>
        <a:srgbClr val="8C6A4F"/>
      </a:accent5>
      <a:accent6>
        <a:srgbClr val="5E7F5B"/>
      </a:accent6>
      <a:hlink>
        <a:srgbClr val="B8512F"/>
      </a:hlink>
      <a:folHlink>
        <a:srgbClr val="7A4A66"/>
      </a:folHlink>
    </a:clrScheme>
    <a:fontScheme name="Drift Sense Field Note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Drift-Sense</dc:title>
  <dc:subject>PptxGenJS Presentation</dc:subject>
  <dc:creator>Drift-Sense team</dc:creator>
  <cp:lastModifiedBy>Drift-Sense team</cp:lastModifiedBy>
  <cp:revision>1</cp:revision>
  <dcterms:created xsi:type="dcterms:W3CDTF">2026-10-27T18:32:46Z</dcterms:created>
  <dcterms:modified xsi:type="dcterms:W3CDTF">2026-10-27T18:32:46Z</dcterms:modified>
</cp:coreProperties>
</file>